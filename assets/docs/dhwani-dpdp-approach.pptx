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jZ0IoUtv19plnikOZmxNhVnYoL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8" name="Google Shape;49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8" name="Google Shape;54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2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27.png"/><Relationship Id="rId6" Type="http://schemas.openxmlformats.org/officeDocument/2006/relationships/image" Target="../media/image2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6.png"/><Relationship Id="rId4" Type="http://schemas.openxmlformats.org/officeDocument/2006/relationships/image" Target="../media/image28.png"/><Relationship Id="rId5" Type="http://schemas.openxmlformats.org/officeDocument/2006/relationships/image" Target="../media/image7.png"/><Relationship Id="rId6"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1.png"/><Relationship Id="rId4" Type="http://schemas.openxmlformats.org/officeDocument/2006/relationships/image" Target="../media/image30.png"/><Relationship Id="rId5" Type="http://schemas.openxmlformats.org/officeDocument/2006/relationships/image" Target="../media/image47.png"/><Relationship Id="rId6" Type="http://schemas.openxmlformats.org/officeDocument/2006/relationships/image" Target="../media/image32.png"/><Relationship Id="rId7"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9.png"/><Relationship Id="rId4" Type="http://schemas.openxmlformats.org/officeDocument/2006/relationships/image" Target="../media/image3.png"/><Relationship Id="rId5" Type="http://schemas.openxmlformats.org/officeDocument/2006/relationships/image" Target="../media/image18.png"/><Relationship Id="rId6" Type="http://schemas.openxmlformats.org/officeDocument/2006/relationships/image" Target="../media/image5.png"/><Relationship Id="rId7"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0.png"/><Relationship Id="rId4" Type="http://schemas.openxmlformats.org/officeDocument/2006/relationships/image" Target="../media/image34.png"/><Relationship Id="rId10" Type="http://schemas.openxmlformats.org/officeDocument/2006/relationships/image" Target="../media/image39.png"/><Relationship Id="rId9" Type="http://schemas.openxmlformats.org/officeDocument/2006/relationships/image" Target="../media/image53.png"/><Relationship Id="rId5" Type="http://schemas.openxmlformats.org/officeDocument/2006/relationships/image" Target="../media/image50.png"/><Relationship Id="rId6" Type="http://schemas.openxmlformats.org/officeDocument/2006/relationships/image" Target="../media/image35.png"/><Relationship Id="rId7" Type="http://schemas.openxmlformats.org/officeDocument/2006/relationships/image" Target="../media/image31.png"/><Relationship Id="rId8"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2.png"/><Relationship Id="rId4" Type="http://schemas.openxmlformats.org/officeDocument/2006/relationships/image" Target="../media/image50.png"/><Relationship Id="rId5" Type="http://schemas.openxmlformats.org/officeDocument/2006/relationships/image" Target="../media/image44.png"/><Relationship Id="rId6" Type="http://schemas.openxmlformats.org/officeDocument/2006/relationships/image" Target="../media/image53.png"/><Relationship Id="rId7" Type="http://schemas.openxmlformats.org/officeDocument/2006/relationships/image" Target="../media/image55.png"/><Relationship Id="rId8"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0.png"/><Relationship Id="rId4" Type="http://schemas.openxmlformats.org/officeDocument/2006/relationships/image" Target="../media/image31.png"/><Relationship Id="rId11" Type="http://schemas.openxmlformats.org/officeDocument/2006/relationships/image" Target="../media/image29.png"/><Relationship Id="rId10" Type="http://schemas.openxmlformats.org/officeDocument/2006/relationships/image" Target="../media/image39.png"/><Relationship Id="rId9" Type="http://schemas.openxmlformats.org/officeDocument/2006/relationships/image" Target="../media/image56.png"/><Relationship Id="rId5" Type="http://schemas.openxmlformats.org/officeDocument/2006/relationships/image" Target="../media/image45.png"/><Relationship Id="rId6" Type="http://schemas.openxmlformats.org/officeDocument/2006/relationships/image" Target="../media/image11.png"/><Relationship Id="rId7" Type="http://schemas.openxmlformats.org/officeDocument/2006/relationships/image" Target="../media/image44.png"/><Relationship Id="rId8"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4114800" cy="6858000"/>
          </a:xfrm>
          <a:prstGeom prst="rect">
            <a:avLst/>
          </a:prstGeom>
          <a:solidFill>
            <a:srgbClr val="80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4114800" y="0"/>
            <a:ext cx="109728" cy="6858000"/>
          </a:xfrm>
          <a:prstGeom prst="rect">
            <a:avLst/>
          </a:prstGeom>
          <a:solidFill>
            <a:srgbClr val="F080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 name="Google Shape;18;p1"/>
          <p:cNvPicPr preferRelativeResize="0"/>
          <p:nvPr/>
        </p:nvPicPr>
        <p:blipFill rotWithShape="1">
          <a:blip r:embed="rId3">
            <a:alphaModFix/>
          </a:blip>
          <a:srcRect b="0" l="0" r="0" t="0"/>
          <a:stretch/>
        </p:blipFill>
        <p:spPr>
          <a:xfrm>
            <a:off x="1325880" y="2148840"/>
            <a:ext cx="1463040" cy="1463040"/>
          </a:xfrm>
          <a:prstGeom prst="rect">
            <a:avLst/>
          </a:prstGeom>
          <a:noFill/>
          <a:ln>
            <a:noFill/>
          </a:ln>
        </p:spPr>
      </p:pic>
      <p:sp>
        <p:nvSpPr>
          <p:cNvPr id="19" name="Google Shape;19;p1"/>
          <p:cNvSpPr/>
          <p:nvPr/>
        </p:nvSpPr>
        <p:spPr>
          <a:xfrm>
            <a:off x="457200" y="3840480"/>
            <a:ext cx="32918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E4DF"/>
              </a:buClr>
              <a:buSzPts val="1300"/>
              <a:buFont typeface="Calibri"/>
              <a:buNone/>
            </a:pPr>
            <a:r>
              <a:rPr b="0" i="1" lang="en-US" sz="1300" u="none" cap="none" strike="noStrike">
                <a:solidFill>
                  <a:srgbClr val="FBE4DF"/>
                </a:solidFill>
                <a:latin typeface="Calibri"/>
                <a:ea typeface="Calibri"/>
                <a:cs typeface="Calibri"/>
                <a:sym typeface="Calibri"/>
              </a:rPr>
              <a:t>A leadership briefing</a:t>
            </a:r>
            <a:endParaRPr b="0" i="0" sz="1300" u="none" cap="none" strike="noStrike">
              <a:solidFill>
                <a:schemeClr val="dk1"/>
              </a:solidFill>
              <a:latin typeface="Calibri"/>
              <a:ea typeface="Calibri"/>
              <a:cs typeface="Calibri"/>
              <a:sym typeface="Calibri"/>
            </a:endParaRPr>
          </a:p>
        </p:txBody>
      </p:sp>
      <p:sp>
        <p:nvSpPr>
          <p:cNvPr id="20" name="Google Shape;20;p1"/>
          <p:cNvSpPr/>
          <p:nvPr/>
        </p:nvSpPr>
        <p:spPr>
          <a:xfrm>
            <a:off x="4572000" y="1325880"/>
            <a:ext cx="7040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300"/>
              <a:buFont typeface="Calibri"/>
              <a:buNone/>
            </a:pPr>
            <a:r>
              <a:rPr b="1" i="0" lang="en-US" sz="1600" u="none" cap="none" strike="noStrike">
                <a:solidFill>
                  <a:srgbClr val="F08030"/>
                </a:solidFill>
                <a:latin typeface="Calibri"/>
                <a:ea typeface="Calibri"/>
                <a:cs typeface="Calibri"/>
                <a:sym typeface="Calibri"/>
              </a:rPr>
              <a:t>DIGITAL PERSONAL DATA PROTECTION ACT</a:t>
            </a:r>
            <a:endParaRPr b="0" i="0" sz="1600" u="none" cap="none" strike="noStrike">
              <a:solidFill>
                <a:schemeClr val="dk1"/>
              </a:solidFill>
              <a:latin typeface="Calibri"/>
              <a:ea typeface="Calibri"/>
              <a:cs typeface="Calibri"/>
              <a:sym typeface="Calibri"/>
            </a:endParaRPr>
          </a:p>
        </p:txBody>
      </p:sp>
      <p:sp>
        <p:nvSpPr>
          <p:cNvPr id="21" name="Google Shape;21;p1"/>
          <p:cNvSpPr/>
          <p:nvPr/>
        </p:nvSpPr>
        <p:spPr>
          <a:xfrm>
            <a:off x="4572000" y="1737360"/>
            <a:ext cx="7132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4000"/>
              <a:buFont typeface="Georgia"/>
              <a:buNone/>
            </a:pPr>
            <a:r>
              <a:rPr b="1" i="0" lang="en-US" sz="4000" u="none" cap="none" strike="noStrike">
                <a:solidFill>
                  <a:srgbClr val="801020"/>
                </a:solidFill>
                <a:latin typeface="Georgia"/>
                <a:ea typeface="Georgia"/>
                <a:cs typeface="Georgia"/>
                <a:sym typeface="Georgia"/>
              </a:rPr>
              <a:t>Getting ready for the Act</a:t>
            </a:r>
            <a:endParaRPr b="0" i="0" sz="4000" u="none" cap="none" strike="noStrike">
              <a:solidFill>
                <a:schemeClr val="dk1"/>
              </a:solidFill>
              <a:latin typeface="Calibri"/>
              <a:ea typeface="Calibri"/>
              <a:cs typeface="Calibri"/>
              <a:sym typeface="Calibri"/>
            </a:endParaRPr>
          </a:p>
        </p:txBody>
      </p:sp>
      <p:sp>
        <p:nvSpPr>
          <p:cNvPr id="22" name="Google Shape;22;p1"/>
          <p:cNvSpPr/>
          <p:nvPr/>
        </p:nvSpPr>
        <p:spPr>
          <a:xfrm>
            <a:off x="4572000" y="2788920"/>
            <a:ext cx="7040880" cy="10972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A4042"/>
              </a:buClr>
              <a:buSzPts val="1700"/>
              <a:buFont typeface="Calibri"/>
              <a:buNone/>
            </a:pPr>
            <a:r>
              <a:rPr b="0" i="0" lang="en-US" sz="1700" u="none" cap="none" strike="noStrike">
                <a:solidFill>
                  <a:srgbClr val="4A4042"/>
                </a:solidFill>
                <a:latin typeface="Calibri"/>
                <a:ea typeface="Calibri"/>
                <a:cs typeface="Calibri"/>
                <a:sym typeface="Calibri"/>
              </a:rPr>
              <a:t>How Dhwani works with organisations to get ready for the DPDP Act, and stay ready.</a:t>
            </a:r>
            <a:endParaRPr b="0" i="0" sz="1700" u="none" cap="none" strike="noStrike">
              <a:solidFill>
                <a:schemeClr val="dk1"/>
              </a:solidFill>
              <a:latin typeface="Calibri"/>
              <a:ea typeface="Calibri"/>
              <a:cs typeface="Calibri"/>
              <a:sym typeface="Calibri"/>
            </a:endParaRPr>
          </a:p>
        </p:txBody>
      </p:sp>
      <p:sp>
        <p:nvSpPr>
          <p:cNvPr id="23" name="Google Shape;23;p1"/>
          <p:cNvSpPr/>
          <p:nvPr/>
        </p:nvSpPr>
        <p:spPr>
          <a:xfrm>
            <a:off x="4572000" y="4389120"/>
            <a:ext cx="2242109" cy="457200"/>
          </a:xfrm>
          <a:prstGeom prst="roundRect">
            <a:avLst>
              <a:gd fmla="val 16000" name="adj"/>
            </a:avLst>
          </a:prstGeom>
          <a:solidFill>
            <a:srgbClr val="FBE4DF"/>
          </a:solidFill>
          <a:ln cap="flat" cmpd="sng" w="12700">
            <a:solidFill>
              <a:srgbClr val="F08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4572000" y="4389120"/>
            <a:ext cx="2242109"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01020"/>
              </a:buClr>
              <a:buSzPts val="1300"/>
              <a:buFont typeface="Calibri"/>
              <a:buNone/>
            </a:pPr>
            <a:r>
              <a:rPr b="1" i="0" lang="en-US" sz="1300" u="none" cap="none" strike="noStrike">
                <a:solidFill>
                  <a:srgbClr val="801020"/>
                </a:solidFill>
                <a:latin typeface="Calibri"/>
                <a:ea typeface="Calibri"/>
                <a:cs typeface="Calibri"/>
                <a:sym typeface="Calibri"/>
              </a:rPr>
              <a:t>Starts with mindset</a:t>
            </a:r>
            <a:endParaRPr b="0" i="0" sz="1300" u="none" cap="none" strike="noStrike">
              <a:solidFill>
                <a:schemeClr val="dk1"/>
              </a:solidFill>
              <a:latin typeface="Calibri"/>
              <a:ea typeface="Calibri"/>
              <a:cs typeface="Calibri"/>
              <a:sym typeface="Calibri"/>
            </a:endParaRPr>
          </a:p>
        </p:txBody>
      </p:sp>
      <p:sp>
        <p:nvSpPr>
          <p:cNvPr id="25" name="Google Shape;25;p1"/>
          <p:cNvSpPr/>
          <p:nvPr/>
        </p:nvSpPr>
        <p:spPr>
          <a:xfrm>
            <a:off x="7042709" y="4389120"/>
            <a:ext cx="2242109" cy="457200"/>
          </a:xfrm>
          <a:prstGeom prst="roundRect">
            <a:avLst>
              <a:gd fmla="val 16000" name="adj"/>
            </a:avLst>
          </a:prstGeom>
          <a:solidFill>
            <a:srgbClr val="FBE4DF"/>
          </a:solidFill>
          <a:ln cap="flat" cmpd="sng" w="12700">
            <a:solidFill>
              <a:srgbClr val="F08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7042709" y="4389120"/>
            <a:ext cx="2242109"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01020"/>
              </a:buClr>
              <a:buSzPts val="1300"/>
              <a:buFont typeface="Calibri"/>
              <a:buNone/>
            </a:pPr>
            <a:r>
              <a:rPr b="1" lang="en-US" sz="1300">
                <a:solidFill>
                  <a:srgbClr val="801020"/>
                </a:solidFill>
                <a:latin typeface="Calibri"/>
                <a:ea typeface="Calibri"/>
                <a:cs typeface="Calibri"/>
                <a:sym typeface="Calibri"/>
              </a:rPr>
              <a:t>Helping you adopt &amp; comply </a:t>
            </a:r>
            <a:r>
              <a:rPr b="1" lang="en-US" sz="1300">
                <a:solidFill>
                  <a:srgbClr val="801020"/>
                </a:solidFill>
                <a:latin typeface="Calibri"/>
                <a:ea typeface="Calibri"/>
                <a:cs typeface="Calibri"/>
                <a:sym typeface="Calibri"/>
              </a:rPr>
              <a:t>with</a:t>
            </a:r>
            <a:r>
              <a:rPr b="1" lang="en-US" sz="1300">
                <a:solidFill>
                  <a:srgbClr val="801020"/>
                </a:solidFill>
                <a:latin typeface="Calibri"/>
                <a:ea typeface="Calibri"/>
                <a:cs typeface="Calibri"/>
                <a:sym typeface="Calibri"/>
              </a:rPr>
              <a:t> DPDP Act</a:t>
            </a:r>
            <a:endParaRPr b="0" i="0" sz="1300" u="none" cap="none" strike="noStrike">
              <a:solidFill>
                <a:schemeClr val="dk1"/>
              </a:solidFill>
              <a:latin typeface="Calibri"/>
              <a:ea typeface="Calibri"/>
              <a:cs typeface="Calibri"/>
              <a:sym typeface="Calibri"/>
            </a:endParaRPr>
          </a:p>
        </p:txBody>
      </p:sp>
      <p:sp>
        <p:nvSpPr>
          <p:cNvPr id="27" name="Google Shape;27;p1"/>
          <p:cNvSpPr/>
          <p:nvPr/>
        </p:nvSpPr>
        <p:spPr>
          <a:xfrm>
            <a:off x="9513418" y="4389120"/>
            <a:ext cx="2143354" cy="457200"/>
          </a:xfrm>
          <a:prstGeom prst="roundRect">
            <a:avLst>
              <a:gd fmla="val 16000" name="adj"/>
            </a:avLst>
          </a:prstGeom>
          <a:solidFill>
            <a:srgbClr val="FBE4DF"/>
          </a:solidFill>
          <a:ln cap="flat" cmpd="sng" w="12700">
            <a:solidFill>
              <a:srgbClr val="F08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9513418" y="4389120"/>
            <a:ext cx="2143354"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01020"/>
              </a:buClr>
              <a:buSzPts val="1300"/>
              <a:buFont typeface="Calibri"/>
              <a:buNone/>
            </a:pPr>
            <a:r>
              <a:rPr b="1" i="0" lang="en-US" sz="1300" u="none" cap="none" strike="noStrike">
                <a:solidFill>
                  <a:srgbClr val="801020"/>
                </a:solidFill>
                <a:latin typeface="Calibri"/>
                <a:ea typeface="Calibri"/>
                <a:cs typeface="Calibri"/>
                <a:sym typeface="Calibri"/>
              </a:rPr>
              <a:t>Ends with an audit by </a:t>
            </a:r>
            <a:r>
              <a:rPr b="1" lang="en-US" sz="1300">
                <a:solidFill>
                  <a:srgbClr val="801020"/>
                </a:solidFill>
                <a:latin typeface="Calibri"/>
                <a:ea typeface="Calibri"/>
                <a:cs typeface="Calibri"/>
                <a:sym typeface="Calibri"/>
              </a:rPr>
              <a:t>independent</a:t>
            </a:r>
            <a:r>
              <a:rPr b="1" i="0" lang="en-US" sz="1300" u="none" cap="none" strike="noStrike">
                <a:solidFill>
                  <a:srgbClr val="801020"/>
                </a:solidFill>
                <a:latin typeface="Calibri"/>
                <a:ea typeface="Calibri"/>
                <a:cs typeface="Calibri"/>
                <a:sym typeface="Calibri"/>
              </a:rPr>
              <a:t> a</a:t>
            </a:r>
            <a:r>
              <a:rPr b="1" lang="en-US" sz="1300">
                <a:solidFill>
                  <a:srgbClr val="801020"/>
                </a:solidFill>
                <a:latin typeface="Calibri"/>
                <a:ea typeface="Calibri"/>
                <a:cs typeface="Calibri"/>
                <a:sym typeface="Calibri"/>
              </a:rPr>
              <a:t>gency</a:t>
            </a:r>
            <a:endParaRPr b="0" i="0" sz="1300" u="none" cap="none" strike="noStrike">
              <a:solidFill>
                <a:schemeClr val="dk1"/>
              </a:solidFill>
              <a:latin typeface="Calibri"/>
              <a:ea typeface="Calibri"/>
              <a:cs typeface="Calibri"/>
              <a:sym typeface="Calibri"/>
            </a:endParaRPr>
          </a:p>
        </p:txBody>
      </p:sp>
      <p:sp>
        <p:nvSpPr>
          <p:cNvPr id="29" name="Google Shape;29;p1"/>
          <p:cNvSpPr/>
          <p:nvPr/>
        </p:nvSpPr>
        <p:spPr>
          <a:xfrm>
            <a:off x="4572000" y="63093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100"/>
              <a:buFont typeface="Calibri"/>
              <a:buNone/>
            </a:pPr>
            <a:r>
              <a:rPr b="0" i="1" lang="en-US" sz="2000" u="none" cap="none" strike="noStrike">
                <a:solidFill>
                  <a:srgbClr val="9A8C8E"/>
                </a:solidFill>
                <a:latin typeface="Calibri"/>
                <a:ea typeface="Calibri"/>
                <a:cs typeface="Calibri"/>
                <a:sym typeface="Calibri"/>
              </a:rPr>
              <a:t>This is planning guidance, not legal advice.</a:t>
            </a:r>
            <a:endParaRPr b="0" i="0" sz="2000" u="none" cap="none" strike="noStrike">
              <a:solidFill>
                <a:schemeClr val="dk1"/>
              </a:solidFill>
              <a:latin typeface="Calibri"/>
              <a:ea typeface="Calibri"/>
              <a:cs typeface="Calibri"/>
              <a:sym typeface="Calibri"/>
            </a:endParaRPr>
          </a:p>
        </p:txBody>
      </p:sp>
      <p:pic>
        <p:nvPicPr>
          <p:cNvPr id="30" name="Google Shape;30;p1" title="Dhwani final Logo.png"/>
          <p:cNvPicPr preferRelativeResize="0"/>
          <p:nvPr/>
        </p:nvPicPr>
        <p:blipFill>
          <a:blip r:embed="rId4">
            <a:alphaModFix/>
          </a:blip>
          <a:stretch>
            <a:fillRect/>
          </a:stretch>
        </p:blipFill>
        <p:spPr>
          <a:xfrm>
            <a:off x="9766950" y="129275"/>
            <a:ext cx="2242101" cy="8434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 name="Shape 35"/>
        <p:cNvGrpSpPr/>
        <p:nvPr/>
      </p:nvGrpSpPr>
      <p:grpSpPr>
        <a:xfrm>
          <a:off x="0" y="0"/>
          <a:ext cx="0" cy="0"/>
          <a:chOff x="0" y="0"/>
          <a:chExt cx="0" cy="0"/>
        </a:xfrm>
      </p:grpSpPr>
      <p:sp>
        <p:nvSpPr>
          <p:cNvPr id="36" name="Google Shape;36;p2"/>
          <p:cNvSpPr/>
          <p:nvPr/>
        </p:nvSpPr>
        <p:spPr>
          <a:xfrm>
            <a:off x="64008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200"/>
              <a:buFont typeface="Calibri"/>
              <a:buNone/>
            </a:pPr>
            <a:r>
              <a:rPr b="1" i="0" lang="en-US" sz="1200" u="none" cap="none" strike="noStrike">
                <a:solidFill>
                  <a:srgbClr val="F08030"/>
                </a:solidFill>
                <a:latin typeface="Calibri"/>
                <a:ea typeface="Calibri"/>
                <a:cs typeface="Calibri"/>
                <a:sym typeface="Calibri"/>
              </a:rPr>
              <a:t>WHY THIS MATTERS NOW</a:t>
            </a:r>
            <a:endParaRPr b="0" i="0" sz="1200" u="none" cap="none" strike="noStrike">
              <a:solidFill>
                <a:schemeClr val="dk1"/>
              </a:solidFill>
              <a:latin typeface="Calibri"/>
              <a:ea typeface="Calibri"/>
              <a:cs typeface="Calibri"/>
              <a:sym typeface="Calibri"/>
            </a:endParaRPr>
          </a:p>
        </p:txBody>
      </p:sp>
      <p:sp>
        <p:nvSpPr>
          <p:cNvPr id="37" name="Google Shape;37;p2"/>
          <p:cNvSpPr/>
          <p:nvPr/>
        </p:nvSpPr>
        <p:spPr>
          <a:xfrm>
            <a:off x="640080" y="68580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01020"/>
              </a:buClr>
              <a:buSzPts val="3000"/>
              <a:buFont typeface="Georgia"/>
              <a:buNone/>
            </a:pPr>
            <a:r>
              <a:rPr b="1" i="0" lang="en-US" sz="3000" u="none" cap="none" strike="noStrike">
                <a:solidFill>
                  <a:srgbClr val="801020"/>
                </a:solidFill>
                <a:latin typeface="Georgia"/>
                <a:ea typeface="Georgia"/>
                <a:cs typeface="Georgia"/>
                <a:sym typeface="Georgia"/>
              </a:rPr>
              <a:t>What the DPDP Act is, and why it applies to you</a:t>
            </a:r>
            <a:endParaRPr b="0" i="0" sz="3000" u="none" cap="none" strike="noStrike">
              <a:solidFill>
                <a:schemeClr val="dk1"/>
              </a:solidFill>
              <a:latin typeface="Calibri"/>
              <a:ea typeface="Calibri"/>
              <a:cs typeface="Calibri"/>
              <a:sym typeface="Calibri"/>
            </a:endParaRPr>
          </a:p>
        </p:txBody>
      </p:sp>
      <p:pic>
        <p:nvPicPr>
          <p:cNvPr descr="preencoded.png" id="38" name="Google Shape;38;p2"/>
          <p:cNvPicPr preferRelativeResize="0"/>
          <p:nvPr/>
        </p:nvPicPr>
        <p:blipFill rotWithShape="1">
          <a:blip r:embed="rId3">
            <a:alphaModFix/>
          </a:blip>
          <a:srcRect b="0" l="0" r="0" t="0"/>
          <a:stretch/>
        </p:blipFill>
        <p:spPr>
          <a:xfrm>
            <a:off x="685800" y="1810512"/>
            <a:ext cx="310896" cy="310896"/>
          </a:xfrm>
          <a:prstGeom prst="rect">
            <a:avLst/>
          </a:prstGeom>
          <a:noFill/>
          <a:ln>
            <a:noFill/>
          </a:ln>
        </p:spPr>
      </p:pic>
      <p:sp>
        <p:nvSpPr>
          <p:cNvPr id="39" name="Google Shape;39;p2"/>
          <p:cNvSpPr/>
          <p:nvPr/>
        </p:nvSpPr>
        <p:spPr>
          <a:xfrm>
            <a:off x="1143000" y="17373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600"/>
              <a:buFont typeface="Calibri"/>
              <a:buNone/>
            </a:pPr>
            <a:r>
              <a:rPr b="1" i="0" lang="en-US" sz="1600" u="none" cap="none" strike="noStrike">
                <a:solidFill>
                  <a:srgbClr val="2A1A1D"/>
                </a:solidFill>
                <a:latin typeface="Calibri"/>
                <a:ea typeface="Calibri"/>
                <a:cs typeface="Calibri"/>
                <a:sym typeface="Calibri"/>
              </a:rPr>
              <a:t>India's first real data protection law.</a:t>
            </a:r>
            <a:endParaRPr b="0" i="0" sz="1600" u="none" cap="none" strike="noStrike">
              <a:solidFill>
                <a:schemeClr val="dk1"/>
              </a:solidFill>
              <a:latin typeface="Calibri"/>
              <a:ea typeface="Calibri"/>
              <a:cs typeface="Calibri"/>
              <a:sym typeface="Calibri"/>
            </a:endParaRPr>
          </a:p>
        </p:txBody>
      </p:sp>
      <p:sp>
        <p:nvSpPr>
          <p:cNvPr id="40" name="Google Shape;40;p2"/>
          <p:cNvSpPr/>
          <p:nvPr/>
        </p:nvSpPr>
        <p:spPr>
          <a:xfrm>
            <a:off x="1143000" y="2112264"/>
            <a:ext cx="5486400" cy="5486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A4042"/>
              </a:buClr>
              <a:buSzPts val="1350"/>
              <a:buFont typeface="Calibri"/>
              <a:buNone/>
            </a:pPr>
            <a:r>
              <a:rPr b="0" i="0" lang="en-US" sz="1350" u="none" cap="none" strike="noStrike">
                <a:solidFill>
                  <a:srgbClr val="4A4042"/>
                </a:solidFill>
                <a:latin typeface="Calibri"/>
                <a:ea typeface="Calibri"/>
                <a:cs typeface="Calibri"/>
                <a:sym typeface="Calibri"/>
              </a:rPr>
              <a:t>It's in force now, and there's a regulator that can investigate and impose fines.</a:t>
            </a:r>
            <a:endParaRPr b="0" i="0" sz="1350" u="none" cap="none" strike="noStrike">
              <a:solidFill>
                <a:schemeClr val="dk1"/>
              </a:solidFill>
              <a:latin typeface="Calibri"/>
              <a:ea typeface="Calibri"/>
              <a:cs typeface="Calibri"/>
              <a:sym typeface="Calibri"/>
            </a:endParaRPr>
          </a:p>
        </p:txBody>
      </p:sp>
      <p:pic>
        <p:nvPicPr>
          <p:cNvPr descr="preencoded.png" id="41" name="Google Shape;41;p2"/>
          <p:cNvPicPr preferRelativeResize="0"/>
          <p:nvPr/>
        </p:nvPicPr>
        <p:blipFill rotWithShape="1">
          <a:blip r:embed="rId3">
            <a:alphaModFix/>
          </a:blip>
          <a:srcRect b="0" l="0" r="0" t="0"/>
          <a:stretch/>
        </p:blipFill>
        <p:spPr>
          <a:xfrm>
            <a:off x="685800" y="2953512"/>
            <a:ext cx="310896" cy="310896"/>
          </a:xfrm>
          <a:prstGeom prst="rect">
            <a:avLst/>
          </a:prstGeom>
          <a:noFill/>
          <a:ln>
            <a:noFill/>
          </a:ln>
        </p:spPr>
      </p:pic>
      <p:sp>
        <p:nvSpPr>
          <p:cNvPr id="42" name="Google Shape;42;p2"/>
          <p:cNvSpPr/>
          <p:nvPr/>
        </p:nvSpPr>
        <p:spPr>
          <a:xfrm>
            <a:off x="1143000" y="28803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600"/>
              <a:buFont typeface="Calibri"/>
              <a:buNone/>
            </a:pPr>
            <a:r>
              <a:rPr b="1" i="0" lang="en-US" sz="1600" u="none" cap="none" strike="noStrike">
                <a:solidFill>
                  <a:srgbClr val="2A1A1D"/>
                </a:solidFill>
                <a:latin typeface="Calibri"/>
                <a:ea typeface="Calibri"/>
                <a:cs typeface="Calibri"/>
                <a:sym typeface="Calibri"/>
              </a:rPr>
              <a:t>It covers every organisation that handles Indians' data.</a:t>
            </a:r>
            <a:endParaRPr b="0" i="0" sz="1600" u="none" cap="none" strike="noStrike">
              <a:solidFill>
                <a:schemeClr val="dk1"/>
              </a:solidFill>
              <a:latin typeface="Calibri"/>
              <a:ea typeface="Calibri"/>
              <a:cs typeface="Calibri"/>
              <a:sym typeface="Calibri"/>
            </a:endParaRPr>
          </a:p>
        </p:txBody>
      </p:sp>
      <p:sp>
        <p:nvSpPr>
          <p:cNvPr id="43" name="Google Shape;43;p2"/>
          <p:cNvSpPr/>
          <p:nvPr/>
        </p:nvSpPr>
        <p:spPr>
          <a:xfrm>
            <a:off x="1143000" y="3255264"/>
            <a:ext cx="5486400" cy="5486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A4042"/>
              </a:buClr>
              <a:buSzPts val="1350"/>
              <a:buFont typeface="Calibri"/>
              <a:buNone/>
            </a:pPr>
            <a:r>
              <a:rPr b="0" i="0" lang="en-US" sz="1350" u="none" cap="none" strike="noStrike">
                <a:solidFill>
                  <a:srgbClr val="4A4042"/>
                </a:solidFill>
                <a:latin typeface="Calibri"/>
                <a:ea typeface="Calibri"/>
                <a:cs typeface="Calibri"/>
                <a:sym typeface="Calibri"/>
              </a:rPr>
              <a:t>Non-profits are not exempt. Size and registration type make no difference.</a:t>
            </a:r>
            <a:endParaRPr b="0" i="0" sz="1350" u="none" cap="none" strike="noStrike">
              <a:solidFill>
                <a:schemeClr val="dk1"/>
              </a:solidFill>
              <a:latin typeface="Calibri"/>
              <a:ea typeface="Calibri"/>
              <a:cs typeface="Calibri"/>
              <a:sym typeface="Calibri"/>
            </a:endParaRPr>
          </a:p>
        </p:txBody>
      </p:sp>
      <p:pic>
        <p:nvPicPr>
          <p:cNvPr descr="preencoded.png" id="44" name="Google Shape;44;p2"/>
          <p:cNvPicPr preferRelativeResize="0"/>
          <p:nvPr/>
        </p:nvPicPr>
        <p:blipFill rotWithShape="1">
          <a:blip r:embed="rId3">
            <a:alphaModFix/>
          </a:blip>
          <a:srcRect b="0" l="0" r="0" t="0"/>
          <a:stretch/>
        </p:blipFill>
        <p:spPr>
          <a:xfrm>
            <a:off x="685800" y="4096512"/>
            <a:ext cx="310896" cy="310896"/>
          </a:xfrm>
          <a:prstGeom prst="rect">
            <a:avLst/>
          </a:prstGeom>
          <a:noFill/>
          <a:ln>
            <a:noFill/>
          </a:ln>
        </p:spPr>
      </p:pic>
      <p:sp>
        <p:nvSpPr>
          <p:cNvPr id="45" name="Google Shape;45;p2"/>
          <p:cNvSpPr/>
          <p:nvPr/>
        </p:nvSpPr>
        <p:spPr>
          <a:xfrm>
            <a:off x="1143000" y="40233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600"/>
              <a:buFont typeface="Calibri"/>
              <a:buNone/>
            </a:pPr>
            <a:r>
              <a:rPr b="1" i="0" lang="en-US" sz="1600" u="none" cap="none" strike="noStrike">
                <a:solidFill>
                  <a:srgbClr val="2A1A1D"/>
                </a:solidFill>
                <a:latin typeface="Calibri"/>
                <a:ea typeface="Calibri"/>
                <a:cs typeface="Calibri"/>
                <a:sym typeface="Calibri"/>
              </a:rPr>
              <a:t>That makes your organisation a “Data Fiduciary.”</a:t>
            </a:r>
            <a:endParaRPr b="0" i="0" sz="1600" u="none" cap="none" strike="noStrike">
              <a:solidFill>
                <a:schemeClr val="dk1"/>
              </a:solidFill>
              <a:latin typeface="Calibri"/>
              <a:ea typeface="Calibri"/>
              <a:cs typeface="Calibri"/>
              <a:sym typeface="Calibri"/>
            </a:endParaRPr>
          </a:p>
        </p:txBody>
      </p:sp>
      <p:sp>
        <p:nvSpPr>
          <p:cNvPr id="46" name="Google Shape;46;p2"/>
          <p:cNvSpPr/>
          <p:nvPr/>
        </p:nvSpPr>
        <p:spPr>
          <a:xfrm>
            <a:off x="1143000" y="4398264"/>
            <a:ext cx="5486400" cy="5486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A4042"/>
              </a:buClr>
              <a:buSzPts val="1350"/>
              <a:buFont typeface="Calibri"/>
              <a:buNone/>
            </a:pPr>
            <a:r>
              <a:rPr b="0" i="0" lang="en-US" sz="1350" u="none" cap="none" strike="noStrike">
                <a:solidFill>
                  <a:srgbClr val="4A4042"/>
                </a:solidFill>
                <a:latin typeface="Calibri"/>
                <a:ea typeface="Calibri"/>
                <a:cs typeface="Calibri"/>
                <a:sym typeface="Calibri"/>
              </a:rPr>
              <a:t>You're legally responsible for every record you hold, from beneficiaries to staff to donors.</a:t>
            </a:r>
            <a:endParaRPr b="0" i="0" sz="1350" u="none" cap="none" strike="noStrike">
              <a:solidFill>
                <a:schemeClr val="dk1"/>
              </a:solidFill>
              <a:latin typeface="Calibri"/>
              <a:ea typeface="Calibri"/>
              <a:cs typeface="Calibri"/>
              <a:sym typeface="Calibri"/>
            </a:endParaRPr>
          </a:p>
        </p:txBody>
      </p:sp>
      <p:sp>
        <p:nvSpPr>
          <p:cNvPr id="47" name="Google Shape;47;p2"/>
          <p:cNvSpPr/>
          <p:nvPr/>
        </p:nvSpPr>
        <p:spPr>
          <a:xfrm>
            <a:off x="7223760" y="1691640"/>
            <a:ext cx="4389120" cy="4160520"/>
          </a:xfrm>
          <a:prstGeom prst="roundRect">
            <a:avLst>
              <a:gd fmla="val 2198"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 name="Google Shape;48;p2"/>
          <p:cNvPicPr preferRelativeResize="0"/>
          <p:nvPr/>
        </p:nvPicPr>
        <p:blipFill rotWithShape="1">
          <a:blip r:embed="rId4">
            <a:alphaModFix/>
          </a:blip>
          <a:srcRect b="0" l="0" r="0" t="0"/>
          <a:stretch/>
        </p:blipFill>
        <p:spPr>
          <a:xfrm>
            <a:off x="7543800" y="1965960"/>
            <a:ext cx="411480" cy="411480"/>
          </a:xfrm>
          <a:prstGeom prst="rect">
            <a:avLst/>
          </a:prstGeom>
          <a:noFill/>
          <a:ln>
            <a:noFill/>
          </a:ln>
        </p:spPr>
      </p:pic>
      <p:sp>
        <p:nvSpPr>
          <p:cNvPr id="49" name="Google Shape;49;p2"/>
          <p:cNvSpPr/>
          <p:nvPr/>
        </p:nvSpPr>
        <p:spPr>
          <a:xfrm>
            <a:off x="8092440" y="1993392"/>
            <a:ext cx="3291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500"/>
              <a:buFont typeface="Calibri"/>
              <a:buNone/>
            </a:pPr>
            <a:r>
              <a:rPr b="1" i="0" lang="en-US" sz="1500" u="none" cap="none" strike="noStrike">
                <a:solidFill>
                  <a:srgbClr val="801020"/>
                </a:solidFill>
                <a:latin typeface="Calibri"/>
                <a:ea typeface="Calibri"/>
                <a:cs typeface="Calibri"/>
                <a:sym typeface="Calibri"/>
              </a:rPr>
              <a:t>What's at stake</a:t>
            </a:r>
            <a:endParaRPr b="0" i="0" sz="1500" u="none" cap="none" strike="noStrike">
              <a:solidFill>
                <a:schemeClr val="dk1"/>
              </a:solidFill>
              <a:latin typeface="Calibri"/>
              <a:ea typeface="Calibri"/>
              <a:cs typeface="Calibri"/>
              <a:sym typeface="Calibri"/>
            </a:endParaRPr>
          </a:p>
        </p:txBody>
      </p:sp>
      <p:sp>
        <p:nvSpPr>
          <p:cNvPr id="50" name="Google Shape;50;p2"/>
          <p:cNvSpPr/>
          <p:nvPr/>
        </p:nvSpPr>
        <p:spPr>
          <a:xfrm>
            <a:off x="7543800" y="2606040"/>
            <a:ext cx="3840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3000"/>
              <a:buFont typeface="Georgia"/>
              <a:buNone/>
            </a:pPr>
            <a:r>
              <a:rPr b="1" i="0" lang="en-US" sz="3000" u="none" cap="none" strike="noStrike">
                <a:solidFill>
                  <a:srgbClr val="2A1A1D"/>
                </a:solidFill>
                <a:latin typeface="Georgia"/>
                <a:ea typeface="Georgia"/>
                <a:cs typeface="Georgia"/>
                <a:sym typeface="Georgia"/>
              </a:rPr>
              <a:t>₹250 cr</a:t>
            </a:r>
            <a:endParaRPr b="0" i="0" sz="3000" u="none" cap="none" strike="noStrike">
              <a:solidFill>
                <a:schemeClr val="dk1"/>
              </a:solidFill>
              <a:latin typeface="Calibri"/>
              <a:ea typeface="Calibri"/>
              <a:cs typeface="Calibri"/>
              <a:sym typeface="Calibri"/>
            </a:endParaRPr>
          </a:p>
        </p:txBody>
      </p:sp>
      <p:sp>
        <p:nvSpPr>
          <p:cNvPr id="51" name="Google Shape;51;p2"/>
          <p:cNvSpPr/>
          <p:nvPr/>
        </p:nvSpPr>
        <p:spPr>
          <a:xfrm>
            <a:off x="7543800" y="3136392"/>
            <a:ext cx="3840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250"/>
              <a:buFont typeface="Calibri"/>
              <a:buNone/>
            </a:pPr>
            <a:r>
              <a:rPr b="0" i="0" lang="en-US" sz="1250" u="none" cap="none" strike="noStrike">
                <a:solidFill>
                  <a:srgbClr val="9A8C8E"/>
                </a:solidFill>
                <a:latin typeface="Calibri"/>
                <a:ea typeface="Calibri"/>
                <a:cs typeface="Calibri"/>
                <a:sym typeface="Calibri"/>
              </a:rPr>
              <a:t>for a serious security lapse</a:t>
            </a:r>
            <a:endParaRPr b="0" i="0" sz="1250" u="none" cap="none" strike="noStrike">
              <a:solidFill>
                <a:schemeClr val="dk1"/>
              </a:solidFill>
              <a:latin typeface="Calibri"/>
              <a:ea typeface="Calibri"/>
              <a:cs typeface="Calibri"/>
              <a:sym typeface="Calibri"/>
            </a:endParaRPr>
          </a:p>
        </p:txBody>
      </p:sp>
      <p:cxnSp>
        <p:nvCxnSpPr>
          <p:cNvPr id="52" name="Google Shape;52;p2"/>
          <p:cNvCxnSpPr/>
          <p:nvPr/>
        </p:nvCxnSpPr>
        <p:spPr>
          <a:xfrm>
            <a:off x="7543800" y="3566160"/>
            <a:ext cx="3840480" cy="0"/>
          </a:xfrm>
          <a:prstGeom prst="straightConnector1">
            <a:avLst/>
          </a:prstGeom>
          <a:noFill/>
          <a:ln cap="flat" cmpd="sng" w="12700">
            <a:solidFill>
              <a:srgbClr val="EADCDA"/>
            </a:solidFill>
            <a:prstDash val="solid"/>
            <a:round/>
            <a:headEnd len="sm" w="sm" type="none"/>
            <a:tailEnd len="sm" w="sm" type="none"/>
          </a:ln>
        </p:spPr>
      </p:cxnSp>
      <p:sp>
        <p:nvSpPr>
          <p:cNvPr id="53" name="Google Shape;53;p2"/>
          <p:cNvSpPr/>
          <p:nvPr/>
        </p:nvSpPr>
        <p:spPr>
          <a:xfrm>
            <a:off x="7543800" y="3685032"/>
            <a:ext cx="3840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3000"/>
              <a:buFont typeface="Georgia"/>
              <a:buNone/>
            </a:pPr>
            <a:r>
              <a:rPr b="1" i="0" lang="en-US" sz="3000" u="none" cap="none" strike="noStrike">
                <a:solidFill>
                  <a:srgbClr val="2A1A1D"/>
                </a:solidFill>
                <a:latin typeface="Georgia"/>
                <a:ea typeface="Georgia"/>
                <a:cs typeface="Georgia"/>
                <a:sym typeface="Georgia"/>
              </a:rPr>
              <a:t>₹200 cr</a:t>
            </a:r>
            <a:endParaRPr b="0" i="0" sz="3000" u="none" cap="none" strike="noStrike">
              <a:solidFill>
                <a:schemeClr val="dk1"/>
              </a:solidFill>
              <a:latin typeface="Calibri"/>
              <a:ea typeface="Calibri"/>
              <a:cs typeface="Calibri"/>
              <a:sym typeface="Calibri"/>
            </a:endParaRPr>
          </a:p>
        </p:txBody>
      </p:sp>
      <p:sp>
        <p:nvSpPr>
          <p:cNvPr id="54" name="Google Shape;54;p2"/>
          <p:cNvSpPr/>
          <p:nvPr/>
        </p:nvSpPr>
        <p:spPr>
          <a:xfrm>
            <a:off x="7543800" y="4215384"/>
            <a:ext cx="3840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250"/>
              <a:buFont typeface="Calibri"/>
              <a:buNone/>
            </a:pPr>
            <a:r>
              <a:rPr b="0" i="0" lang="en-US" sz="1250" u="none" cap="none" strike="noStrike">
                <a:solidFill>
                  <a:srgbClr val="9A8C8E"/>
                </a:solidFill>
                <a:latin typeface="Calibri"/>
                <a:ea typeface="Calibri"/>
                <a:cs typeface="Calibri"/>
                <a:sym typeface="Calibri"/>
              </a:rPr>
              <a:t>for not reporting a breach</a:t>
            </a:r>
            <a:endParaRPr b="0" i="0" sz="1250" u="none" cap="none" strike="noStrike">
              <a:solidFill>
                <a:schemeClr val="dk1"/>
              </a:solidFill>
              <a:latin typeface="Calibri"/>
              <a:ea typeface="Calibri"/>
              <a:cs typeface="Calibri"/>
              <a:sym typeface="Calibri"/>
            </a:endParaRPr>
          </a:p>
        </p:txBody>
      </p:sp>
      <p:cxnSp>
        <p:nvCxnSpPr>
          <p:cNvPr id="55" name="Google Shape;55;p2"/>
          <p:cNvCxnSpPr/>
          <p:nvPr/>
        </p:nvCxnSpPr>
        <p:spPr>
          <a:xfrm>
            <a:off x="7543800" y="4645152"/>
            <a:ext cx="3840480" cy="0"/>
          </a:xfrm>
          <a:prstGeom prst="straightConnector1">
            <a:avLst/>
          </a:prstGeom>
          <a:noFill/>
          <a:ln cap="flat" cmpd="sng" w="12700">
            <a:solidFill>
              <a:srgbClr val="EADCDA"/>
            </a:solidFill>
            <a:prstDash val="solid"/>
            <a:round/>
            <a:headEnd len="sm" w="sm" type="none"/>
            <a:tailEnd len="sm" w="sm" type="none"/>
          </a:ln>
        </p:spPr>
      </p:cxnSp>
      <p:sp>
        <p:nvSpPr>
          <p:cNvPr id="56" name="Google Shape;56;p2"/>
          <p:cNvSpPr/>
          <p:nvPr/>
        </p:nvSpPr>
        <p:spPr>
          <a:xfrm>
            <a:off x="7543800" y="4764024"/>
            <a:ext cx="3840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3000"/>
              <a:buFont typeface="Georgia"/>
              <a:buNone/>
            </a:pPr>
            <a:r>
              <a:rPr b="1" i="0" lang="en-US" sz="3000" u="none" cap="none" strike="noStrike">
                <a:solidFill>
                  <a:srgbClr val="801020"/>
                </a:solidFill>
                <a:latin typeface="Georgia"/>
                <a:ea typeface="Georgia"/>
                <a:cs typeface="Georgia"/>
                <a:sym typeface="Georgia"/>
              </a:rPr>
              <a:t>May 2027</a:t>
            </a:r>
            <a:endParaRPr b="0" i="0" sz="3000" u="none" cap="none" strike="noStrike">
              <a:solidFill>
                <a:schemeClr val="dk1"/>
              </a:solidFill>
              <a:latin typeface="Calibri"/>
              <a:ea typeface="Calibri"/>
              <a:cs typeface="Calibri"/>
              <a:sym typeface="Calibri"/>
            </a:endParaRPr>
          </a:p>
        </p:txBody>
      </p:sp>
      <p:sp>
        <p:nvSpPr>
          <p:cNvPr id="57" name="Google Shape;57;p2"/>
          <p:cNvSpPr/>
          <p:nvPr/>
        </p:nvSpPr>
        <p:spPr>
          <a:xfrm>
            <a:off x="7543800" y="5294376"/>
            <a:ext cx="3840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250"/>
              <a:buFont typeface="Calibri"/>
              <a:buNone/>
            </a:pPr>
            <a:r>
              <a:rPr b="0" i="0" lang="en-US" sz="1250" u="none" cap="none" strike="noStrike">
                <a:solidFill>
                  <a:srgbClr val="9A8C8E"/>
                </a:solidFill>
                <a:latin typeface="Calibri"/>
                <a:ea typeface="Calibri"/>
                <a:cs typeface="Calibri"/>
                <a:sym typeface="Calibri"/>
              </a:rPr>
              <a:t>when you need to be ready</a:t>
            </a:r>
            <a:endParaRPr b="0" i="0" sz="1250" u="none" cap="none" strike="noStrike">
              <a:solidFill>
                <a:schemeClr val="dk1"/>
              </a:solidFill>
              <a:latin typeface="Calibri"/>
              <a:ea typeface="Calibri"/>
              <a:cs typeface="Calibri"/>
              <a:sym typeface="Calibri"/>
            </a:endParaRPr>
          </a:p>
        </p:txBody>
      </p:sp>
      <p:sp>
        <p:nvSpPr>
          <p:cNvPr id="58" name="Google Shape;58;p2"/>
          <p:cNvSpPr/>
          <p:nvPr/>
        </p:nvSpPr>
        <p:spPr>
          <a:xfrm>
            <a:off x="11430000" y="640080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59" name="Google Shape;59;p2"/>
          <p:cNvSpPr/>
          <p:nvPr/>
        </p:nvSpPr>
        <p:spPr>
          <a:xfrm>
            <a:off x="64008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Dhwani RIS  ·  DPDP Adoption Approach</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3"/>
          <p:cNvSpPr/>
          <p:nvPr/>
        </p:nvSpPr>
        <p:spPr>
          <a:xfrm>
            <a:off x="64008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200"/>
              <a:buFont typeface="Calibri"/>
              <a:buNone/>
            </a:pPr>
            <a:r>
              <a:rPr b="1" i="0" lang="en-US" sz="1200" u="none" cap="none" strike="noStrike">
                <a:solidFill>
                  <a:srgbClr val="F08030"/>
                </a:solidFill>
                <a:latin typeface="Calibri"/>
                <a:ea typeface="Calibri"/>
                <a:cs typeface="Calibri"/>
                <a:sym typeface="Calibri"/>
              </a:rPr>
              <a:t>HOW WE WORK</a:t>
            </a:r>
            <a:endParaRPr b="0" i="0" sz="1200" u="none" cap="none" strike="noStrike">
              <a:solidFill>
                <a:schemeClr val="dk1"/>
              </a:solidFill>
              <a:latin typeface="Calibri"/>
              <a:ea typeface="Calibri"/>
              <a:cs typeface="Calibri"/>
              <a:sym typeface="Calibri"/>
            </a:endParaRPr>
          </a:p>
        </p:txBody>
      </p:sp>
      <p:sp>
        <p:nvSpPr>
          <p:cNvPr id="66" name="Google Shape;66;p3"/>
          <p:cNvSpPr/>
          <p:nvPr/>
        </p:nvSpPr>
        <p:spPr>
          <a:xfrm>
            <a:off x="640080" y="68580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01020"/>
              </a:buClr>
              <a:buSzPts val="3000"/>
              <a:buFont typeface="Georgia"/>
              <a:buNone/>
            </a:pPr>
            <a:r>
              <a:rPr b="1" i="0" lang="en-US" sz="3000" u="none" cap="none" strike="noStrike">
                <a:solidFill>
                  <a:srgbClr val="801020"/>
                </a:solidFill>
                <a:latin typeface="Georgia"/>
                <a:ea typeface="Georgia"/>
                <a:cs typeface="Georgia"/>
                <a:sym typeface="Georgia"/>
              </a:rPr>
              <a:t>How Dhwani works with you</a:t>
            </a:r>
            <a:endParaRPr b="0" i="0" sz="3000" u="none" cap="none" strike="noStrike">
              <a:solidFill>
                <a:schemeClr val="dk1"/>
              </a:solidFill>
              <a:latin typeface="Calibri"/>
              <a:ea typeface="Calibri"/>
              <a:cs typeface="Calibri"/>
              <a:sym typeface="Calibri"/>
            </a:endParaRPr>
          </a:p>
        </p:txBody>
      </p:sp>
      <p:sp>
        <p:nvSpPr>
          <p:cNvPr id="67" name="Google Shape;67;p3"/>
          <p:cNvSpPr/>
          <p:nvPr/>
        </p:nvSpPr>
        <p:spPr>
          <a:xfrm>
            <a:off x="640080" y="1463040"/>
            <a:ext cx="10881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450"/>
              <a:buFont typeface="Calibri"/>
              <a:buNone/>
            </a:pPr>
            <a:r>
              <a:rPr b="0" i="1" lang="en-US" sz="1950" u="none" cap="none" strike="noStrike">
                <a:solidFill>
                  <a:srgbClr val="9A8C8E"/>
                </a:solidFill>
                <a:latin typeface="Calibri"/>
                <a:ea typeface="Calibri"/>
                <a:cs typeface="Calibri"/>
                <a:sym typeface="Calibri"/>
              </a:rPr>
              <a:t>Getting compliant isn't a one-off task. It's a change the whole organisation goes through, and we work through it in five stages.</a:t>
            </a:r>
            <a:endParaRPr b="0" i="0" sz="1950" u="none" cap="none" strike="noStrike">
              <a:solidFill>
                <a:schemeClr val="dk1"/>
              </a:solidFill>
              <a:latin typeface="Calibri"/>
              <a:ea typeface="Calibri"/>
              <a:cs typeface="Calibri"/>
              <a:sym typeface="Calibri"/>
            </a:endParaRPr>
          </a:p>
        </p:txBody>
      </p:sp>
      <p:cxnSp>
        <p:nvCxnSpPr>
          <p:cNvPr id="68" name="Google Shape;68;p3"/>
          <p:cNvCxnSpPr/>
          <p:nvPr/>
        </p:nvCxnSpPr>
        <p:spPr>
          <a:xfrm>
            <a:off x="1443422" y="3697647"/>
            <a:ext cx="9274800" cy="0"/>
          </a:xfrm>
          <a:prstGeom prst="straightConnector1">
            <a:avLst/>
          </a:prstGeom>
          <a:noFill/>
          <a:ln cap="flat" cmpd="sng" w="27050">
            <a:solidFill>
              <a:srgbClr val="EADCDA"/>
            </a:solidFill>
            <a:prstDash val="solid"/>
            <a:round/>
            <a:headEnd len="sm" w="sm" type="none"/>
            <a:tailEnd len="sm" w="sm" type="none"/>
          </a:ln>
        </p:spPr>
      </p:cxnSp>
      <p:sp>
        <p:nvSpPr>
          <p:cNvPr id="69" name="Google Shape;69;p3"/>
          <p:cNvSpPr/>
          <p:nvPr/>
        </p:nvSpPr>
        <p:spPr>
          <a:xfrm>
            <a:off x="858880" y="2723412"/>
            <a:ext cx="1169100" cy="292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8030"/>
              </a:buClr>
              <a:buSzPts val="1279"/>
              <a:buFont typeface="Calibri"/>
              <a:buNone/>
            </a:pPr>
            <a:r>
              <a:rPr b="1" i="0" lang="en-US" sz="1279" u="none" cap="none" strike="noStrike">
                <a:solidFill>
                  <a:srgbClr val="F08030"/>
                </a:solidFill>
                <a:latin typeface="Calibri"/>
                <a:ea typeface="Calibri"/>
                <a:cs typeface="Calibri"/>
                <a:sym typeface="Calibri"/>
              </a:rPr>
              <a:t>01</a:t>
            </a:r>
            <a:endParaRPr b="0" i="0" sz="1279" u="none" cap="none" strike="noStrike">
              <a:solidFill>
                <a:schemeClr val="dk1"/>
              </a:solidFill>
              <a:latin typeface="Calibri"/>
              <a:ea typeface="Calibri"/>
              <a:cs typeface="Calibri"/>
              <a:sym typeface="Calibri"/>
            </a:endParaRPr>
          </a:p>
        </p:txBody>
      </p:sp>
      <p:sp>
        <p:nvSpPr>
          <p:cNvPr id="70" name="Google Shape;70;p3"/>
          <p:cNvSpPr/>
          <p:nvPr/>
        </p:nvSpPr>
        <p:spPr>
          <a:xfrm>
            <a:off x="1005015" y="3259241"/>
            <a:ext cx="876600" cy="876600"/>
          </a:xfrm>
          <a:prstGeom prst="ellipse">
            <a:avLst/>
          </a:prstGeom>
          <a:solidFill>
            <a:srgbClr val="801020"/>
          </a:solidFill>
          <a:ln cap="flat" cmpd="sng" w="40600">
            <a:solidFill>
              <a:srgbClr val="FFFFFF"/>
            </a:solidFill>
            <a:prstDash val="solid"/>
            <a:round/>
            <a:headEnd len="sm" w="sm" type="none"/>
            <a:tailEnd len="sm" w="sm" type="none"/>
          </a:ln>
        </p:spPr>
        <p:txBody>
          <a:bodyPr anchorCtr="0" anchor="ctr" bIns="97400" lIns="97400" spcFirstLastPara="1" rIns="97400" wrap="square" tIns="97400">
            <a:noAutofit/>
          </a:bodyPr>
          <a:lstStyle/>
          <a:p>
            <a:pPr indent="0" lvl="0" marL="0" rtl="0" algn="l">
              <a:spcBef>
                <a:spcPts val="0"/>
              </a:spcBef>
              <a:spcAft>
                <a:spcPts val="0"/>
              </a:spcAft>
              <a:buNone/>
            </a:pPr>
            <a:r>
              <a:t/>
            </a:r>
            <a:endParaRPr/>
          </a:p>
        </p:txBody>
      </p:sp>
      <p:pic>
        <p:nvPicPr>
          <p:cNvPr descr="preencoded.png" id="71" name="Google Shape;71;p3"/>
          <p:cNvPicPr preferRelativeResize="0"/>
          <p:nvPr/>
        </p:nvPicPr>
        <p:blipFill rotWithShape="1">
          <a:blip r:embed="rId3">
            <a:alphaModFix/>
          </a:blip>
          <a:srcRect b="0" l="0" r="0" t="0"/>
          <a:stretch/>
        </p:blipFill>
        <p:spPr>
          <a:xfrm>
            <a:off x="1229090" y="3483316"/>
            <a:ext cx="428664" cy="428664"/>
          </a:xfrm>
          <a:prstGeom prst="rect">
            <a:avLst/>
          </a:prstGeom>
          <a:noFill/>
          <a:ln>
            <a:noFill/>
          </a:ln>
        </p:spPr>
      </p:pic>
      <p:sp>
        <p:nvSpPr>
          <p:cNvPr id="72" name="Google Shape;72;p3"/>
          <p:cNvSpPr/>
          <p:nvPr/>
        </p:nvSpPr>
        <p:spPr>
          <a:xfrm>
            <a:off x="371761" y="4330901"/>
            <a:ext cx="2143500" cy="584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801020"/>
              </a:buClr>
              <a:buSzPts val="1598"/>
              <a:buFont typeface="Calibri"/>
              <a:buNone/>
            </a:pPr>
            <a:r>
              <a:rPr b="1" i="0" lang="en-US" sz="1598" u="none" cap="none" strike="noStrike">
                <a:solidFill>
                  <a:srgbClr val="801020"/>
                </a:solidFill>
                <a:latin typeface="Calibri"/>
                <a:ea typeface="Calibri"/>
                <a:cs typeface="Calibri"/>
                <a:sym typeface="Calibri"/>
              </a:rPr>
              <a:t>Change the mindset</a:t>
            </a:r>
            <a:endParaRPr b="0" i="0" sz="1598" u="none" cap="none" strike="noStrike">
              <a:solidFill>
                <a:schemeClr val="dk1"/>
              </a:solidFill>
              <a:latin typeface="Calibri"/>
              <a:ea typeface="Calibri"/>
              <a:cs typeface="Calibri"/>
              <a:sym typeface="Calibri"/>
            </a:endParaRPr>
          </a:p>
        </p:txBody>
      </p:sp>
      <p:sp>
        <p:nvSpPr>
          <p:cNvPr id="73" name="Google Shape;73;p3"/>
          <p:cNvSpPr/>
          <p:nvPr/>
        </p:nvSpPr>
        <p:spPr>
          <a:xfrm>
            <a:off x="323050" y="4915442"/>
            <a:ext cx="2240700" cy="682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4042"/>
              </a:buClr>
              <a:buSzPts val="1225"/>
              <a:buFont typeface="Calibri"/>
              <a:buNone/>
            </a:pPr>
            <a:r>
              <a:rPr b="0" i="0" lang="en-US" sz="1438" u="none" cap="none" strike="noStrike">
                <a:solidFill>
                  <a:srgbClr val="4A4042"/>
                </a:solidFill>
                <a:latin typeface="Calibri"/>
                <a:ea typeface="Calibri"/>
                <a:cs typeface="Calibri"/>
                <a:sym typeface="Calibri"/>
              </a:rPr>
              <a:t>Across the whole organisation</a:t>
            </a:r>
            <a:endParaRPr b="0" i="0" sz="1438" u="none" cap="none" strike="noStrike">
              <a:solidFill>
                <a:schemeClr val="dk1"/>
              </a:solidFill>
              <a:latin typeface="Calibri"/>
              <a:ea typeface="Calibri"/>
              <a:cs typeface="Calibri"/>
              <a:sym typeface="Calibri"/>
            </a:endParaRPr>
          </a:p>
        </p:txBody>
      </p:sp>
      <p:sp>
        <p:nvSpPr>
          <p:cNvPr id="74" name="Google Shape;74;p3"/>
          <p:cNvSpPr/>
          <p:nvPr/>
        </p:nvSpPr>
        <p:spPr>
          <a:xfrm>
            <a:off x="3177563" y="2723412"/>
            <a:ext cx="1169100" cy="292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8030"/>
              </a:buClr>
              <a:buSzPts val="1279"/>
              <a:buFont typeface="Calibri"/>
              <a:buNone/>
            </a:pPr>
            <a:r>
              <a:rPr b="1" i="0" lang="en-US" sz="1279" u="none" cap="none" strike="noStrike">
                <a:solidFill>
                  <a:srgbClr val="F08030"/>
                </a:solidFill>
                <a:latin typeface="Calibri"/>
                <a:ea typeface="Calibri"/>
                <a:cs typeface="Calibri"/>
                <a:sym typeface="Calibri"/>
              </a:rPr>
              <a:t>02</a:t>
            </a:r>
            <a:endParaRPr b="0" i="0" sz="1279" u="none" cap="none" strike="noStrike">
              <a:solidFill>
                <a:schemeClr val="dk1"/>
              </a:solidFill>
              <a:latin typeface="Calibri"/>
              <a:ea typeface="Calibri"/>
              <a:cs typeface="Calibri"/>
              <a:sym typeface="Calibri"/>
            </a:endParaRPr>
          </a:p>
        </p:txBody>
      </p:sp>
      <p:sp>
        <p:nvSpPr>
          <p:cNvPr id="75" name="Google Shape;75;p3"/>
          <p:cNvSpPr/>
          <p:nvPr/>
        </p:nvSpPr>
        <p:spPr>
          <a:xfrm>
            <a:off x="3323699" y="3259241"/>
            <a:ext cx="876600" cy="876600"/>
          </a:xfrm>
          <a:prstGeom prst="ellipse">
            <a:avLst/>
          </a:prstGeom>
          <a:solidFill>
            <a:srgbClr val="801020"/>
          </a:solidFill>
          <a:ln cap="flat" cmpd="sng" w="40600">
            <a:solidFill>
              <a:srgbClr val="FFFFFF"/>
            </a:solidFill>
            <a:prstDash val="solid"/>
            <a:round/>
            <a:headEnd len="sm" w="sm" type="none"/>
            <a:tailEnd len="sm" w="sm" type="none"/>
          </a:ln>
        </p:spPr>
        <p:txBody>
          <a:bodyPr anchorCtr="0" anchor="ctr" bIns="97400" lIns="97400" spcFirstLastPara="1" rIns="97400" wrap="square" tIns="97400">
            <a:noAutofit/>
          </a:bodyPr>
          <a:lstStyle/>
          <a:p>
            <a:pPr indent="0" lvl="0" marL="0" rtl="0" algn="l">
              <a:spcBef>
                <a:spcPts val="0"/>
              </a:spcBef>
              <a:spcAft>
                <a:spcPts val="0"/>
              </a:spcAft>
              <a:buNone/>
            </a:pPr>
            <a:r>
              <a:t/>
            </a:r>
            <a:endParaRPr/>
          </a:p>
        </p:txBody>
      </p:sp>
      <p:pic>
        <p:nvPicPr>
          <p:cNvPr descr="preencoded.png" id="76" name="Google Shape;76;p3"/>
          <p:cNvPicPr preferRelativeResize="0"/>
          <p:nvPr/>
        </p:nvPicPr>
        <p:blipFill rotWithShape="1">
          <a:blip r:embed="rId4">
            <a:alphaModFix/>
          </a:blip>
          <a:srcRect b="0" l="0" r="0" t="0"/>
          <a:stretch/>
        </p:blipFill>
        <p:spPr>
          <a:xfrm>
            <a:off x="3547773" y="3483316"/>
            <a:ext cx="428664" cy="428664"/>
          </a:xfrm>
          <a:prstGeom prst="rect">
            <a:avLst/>
          </a:prstGeom>
          <a:noFill/>
          <a:ln>
            <a:noFill/>
          </a:ln>
        </p:spPr>
      </p:pic>
      <p:sp>
        <p:nvSpPr>
          <p:cNvPr id="77" name="Google Shape;77;p3"/>
          <p:cNvSpPr/>
          <p:nvPr/>
        </p:nvSpPr>
        <p:spPr>
          <a:xfrm>
            <a:off x="2690445" y="4330901"/>
            <a:ext cx="2143500" cy="584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801020"/>
              </a:buClr>
              <a:buSzPts val="1598"/>
              <a:buFont typeface="Calibri"/>
              <a:buNone/>
            </a:pPr>
            <a:r>
              <a:rPr b="1" i="0" lang="en-US" sz="1598" u="none" cap="none" strike="noStrike">
                <a:solidFill>
                  <a:srgbClr val="801020"/>
                </a:solidFill>
                <a:latin typeface="Calibri"/>
                <a:ea typeface="Calibri"/>
                <a:cs typeface="Calibri"/>
                <a:sym typeface="Calibri"/>
              </a:rPr>
              <a:t>Set up a Data Protection (DP) team</a:t>
            </a:r>
            <a:endParaRPr b="0" i="0" sz="1598" u="none" cap="none" strike="noStrike">
              <a:solidFill>
                <a:schemeClr val="dk1"/>
              </a:solidFill>
              <a:latin typeface="Calibri"/>
              <a:ea typeface="Calibri"/>
              <a:cs typeface="Calibri"/>
              <a:sym typeface="Calibri"/>
            </a:endParaRPr>
          </a:p>
        </p:txBody>
      </p:sp>
      <p:sp>
        <p:nvSpPr>
          <p:cNvPr id="78" name="Google Shape;78;p3"/>
          <p:cNvSpPr/>
          <p:nvPr/>
        </p:nvSpPr>
        <p:spPr>
          <a:xfrm>
            <a:off x="2641733" y="4915442"/>
            <a:ext cx="2240700" cy="682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4042"/>
              </a:buClr>
              <a:buSzPts val="1225"/>
              <a:buFont typeface="Calibri"/>
              <a:buNone/>
            </a:pPr>
            <a:r>
              <a:rPr b="0" i="0" lang="en-US" sz="1438" u="none" cap="none" strike="noStrike">
                <a:solidFill>
                  <a:srgbClr val="4A4042"/>
                </a:solidFill>
                <a:latin typeface="Calibri"/>
                <a:ea typeface="Calibri"/>
                <a:cs typeface="Calibri"/>
                <a:sym typeface="Calibri"/>
              </a:rPr>
              <a:t>Independent, 2–5 people</a:t>
            </a:r>
            <a:endParaRPr b="0" i="0" sz="1438" u="none" cap="none" strike="noStrike">
              <a:solidFill>
                <a:schemeClr val="dk1"/>
              </a:solidFill>
              <a:latin typeface="Calibri"/>
              <a:ea typeface="Calibri"/>
              <a:cs typeface="Calibri"/>
              <a:sym typeface="Calibri"/>
            </a:endParaRPr>
          </a:p>
        </p:txBody>
      </p:sp>
      <p:sp>
        <p:nvSpPr>
          <p:cNvPr id="79" name="Google Shape;79;p3"/>
          <p:cNvSpPr/>
          <p:nvPr/>
        </p:nvSpPr>
        <p:spPr>
          <a:xfrm>
            <a:off x="5496246" y="2723412"/>
            <a:ext cx="1169100" cy="292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8030"/>
              </a:buClr>
              <a:buSzPts val="1279"/>
              <a:buFont typeface="Calibri"/>
              <a:buNone/>
            </a:pPr>
            <a:r>
              <a:rPr b="1" i="0" lang="en-US" sz="1279" u="none" cap="none" strike="noStrike">
                <a:solidFill>
                  <a:srgbClr val="F08030"/>
                </a:solidFill>
                <a:latin typeface="Calibri"/>
                <a:ea typeface="Calibri"/>
                <a:cs typeface="Calibri"/>
                <a:sym typeface="Calibri"/>
              </a:rPr>
              <a:t>03</a:t>
            </a:r>
            <a:endParaRPr b="0" i="0" sz="1279" u="none" cap="none" strike="noStrike">
              <a:solidFill>
                <a:schemeClr val="dk1"/>
              </a:solidFill>
              <a:latin typeface="Calibri"/>
              <a:ea typeface="Calibri"/>
              <a:cs typeface="Calibri"/>
              <a:sym typeface="Calibri"/>
            </a:endParaRPr>
          </a:p>
        </p:txBody>
      </p:sp>
      <p:sp>
        <p:nvSpPr>
          <p:cNvPr id="80" name="Google Shape;80;p3"/>
          <p:cNvSpPr/>
          <p:nvPr/>
        </p:nvSpPr>
        <p:spPr>
          <a:xfrm>
            <a:off x="5642382" y="3259241"/>
            <a:ext cx="876600" cy="876600"/>
          </a:xfrm>
          <a:prstGeom prst="ellipse">
            <a:avLst/>
          </a:prstGeom>
          <a:solidFill>
            <a:srgbClr val="801020"/>
          </a:solidFill>
          <a:ln cap="flat" cmpd="sng" w="40600">
            <a:solidFill>
              <a:srgbClr val="FFFFFF"/>
            </a:solidFill>
            <a:prstDash val="solid"/>
            <a:round/>
            <a:headEnd len="sm" w="sm" type="none"/>
            <a:tailEnd len="sm" w="sm" type="none"/>
          </a:ln>
        </p:spPr>
        <p:txBody>
          <a:bodyPr anchorCtr="0" anchor="ctr" bIns="97400" lIns="97400" spcFirstLastPara="1" rIns="97400" wrap="square" tIns="97400">
            <a:noAutofit/>
          </a:bodyPr>
          <a:lstStyle/>
          <a:p>
            <a:pPr indent="0" lvl="0" marL="0" rtl="0" algn="l">
              <a:spcBef>
                <a:spcPts val="0"/>
              </a:spcBef>
              <a:spcAft>
                <a:spcPts val="0"/>
              </a:spcAft>
              <a:buNone/>
            </a:pPr>
            <a:r>
              <a:t/>
            </a:r>
            <a:endParaRPr/>
          </a:p>
        </p:txBody>
      </p:sp>
      <p:pic>
        <p:nvPicPr>
          <p:cNvPr descr="preencoded.png" id="81" name="Google Shape;81;p3"/>
          <p:cNvPicPr preferRelativeResize="0"/>
          <p:nvPr/>
        </p:nvPicPr>
        <p:blipFill rotWithShape="1">
          <a:blip r:embed="rId5">
            <a:alphaModFix/>
          </a:blip>
          <a:srcRect b="0" l="0" r="0" t="0"/>
          <a:stretch/>
        </p:blipFill>
        <p:spPr>
          <a:xfrm>
            <a:off x="5866456" y="3483316"/>
            <a:ext cx="428664" cy="428664"/>
          </a:xfrm>
          <a:prstGeom prst="rect">
            <a:avLst/>
          </a:prstGeom>
          <a:noFill/>
          <a:ln>
            <a:noFill/>
          </a:ln>
        </p:spPr>
      </p:pic>
      <p:sp>
        <p:nvSpPr>
          <p:cNvPr id="82" name="Google Shape;82;p3"/>
          <p:cNvSpPr/>
          <p:nvPr/>
        </p:nvSpPr>
        <p:spPr>
          <a:xfrm>
            <a:off x="5009128" y="4330901"/>
            <a:ext cx="2143500" cy="584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801020"/>
              </a:buClr>
              <a:buSzPts val="1598"/>
              <a:buFont typeface="Calibri"/>
              <a:buNone/>
            </a:pPr>
            <a:r>
              <a:rPr b="1" i="0" lang="en-US" sz="1598" u="none" cap="none" strike="noStrike">
                <a:solidFill>
                  <a:srgbClr val="801020"/>
                </a:solidFill>
                <a:latin typeface="Calibri"/>
                <a:ea typeface="Calibri"/>
                <a:cs typeface="Calibri"/>
                <a:sym typeface="Calibri"/>
              </a:rPr>
              <a:t>Two different adoption pathways</a:t>
            </a:r>
            <a:endParaRPr b="0" i="0" sz="1598" u="none" cap="none" strike="noStrike">
              <a:solidFill>
                <a:schemeClr val="dk1"/>
              </a:solidFill>
              <a:latin typeface="Calibri"/>
              <a:ea typeface="Calibri"/>
              <a:cs typeface="Calibri"/>
              <a:sym typeface="Calibri"/>
            </a:endParaRPr>
          </a:p>
        </p:txBody>
      </p:sp>
      <p:sp>
        <p:nvSpPr>
          <p:cNvPr id="83" name="Google Shape;83;p3"/>
          <p:cNvSpPr/>
          <p:nvPr/>
        </p:nvSpPr>
        <p:spPr>
          <a:xfrm>
            <a:off x="4960416" y="4915442"/>
            <a:ext cx="2240700" cy="682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4042"/>
              </a:buClr>
              <a:buSzPts val="1225"/>
              <a:buFont typeface="Calibri"/>
              <a:buNone/>
            </a:pPr>
            <a:r>
              <a:rPr b="0" i="0" lang="en-US" sz="1438" u="none" cap="none" strike="noStrike">
                <a:solidFill>
                  <a:srgbClr val="4A4042"/>
                </a:solidFill>
                <a:latin typeface="Calibri"/>
                <a:ea typeface="Calibri"/>
                <a:cs typeface="Calibri"/>
                <a:sym typeface="Calibri"/>
              </a:rPr>
              <a:t>Old data and new</a:t>
            </a:r>
            <a:endParaRPr b="0" i="0" sz="1438" u="none" cap="none" strike="noStrike">
              <a:solidFill>
                <a:schemeClr val="dk1"/>
              </a:solidFill>
              <a:latin typeface="Calibri"/>
              <a:ea typeface="Calibri"/>
              <a:cs typeface="Calibri"/>
              <a:sym typeface="Calibri"/>
            </a:endParaRPr>
          </a:p>
        </p:txBody>
      </p:sp>
      <p:sp>
        <p:nvSpPr>
          <p:cNvPr id="84" name="Google Shape;84;p3"/>
          <p:cNvSpPr/>
          <p:nvPr/>
        </p:nvSpPr>
        <p:spPr>
          <a:xfrm>
            <a:off x="7814930" y="2723412"/>
            <a:ext cx="1169100" cy="292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8030"/>
              </a:buClr>
              <a:buSzPts val="1279"/>
              <a:buFont typeface="Calibri"/>
              <a:buNone/>
            </a:pPr>
            <a:r>
              <a:rPr b="1" i="0" lang="en-US" sz="1279" u="none" cap="none" strike="noStrike">
                <a:solidFill>
                  <a:srgbClr val="F08030"/>
                </a:solidFill>
                <a:latin typeface="Calibri"/>
                <a:ea typeface="Calibri"/>
                <a:cs typeface="Calibri"/>
                <a:sym typeface="Calibri"/>
              </a:rPr>
              <a:t>04</a:t>
            </a:r>
            <a:endParaRPr b="0" i="0" sz="1279" u="none" cap="none" strike="noStrike">
              <a:solidFill>
                <a:schemeClr val="dk1"/>
              </a:solidFill>
              <a:latin typeface="Calibri"/>
              <a:ea typeface="Calibri"/>
              <a:cs typeface="Calibri"/>
              <a:sym typeface="Calibri"/>
            </a:endParaRPr>
          </a:p>
        </p:txBody>
      </p:sp>
      <p:sp>
        <p:nvSpPr>
          <p:cNvPr id="85" name="Google Shape;85;p3"/>
          <p:cNvSpPr/>
          <p:nvPr/>
        </p:nvSpPr>
        <p:spPr>
          <a:xfrm>
            <a:off x="7961065" y="3259241"/>
            <a:ext cx="876600" cy="876600"/>
          </a:xfrm>
          <a:prstGeom prst="ellipse">
            <a:avLst/>
          </a:prstGeom>
          <a:solidFill>
            <a:srgbClr val="801020"/>
          </a:solidFill>
          <a:ln cap="flat" cmpd="sng" w="40600">
            <a:solidFill>
              <a:srgbClr val="FFFFFF"/>
            </a:solidFill>
            <a:prstDash val="solid"/>
            <a:round/>
            <a:headEnd len="sm" w="sm" type="none"/>
            <a:tailEnd len="sm" w="sm" type="none"/>
          </a:ln>
        </p:spPr>
        <p:txBody>
          <a:bodyPr anchorCtr="0" anchor="ctr" bIns="97400" lIns="97400" spcFirstLastPara="1" rIns="97400" wrap="square" tIns="97400">
            <a:noAutofit/>
          </a:bodyPr>
          <a:lstStyle/>
          <a:p>
            <a:pPr indent="0" lvl="0" marL="0" rtl="0" algn="l">
              <a:spcBef>
                <a:spcPts val="0"/>
              </a:spcBef>
              <a:spcAft>
                <a:spcPts val="0"/>
              </a:spcAft>
              <a:buNone/>
            </a:pPr>
            <a:r>
              <a:t/>
            </a:r>
            <a:endParaRPr/>
          </a:p>
        </p:txBody>
      </p:sp>
      <p:pic>
        <p:nvPicPr>
          <p:cNvPr descr="preencoded.png" id="86" name="Google Shape;86;p3"/>
          <p:cNvPicPr preferRelativeResize="0"/>
          <p:nvPr/>
        </p:nvPicPr>
        <p:blipFill rotWithShape="1">
          <a:blip r:embed="rId6">
            <a:alphaModFix/>
          </a:blip>
          <a:srcRect b="0" l="0" r="0" t="0"/>
          <a:stretch/>
        </p:blipFill>
        <p:spPr>
          <a:xfrm>
            <a:off x="8185140" y="3483316"/>
            <a:ext cx="428664" cy="428664"/>
          </a:xfrm>
          <a:prstGeom prst="rect">
            <a:avLst/>
          </a:prstGeom>
          <a:noFill/>
          <a:ln>
            <a:noFill/>
          </a:ln>
        </p:spPr>
      </p:pic>
      <p:sp>
        <p:nvSpPr>
          <p:cNvPr id="87" name="Google Shape;87;p3"/>
          <p:cNvSpPr/>
          <p:nvPr/>
        </p:nvSpPr>
        <p:spPr>
          <a:xfrm>
            <a:off x="7327812" y="4330901"/>
            <a:ext cx="2143500" cy="584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801020"/>
              </a:buClr>
              <a:buSzPts val="1598"/>
              <a:buFont typeface="Calibri"/>
              <a:buNone/>
            </a:pPr>
            <a:r>
              <a:rPr b="1" i="0" lang="en-US" sz="1598" u="none" cap="none" strike="noStrike">
                <a:solidFill>
                  <a:srgbClr val="801020"/>
                </a:solidFill>
                <a:latin typeface="Calibri"/>
                <a:ea typeface="Calibri"/>
                <a:cs typeface="Calibri"/>
                <a:sym typeface="Calibri"/>
              </a:rPr>
              <a:t>Preparing for DPDP adoption</a:t>
            </a:r>
            <a:endParaRPr b="0" i="0" sz="1598" u="none" cap="none" strike="noStrike">
              <a:solidFill>
                <a:schemeClr val="dk1"/>
              </a:solidFill>
              <a:latin typeface="Calibri"/>
              <a:ea typeface="Calibri"/>
              <a:cs typeface="Calibri"/>
              <a:sym typeface="Calibri"/>
            </a:endParaRPr>
          </a:p>
        </p:txBody>
      </p:sp>
      <p:sp>
        <p:nvSpPr>
          <p:cNvPr id="88" name="Google Shape;88;p3"/>
          <p:cNvSpPr/>
          <p:nvPr/>
        </p:nvSpPr>
        <p:spPr>
          <a:xfrm>
            <a:off x="7279100" y="4915442"/>
            <a:ext cx="2240700" cy="682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4042"/>
              </a:buClr>
              <a:buSzPts val="1225"/>
              <a:buFont typeface="Calibri"/>
              <a:buNone/>
            </a:pPr>
            <a:r>
              <a:rPr b="0" i="0" lang="en-US" sz="1438" u="none" cap="none" strike="noStrike">
                <a:solidFill>
                  <a:srgbClr val="4A4042"/>
                </a:solidFill>
                <a:latin typeface="Calibri"/>
                <a:ea typeface="Calibri"/>
                <a:cs typeface="Calibri"/>
                <a:sym typeface="Calibri"/>
              </a:rPr>
              <a:t>Residency and special cases</a:t>
            </a:r>
            <a:endParaRPr b="0" i="0" sz="1438" u="none" cap="none" strike="noStrike">
              <a:solidFill>
                <a:schemeClr val="dk1"/>
              </a:solidFill>
              <a:latin typeface="Calibri"/>
              <a:ea typeface="Calibri"/>
              <a:cs typeface="Calibri"/>
              <a:sym typeface="Calibri"/>
            </a:endParaRPr>
          </a:p>
        </p:txBody>
      </p:sp>
      <p:sp>
        <p:nvSpPr>
          <p:cNvPr id="89" name="Google Shape;89;p3"/>
          <p:cNvSpPr/>
          <p:nvPr/>
        </p:nvSpPr>
        <p:spPr>
          <a:xfrm>
            <a:off x="10133613" y="2723412"/>
            <a:ext cx="1169100" cy="292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8030"/>
              </a:buClr>
              <a:buSzPts val="1279"/>
              <a:buFont typeface="Calibri"/>
              <a:buNone/>
            </a:pPr>
            <a:r>
              <a:rPr b="1" i="0" lang="en-US" sz="1279" u="none" cap="none" strike="noStrike">
                <a:solidFill>
                  <a:srgbClr val="F08030"/>
                </a:solidFill>
                <a:latin typeface="Calibri"/>
                <a:ea typeface="Calibri"/>
                <a:cs typeface="Calibri"/>
                <a:sym typeface="Calibri"/>
              </a:rPr>
              <a:t>05</a:t>
            </a:r>
            <a:endParaRPr b="0" i="0" sz="1279" u="none" cap="none" strike="noStrike">
              <a:solidFill>
                <a:schemeClr val="dk1"/>
              </a:solidFill>
              <a:latin typeface="Calibri"/>
              <a:ea typeface="Calibri"/>
              <a:cs typeface="Calibri"/>
              <a:sym typeface="Calibri"/>
            </a:endParaRPr>
          </a:p>
        </p:txBody>
      </p:sp>
      <p:sp>
        <p:nvSpPr>
          <p:cNvPr id="90" name="Google Shape;90;p3"/>
          <p:cNvSpPr/>
          <p:nvPr/>
        </p:nvSpPr>
        <p:spPr>
          <a:xfrm>
            <a:off x="10279749" y="3259241"/>
            <a:ext cx="876600" cy="876600"/>
          </a:xfrm>
          <a:prstGeom prst="ellipse">
            <a:avLst/>
          </a:prstGeom>
          <a:solidFill>
            <a:srgbClr val="801020"/>
          </a:solidFill>
          <a:ln cap="flat" cmpd="sng" w="40600">
            <a:solidFill>
              <a:srgbClr val="FFFFFF"/>
            </a:solidFill>
            <a:prstDash val="solid"/>
            <a:round/>
            <a:headEnd len="sm" w="sm" type="none"/>
            <a:tailEnd len="sm" w="sm" type="none"/>
          </a:ln>
        </p:spPr>
        <p:txBody>
          <a:bodyPr anchorCtr="0" anchor="ctr" bIns="97400" lIns="97400" spcFirstLastPara="1" rIns="97400" wrap="square" tIns="97400">
            <a:noAutofit/>
          </a:bodyPr>
          <a:lstStyle/>
          <a:p>
            <a:pPr indent="0" lvl="0" marL="0" rtl="0" algn="l">
              <a:spcBef>
                <a:spcPts val="0"/>
              </a:spcBef>
              <a:spcAft>
                <a:spcPts val="0"/>
              </a:spcAft>
              <a:buNone/>
            </a:pPr>
            <a:r>
              <a:t/>
            </a:r>
            <a:endParaRPr/>
          </a:p>
        </p:txBody>
      </p:sp>
      <p:pic>
        <p:nvPicPr>
          <p:cNvPr descr="preencoded.png" id="91" name="Google Shape;91;p3"/>
          <p:cNvPicPr preferRelativeResize="0"/>
          <p:nvPr/>
        </p:nvPicPr>
        <p:blipFill rotWithShape="1">
          <a:blip r:embed="rId7">
            <a:alphaModFix/>
          </a:blip>
          <a:srcRect b="0" l="0" r="0" t="0"/>
          <a:stretch/>
        </p:blipFill>
        <p:spPr>
          <a:xfrm>
            <a:off x="10503823" y="3483316"/>
            <a:ext cx="428664" cy="428664"/>
          </a:xfrm>
          <a:prstGeom prst="rect">
            <a:avLst/>
          </a:prstGeom>
          <a:noFill/>
          <a:ln>
            <a:noFill/>
          </a:ln>
        </p:spPr>
      </p:pic>
      <p:sp>
        <p:nvSpPr>
          <p:cNvPr id="92" name="Google Shape;92;p3"/>
          <p:cNvSpPr/>
          <p:nvPr/>
        </p:nvSpPr>
        <p:spPr>
          <a:xfrm>
            <a:off x="9646495" y="4330901"/>
            <a:ext cx="2143500" cy="584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801020"/>
              </a:buClr>
              <a:buSzPts val="1598"/>
              <a:buFont typeface="Calibri"/>
              <a:buNone/>
            </a:pPr>
            <a:r>
              <a:rPr b="1" i="0" lang="en-US" sz="1598" u="none" cap="none" strike="noStrike">
                <a:solidFill>
                  <a:srgbClr val="801020"/>
                </a:solidFill>
                <a:latin typeface="Calibri"/>
                <a:ea typeface="Calibri"/>
                <a:cs typeface="Calibri"/>
                <a:sym typeface="Calibri"/>
              </a:rPr>
              <a:t>Audit and certify</a:t>
            </a:r>
            <a:endParaRPr b="0" i="0" sz="1598" u="none" cap="none" strike="noStrike">
              <a:solidFill>
                <a:schemeClr val="dk1"/>
              </a:solidFill>
              <a:latin typeface="Calibri"/>
              <a:ea typeface="Calibri"/>
              <a:cs typeface="Calibri"/>
              <a:sym typeface="Calibri"/>
            </a:endParaRPr>
          </a:p>
        </p:txBody>
      </p:sp>
      <p:sp>
        <p:nvSpPr>
          <p:cNvPr id="93" name="Google Shape;93;p3"/>
          <p:cNvSpPr/>
          <p:nvPr/>
        </p:nvSpPr>
        <p:spPr>
          <a:xfrm>
            <a:off x="9597783" y="4915442"/>
            <a:ext cx="2240700" cy="682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4042"/>
              </a:buClr>
              <a:buSzPts val="1225"/>
              <a:buFont typeface="Calibri"/>
              <a:buNone/>
            </a:pPr>
            <a:r>
              <a:rPr b="0" i="0" lang="en-US" sz="1438" u="none" cap="none" strike="noStrike">
                <a:solidFill>
                  <a:srgbClr val="4A4042"/>
                </a:solidFill>
                <a:latin typeface="Calibri"/>
                <a:ea typeface="Calibri"/>
                <a:cs typeface="Calibri"/>
                <a:sym typeface="Calibri"/>
              </a:rPr>
              <a:t>Checked by an outside ind</a:t>
            </a:r>
            <a:r>
              <a:rPr lang="en-US" sz="1438">
                <a:solidFill>
                  <a:srgbClr val="4A4042"/>
                </a:solidFill>
                <a:latin typeface="Calibri"/>
                <a:ea typeface="Calibri"/>
                <a:cs typeface="Calibri"/>
                <a:sym typeface="Calibri"/>
              </a:rPr>
              <a:t>ependent </a:t>
            </a:r>
            <a:r>
              <a:rPr b="0" i="0" lang="en-US" sz="1438" u="none" cap="none" strike="noStrike">
                <a:solidFill>
                  <a:srgbClr val="4A4042"/>
                </a:solidFill>
                <a:latin typeface="Calibri"/>
                <a:ea typeface="Calibri"/>
                <a:cs typeface="Calibri"/>
                <a:sym typeface="Calibri"/>
              </a:rPr>
              <a:t>agency</a:t>
            </a:r>
            <a:endParaRPr b="0" i="0" sz="1438" u="none" cap="none" strike="noStrike">
              <a:solidFill>
                <a:schemeClr val="dk1"/>
              </a:solidFill>
              <a:latin typeface="Calibri"/>
              <a:ea typeface="Calibri"/>
              <a:cs typeface="Calibri"/>
              <a:sym typeface="Calibri"/>
            </a:endParaRPr>
          </a:p>
        </p:txBody>
      </p:sp>
      <p:sp>
        <p:nvSpPr>
          <p:cNvPr id="94" name="Google Shape;94;p3"/>
          <p:cNvSpPr/>
          <p:nvPr/>
        </p:nvSpPr>
        <p:spPr>
          <a:xfrm>
            <a:off x="11430000" y="640080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95" name="Google Shape;95;p3"/>
          <p:cNvSpPr/>
          <p:nvPr/>
        </p:nvSpPr>
        <p:spPr>
          <a:xfrm>
            <a:off x="64008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Dhwani RIS  ·  DPDP Adoption Approach</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4"/>
          <p:cNvSpPr/>
          <p:nvPr/>
        </p:nvSpPr>
        <p:spPr>
          <a:xfrm>
            <a:off x="64008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200"/>
              <a:buFont typeface="Calibri"/>
              <a:buNone/>
            </a:pPr>
            <a:r>
              <a:rPr b="1" i="0" lang="en-US" sz="1200" u="none" cap="none" strike="noStrike">
                <a:solidFill>
                  <a:srgbClr val="F08030"/>
                </a:solidFill>
                <a:latin typeface="Calibri"/>
                <a:ea typeface="Calibri"/>
                <a:cs typeface="Calibri"/>
                <a:sym typeface="Calibri"/>
              </a:rPr>
              <a:t>PILLAR 1</a:t>
            </a:r>
            <a:endParaRPr b="0" i="0" sz="1200" u="none" cap="none" strike="noStrike">
              <a:solidFill>
                <a:schemeClr val="dk1"/>
              </a:solidFill>
              <a:latin typeface="Calibri"/>
              <a:ea typeface="Calibri"/>
              <a:cs typeface="Calibri"/>
              <a:sym typeface="Calibri"/>
            </a:endParaRPr>
          </a:p>
        </p:txBody>
      </p:sp>
      <p:sp>
        <p:nvSpPr>
          <p:cNvPr id="102" name="Google Shape;102;p4"/>
          <p:cNvSpPr/>
          <p:nvPr/>
        </p:nvSpPr>
        <p:spPr>
          <a:xfrm>
            <a:off x="640080" y="68580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01020"/>
              </a:buClr>
              <a:buSzPts val="3000"/>
              <a:buFont typeface="Georgia"/>
              <a:buNone/>
            </a:pPr>
            <a:r>
              <a:rPr b="1" i="0" lang="en-US" sz="3000" u="none" cap="none" strike="noStrike">
                <a:solidFill>
                  <a:srgbClr val="801020"/>
                </a:solidFill>
                <a:latin typeface="Georgia"/>
                <a:ea typeface="Georgia"/>
                <a:cs typeface="Georgia"/>
                <a:sym typeface="Georgia"/>
              </a:rPr>
              <a:t>It starts with a change in mindset</a:t>
            </a:r>
            <a:endParaRPr b="0" i="0" sz="3000" u="none" cap="none" strike="noStrike">
              <a:solidFill>
                <a:schemeClr val="dk1"/>
              </a:solidFill>
              <a:latin typeface="Calibri"/>
              <a:ea typeface="Calibri"/>
              <a:cs typeface="Calibri"/>
              <a:sym typeface="Calibri"/>
            </a:endParaRPr>
          </a:p>
        </p:txBody>
      </p:sp>
      <p:sp>
        <p:nvSpPr>
          <p:cNvPr id="103" name="Google Shape;103;p4"/>
          <p:cNvSpPr/>
          <p:nvPr/>
        </p:nvSpPr>
        <p:spPr>
          <a:xfrm>
            <a:off x="640080" y="1417320"/>
            <a:ext cx="10881360" cy="6400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A4042"/>
              </a:buClr>
              <a:buSzPts val="1400"/>
              <a:buFont typeface="Calibri"/>
              <a:buNone/>
            </a:pPr>
            <a:r>
              <a:rPr b="0" i="0" lang="en-US" sz="1800" u="none" cap="none" strike="noStrike">
                <a:solidFill>
                  <a:srgbClr val="4A4042"/>
                </a:solidFill>
                <a:latin typeface="Calibri"/>
                <a:ea typeface="Calibri"/>
                <a:cs typeface="Calibri"/>
                <a:sym typeface="Calibri"/>
              </a:rPr>
              <a:t>This is about behaviour before it's about tools or policies. Now that data protection is the law, the old habit of collecting freely and keeping everything has to change, and that has to happen right across the organisation.</a:t>
            </a:r>
            <a:endParaRPr b="0" i="0" sz="1800" u="none" cap="none" strike="noStrike">
              <a:solidFill>
                <a:schemeClr val="dk1"/>
              </a:solidFill>
              <a:latin typeface="Calibri"/>
              <a:ea typeface="Calibri"/>
              <a:cs typeface="Calibri"/>
              <a:sym typeface="Calibri"/>
            </a:endParaRPr>
          </a:p>
        </p:txBody>
      </p:sp>
      <p:sp>
        <p:nvSpPr>
          <p:cNvPr id="104" name="Google Shape;104;p4"/>
          <p:cNvSpPr/>
          <p:nvPr/>
        </p:nvSpPr>
        <p:spPr>
          <a:xfrm>
            <a:off x="640080" y="2331720"/>
            <a:ext cx="4846320" cy="2926080"/>
          </a:xfrm>
          <a:prstGeom prst="roundRect">
            <a:avLst>
              <a:gd fmla="val 3125"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914400" y="2560320"/>
            <a:ext cx="4297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300"/>
              <a:buFont typeface="Calibri"/>
              <a:buNone/>
            </a:pPr>
            <a:r>
              <a:rPr b="1" i="0" lang="en-US" sz="1300" u="none" cap="none" strike="noStrike">
                <a:solidFill>
                  <a:srgbClr val="9A8C8E"/>
                </a:solidFill>
                <a:latin typeface="Calibri"/>
                <a:ea typeface="Calibri"/>
                <a:cs typeface="Calibri"/>
                <a:sym typeface="Calibri"/>
              </a:rPr>
              <a:t>THE OLD MINDSET</a:t>
            </a:r>
            <a:endParaRPr b="0" i="0" sz="1300" u="none" cap="none" strike="noStrike">
              <a:solidFill>
                <a:schemeClr val="dk1"/>
              </a:solidFill>
              <a:latin typeface="Calibri"/>
              <a:ea typeface="Calibri"/>
              <a:cs typeface="Calibri"/>
              <a:sym typeface="Calibri"/>
            </a:endParaRPr>
          </a:p>
        </p:txBody>
      </p:sp>
      <p:sp>
        <p:nvSpPr>
          <p:cNvPr id="106" name="Google Shape;106;p4"/>
          <p:cNvSpPr/>
          <p:nvPr/>
        </p:nvSpPr>
        <p:spPr>
          <a:xfrm>
            <a:off x="914400" y="2926080"/>
            <a:ext cx="4297680" cy="2103120"/>
          </a:xfrm>
          <a:prstGeom prst="rect">
            <a:avLst/>
          </a:prstGeom>
          <a:noFill/>
          <a:ln>
            <a:noFill/>
          </a:ln>
        </p:spPr>
        <p:txBody>
          <a:bodyPr anchorCtr="0" anchor="ctr" bIns="0" lIns="0" spcFirstLastPara="1" rIns="0" wrap="square" tIns="0">
            <a:noAutofit/>
          </a:bodyPr>
          <a:lstStyle/>
          <a:p>
            <a:pPr indent="-349250" lvl="0" marL="342900" marR="0" rtl="0" algn="l">
              <a:lnSpc>
                <a:spcPct val="140000"/>
              </a:lnSpc>
              <a:spcBef>
                <a:spcPts val="0"/>
              </a:spcBef>
              <a:spcAft>
                <a:spcPts val="0"/>
              </a:spcAft>
              <a:buClr>
                <a:srgbClr val="4A4042"/>
              </a:buClr>
              <a:buSzPts val="1500"/>
              <a:buFont typeface="Calibri"/>
              <a:buChar char="•"/>
            </a:pPr>
            <a:r>
              <a:rPr b="0" i="0" lang="en-US" sz="1500" u="none" cap="none" strike="noStrike">
                <a:solidFill>
                  <a:srgbClr val="4A4042"/>
                </a:solidFill>
                <a:latin typeface="Calibri"/>
                <a:ea typeface="Calibri"/>
                <a:cs typeface="Calibri"/>
                <a:sym typeface="Calibri"/>
              </a:rPr>
              <a:t>Collect whatever we can.</a:t>
            </a:r>
            <a:endParaRPr b="0" i="0" sz="1500" u="none" cap="none" strike="noStrike">
              <a:solidFill>
                <a:schemeClr val="dk1"/>
              </a:solidFill>
              <a:latin typeface="Calibri"/>
              <a:ea typeface="Calibri"/>
              <a:cs typeface="Calibri"/>
              <a:sym typeface="Calibri"/>
            </a:endParaRPr>
          </a:p>
          <a:p>
            <a:pPr indent="-349250" lvl="0" marL="342900" marR="0" rtl="0" algn="l">
              <a:lnSpc>
                <a:spcPct val="140000"/>
              </a:lnSpc>
              <a:spcBef>
                <a:spcPts val="0"/>
              </a:spcBef>
              <a:spcAft>
                <a:spcPts val="0"/>
              </a:spcAft>
              <a:buClr>
                <a:srgbClr val="4A4042"/>
              </a:buClr>
              <a:buSzPts val="1500"/>
              <a:buFont typeface="Calibri"/>
              <a:buChar char="•"/>
            </a:pPr>
            <a:r>
              <a:rPr b="0" i="0" lang="en-US" sz="1500" u="none" cap="none" strike="noStrike">
                <a:solidFill>
                  <a:srgbClr val="4A4042"/>
                </a:solidFill>
                <a:latin typeface="Calibri"/>
                <a:ea typeface="Calibri"/>
                <a:cs typeface="Calibri"/>
                <a:sym typeface="Calibri"/>
              </a:rPr>
              <a:t>Hold on to it in case we need it later.</a:t>
            </a:r>
            <a:endParaRPr b="0" i="0" sz="1500" u="none" cap="none" strike="noStrike">
              <a:solidFill>
                <a:schemeClr val="dk1"/>
              </a:solidFill>
              <a:latin typeface="Calibri"/>
              <a:ea typeface="Calibri"/>
              <a:cs typeface="Calibri"/>
              <a:sym typeface="Calibri"/>
            </a:endParaRPr>
          </a:p>
          <a:p>
            <a:pPr indent="-349250" lvl="0" marL="342900" marR="0" rtl="0" algn="l">
              <a:lnSpc>
                <a:spcPct val="140000"/>
              </a:lnSpc>
              <a:spcBef>
                <a:spcPts val="0"/>
              </a:spcBef>
              <a:spcAft>
                <a:spcPts val="0"/>
              </a:spcAft>
              <a:buClr>
                <a:srgbClr val="4A4042"/>
              </a:buClr>
              <a:buSzPts val="1500"/>
              <a:buFont typeface="Calibri"/>
              <a:buChar char="•"/>
            </a:pPr>
            <a:r>
              <a:rPr b="0" i="0" lang="en-US" sz="1500" u="none" cap="none" strike="noStrike">
                <a:solidFill>
                  <a:srgbClr val="4A4042"/>
                </a:solidFill>
                <a:latin typeface="Calibri"/>
                <a:ea typeface="Calibri"/>
                <a:cs typeface="Calibri"/>
                <a:sym typeface="Calibri"/>
              </a:rPr>
              <a:t>More data is a good thing.</a:t>
            </a:r>
            <a:endParaRPr b="0" i="0" sz="1500" u="none" cap="none" strike="noStrike">
              <a:solidFill>
                <a:schemeClr val="dk1"/>
              </a:solidFill>
              <a:latin typeface="Calibri"/>
              <a:ea typeface="Calibri"/>
              <a:cs typeface="Calibri"/>
              <a:sym typeface="Calibri"/>
            </a:endParaRPr>
          </a:p>
        </p:txBody>
      </p:sp>
      <p:sp>
        <p:nvSpPr>
          <p:cNvPr id="107" name="Google Shape;107;p4"/>
          <p:cNvSpPr/>
          <p:nvPr/>
        </p:nvSpPr>
        <p:spPr>
          <a:xfrm>
            <a:off x="5532120" y="3291840"/>
            <a:ext cx="109728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8030"/>
              </a:buClr>
              <a:buSzPts val="4800"/>
              <a:buFont typeface="Calibri"/>
              <a:buNone/>
            </a:pPr>
            <a:r>
              <a:rPr b="1" i="0" lang="en-US" sz="4800" u="none" cap="none" strike="noStrike">
                <a:solidFill>
                  <a:srgbClr val="F08030"/>
                </a:solidFill>
                <a:latin typeface="Calibri"/>
                <a:ea typeface="Calibri"/>
                <a:cs typeface="Calibri"/>
                <a:sym typeface="Calibri"/>
              </a:rPr>
              <a:t>→</a:t>
            </a:r>
            <a:endParaRPr b="0" i="0" sz="4800" u="none" cap="none" strike="noStrike">
              <a:solidFill>
                <a:schemeClr val="dk1"/>
              </a:solidFill>
              <a:latin typeface="Calibri"/>
              <a:ea typeface="Calibri"/>
              <a:cs typeface="Calibri"/>
              <a:sym typeface="Calibri"/>
            </a:endParaRPr>
          </a:p>
        </p:txBody>
      </p:sp>
      <p:sp>
        <p:nvSpPr>
          <p:cNvPr id="108" name="Google Shape;108;p4"/>
          <p:cNvSpPr/>
          <p:nvPr/>
        </p:nvSpPr>
        <p:spPr>
          <a:xfrm>
            <a:off x="6675120" y="2331720"/>
            <a:ext cx="4846320" cy="2926080"/>
          </a:xfrm>
          <a:prstGeom prst="roundRect">
            <a:avLst>
              <a:gd fmla="val 3125" name="adj"/>
            </a:avLst>
          </a:prstGeom>
          <a:solidFill>
            <a:srgbClr val="80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6949440" y="2560320"/>
            <a:ext cx="4297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E4DF"/>
              </a:buClr>
              <a:buSzPts val="1300"/>
              <a:buFont typeface="Calibri"/>
              <a:buNone/>
            </a:pPr>
            <a:r>
              <a:rPr b="1" i="0" lang="en-US" sz="1300" u="none" cap="none" strike="noStrike">
                <a:solidFill>
                  <a:srgbClr val="FBE4DF"/>
                </a:solidFill>
                <a:latin typeface="Calibri"/>
                <a:ea typeface="Calibri"/>
                <a:cs typeface="Calibri"/>
                <a:sym typeface="Calibri"/>
              </a:rPr>
              <a:t>THE NEW MINDSET</a:t>
            </a:r>
            <a:endParaRPr b="0" i="0" sz="1300" u="none" cap="none" strike="noStrike">
              <a:solidFill>
                <a:schemeClr val="dk1"/>
              </a:solidFill>
              <a:latin typeface="Calibri"/>
              <a:ea typeface="Calibri"/>
              <a:cs typeface="Calibri"/>
              <a:sym typeface="Calibri"/>
            </a:endParaRPr>
          </a:p>
        </p:txBody>
      </p:sp>
      <p:sp>
        <p:nvSpPr>
          <p:cNvPr id="110" name="Google Shape;110;p4"/>
          <p:cNvSpPr/>
          <p:nvPr/>
        </p:nvSpPr>
        <p:spPr>
          <a:xfrm>
            <a:off x="6949440" y="2926080"/>
            <a:ext cx="4297680" cy="2240280"/>
          </a:xfrm>
          <a:prstGeom prst="rect">
            <a:avLst/>
          </a:prstGeom>
          <a:noFill/>
          <a:ln>
            <a:noFill/>
          </a:ln>
        </p:spPr>
        <p:txBody>
          <a:bodyPr anchorCtr="0" anchor="ctr" bIns="0" lIns="0" spcFirstLastPara="1" rIns="0" wrap="square" tIns="0">
            <a:noAutofit/>
          </a:bodyPr>
          <a:lstStyle/>
          <a:p>
            <a:pPr indent="-349250" lvl="0" marL="342900" marR="0" rtl="0" algn="l">
              <a:lnSpc>
                <a:spcPct val="125000"/>
              </a:lnSpc>
              <a:spcBef>
                <a:spcPts val="0"/>
              </a:spcBef>
              <a:spcAft>
                <a:spcPts val="0"/>
              </a:spcAft>
              <a:buClr>
                <a:srgbClr val="FFFFFF"/>
              </a:buClr>
              <a:buSzPts val="1500"/>
              <a:buFont typeface="Calibri"/>
              <a:buChar char="•"/>
            </a:pPr>
            <a:r>
              <a:rPr b="0" i="0" lang="en-US" sz="1500" u="none" cap="none" strike="noStrike">
                <a:solidFill>
                  <a:srgbClr val="FFFFFF"/>
                </a:solidFill>
                <a:latin typeface="Calibri"/>
                <a:ea typeface="Calibri"/>
                <a:cs typeface="Calibri"/>
                <a:sym typeface="Calibri"/>
              </a:rPr>
              <a:t>Only collect what we can justify.</a:t>
            </a:r>
            <a:endParaRPr b="0" i="0" sz="1500" u="none" cap="none" strike="noStrike">
              <a:solidFill>
                <a:schemeClr val="dk1"/>
              </a:solidFill>
              <a:latin typeface="Calibri"/>
              <a:ea typeface="Calibri"/>
              <a:cs typeface="Calibri"/>
              <a:sym typeface="Calibri"/>
            </a:endParaRPr>
          </a:p>
          <a:p>
            <a:pPr indent="-349250" lvl="0" marL="342900" marR="0" rtl="0" algn="l">
              <a:lnSpc>
                <a:spcPct val="125000"/>
              </a:lnSpc>
              <a:spcBef>
                <a:spcPts val="0"/>
              </a:spcBef>
              <a:spcAft>
                <a:spcPts val="0"/>
              </a:spcAft>
              <a:buClr>
                <a:srgbClr val="FFFFFF"/>
              </a:buClr>
              <a:buSzPts val="1500"/>
              <a:buFont typeface="Calibri"/>
              <a:buChar char="•"/>
            </a:pPr>
            <a:r>
              <a:rPr b="0" i="0" lang="en-US" sz="1500" u="none" cap="none" strike="noStrike">
                <a:solidFill>
                  <a:srgbClr val="FFFFFF"/>
                </a:solidFill>
                <a:latin typeface="Calibri"/>
                <a:ea typeface="Calibri"/>
                <a:cs typeface="Calibri"/>
                <a:sym typeface="Calibri"/>
              </a:rPr>
              <a:t>Ask why before collecting anything.</a:t>
            </a:r>
            <a:endParaRPr b="0" i="0" sz="1500" u="none" cap="none" strike="noStrike">
              <a:solidFill>
                <a:schemeClr val="dk1"/>
              </a:solidFill>
              <a:latin typeface="Calibri"/>
              <a:ea typeface="Calibri"/>
              <a:cs typeface="Calibri"/>
              <a:sym typeface="Calibri"/>
            </a:endParaRPr>
          </a:p>
          <a:p>
            <a:pPr indent="-349250" lvl="0" marL="342900" marR="0" rtl="0" algn="l">
              <a:lnSpc>
                <a:spcPct val="125000"/>
              </a:lnSpc>
              <a:spcBef>
                <a:spcPts val="0"/>
              </a:spcBef>
              <a:spcAft>
                <a:spcPts val="0"/>
              </a:spcAft>
              <a:buClr>
                <a:srgbClr val="FFFFFF"/>
              </a:buClr>
              <a:buSzPts val="1500"/>
              <a:buFont typeface="Calibri"/>
              <a:buChar char="•"/>
            </a:pPr>
            <a:r>
              <a:rPr b="0" i="0" lang="en-US" sz="1500" u="none" cap="none" strike="noStrike">
                <a:solidFill>
                  <a:srgbClr val="FFFFFF"/>
                </a:solidFill>
                <a:latin typeface="Calibri"/>
                <a:ea typeface="Calibri"/>
                <a:cs typeface="Calibri"/>
                <a:sym typeface="Calibri"/>
              </a:rPr>
              <a:t>Delete by default; keep only with a reason.</a:t>
            </a:r>
            <a:endParaRPr b="0" i="0" sz="1500" u="none" cap="none" strike="noStrike">
              <a:solidFill>
                <a:schemeClr val="dk1"/>
              </a:solidFill>
              <a:latin typeface="Calibri"/>
              <a:ea typeface="Calibri"/>
              <a:cs typeface="Calibri"/>
              <a:sym typeface="Calibri"/>
            </a:endParaRPr>
          </a:p>
          <a:p>
            <a:pPr indent="-349250" lvl="0" marL="342900" marR="0" rtl="0" algn="l">
              <a:lnSpc>
                <a:spcPct val="125000"/>
              </a:lnSpc>
              <a:spcBef>
                <a:spcPts val="0"/>
              </a:spcBef>
              <a:spcAft>
                <a:spcPts val="0"/>
              </a:spcAft>
              <a:buClr>
                <a:srgbClr val="FFFFFF"/>
              </a:buClr>
              <a:buSzPts val="1500"/>
              <a:buFont typeface="Calibri"/>
              <a:buChar char="•"/>
            </a:pPr>
            <a:r>
              <a:rPr b="0" i="0" lang="en-US" sz="1500" u="none" cap="none" strike="noStrike">
                <a:solidFill>
                  <a:srgbClr val="FFFFFF"/>
                </a:solidFill>
                <a:latin typeface="Calibri"/>
                <a:ea typeface="Calibri"/>
                <a:cs typeface="Calibri"/>
                <a:sym typeface="Calibri"/>
              </a:rPr>
              <a:t>Limit access by role, and log who used data, when, and why.</a:t>
            </a:r>
            <a:endParaRPr b="0" i="0" sz="1500" u="none" cap="none" strike="noStrike">
              <a:solidFill>
                <a:schemeClr val="dk1"/>
              </a:solidFill>
              <a:latin typeface="Calibri"/>
              <a:ea typeface="Calibri"/>
              <a:cs typeface="Calibri"/>
              <a:sym typeface="Calibri"/>
            </a:endParaRPr>
          </a:p>
          <a:p>
            <a:pPr indent="-349250" lvl="0" marL="342900" marR="0" rtl="0" algn="l">
              <a:lnSpc>
                <a:spcPct val="125000"/>
              </a:lnSpc>
              <a:spcBef>
                <a:spcPts val="0"/>
              </a:spcBef>
              <a:spcAft>
                <a:spcPts val="0"/>
              </a:spcAft>
              <a:buClr>
                <a:srgbClr val="FFFFFF"/>
              </a:buClr>
              <a:buSzPts val="1500"/>
              <a:buFont typeface="Calibri"/>
              <a:buChar char="•"/>
            </a:pPr>
            <a:r>
              <a:rPr b="0" i="0" lang="en-US" sz="1500" u="none" cap="none" strike="noStrike">
                <a:solidFill>
                  <a:srgbClr val="FFFFFF"/>
                </a:solidFill>
                <a:latin typeface="Calibri"/>
                <a:ea typeface="Calibri"/>
                <a:cs typeface="Calibri"/>
                <a:sym typeface="Calibri"/>
              </a:rPr>
              <a:t>Data is a responsibility, not an asset.</a:t>
            </a:r>
            <a:endParaRPr b="0" i="0" sz="1500" u="none" cap="none" strike="noStrike">
              <a:solidFill>
                <a:schemeClr val="dk1"/>
              </a:solidFill>
              <a:latin typeface="Calibri"/>
              <a:ea typeface="Calibri"/>
              <a:cs typeface="Calibri"/>
              <a:sym typeface="Calibri"/>
            </a:endParaRPr>
          </a:p>
        </p:txBody>
      </p:sp>
      <p:sp>
        <p:nvSpPr>
          <p:cNvPr id="111" name="Google Shape;111;p4"/>
          <p:cNvSpPr/>
          <p:nvPr/>
        </p:nvSpPr>
        <p:spPr>
          <a:xfrm>
            <a:off x="640080" y="5532120"/>
            <a:ext cx="10881360" cy="640080"/>
          </a:xfrm>
          <a:prstGeom prst="roundRect">
            <a:avLst>
              <a:gd fmla="val 11429" name="adj"/>
            </a:avLst>
          </a:prstGeom>
          <a:solidFill>
            <a:srgbClr val="FBE4DF"/>
          </a:solidFill>
          <a:ln cap="flat" cmpd="sng" w="12700">
            <a:solidFill>
              <a:srgbClr val="F08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914400" y="5532120"/>
            <a:ext cx="10332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350"/>
              <a:buFont typeface="Calibri"/>
              <a:buNone/>
            </a:pPr>
            <a:r>
              <a:rPr b="1" i="0" lang="en-US" sz="1750" u="none" cap="none" strike="noStrike">
                <a:solidFill>
                  <a:srgbClr val="801020"/>
                </a:solidFill>
                <a:latin typeface="Calibri"/>
                <a:ea typeface="Calibri"/>
                <a:cs typeface="Calibri"/>
                <a:sym typeface="Calibri"/>
              </a:rPr>
              <a:t>Everyone needs to be on board: </a:t>
            </a:r>
            <a:r>
              <a:rPr b="0" i="0" lang="en-US" sz="1750" u="none" cap="none" strike="noStrike">
                <a:solidFill>
                  <a:srgbClr val="4A4042"/>
                </a:solidFill>
                <a:latin typeface="Calibri"/>
                <a:ea typeface="Calibri"/>
                <a:cs typeface="Calibri"/>
                <a:sym typeface="Calibri"/>
              </a:rPr>
              <a:t>leadership, programme staff, field teams, and partners. It's a culture change first, a technical one second.</a:t>
            </a:r>
            <a:endParaRPr b="0" i="0" sz="1750" u="none" cap="none" strike="noStrike">
              <a:solidFill>
                <a:schemeClr val="dk1"/>
              </a:solidFill>
              <a:latin typeface="Calibri"/>
              <a:ea typeface="Calibri"/>
              <a:cs typeface="Calibri"/>
              <a:sym typeface="Calibri"/>
            </a:endParaRPr>
          </a:p>
        </p:txBody>
      </p:sp>
      <p:sp>
        <p:nvSpPr>
          <p:cNvPr id="113" name="Google Shape;113;p4"/>
          <p:cNvSpPr/>
          <p:nvPr/>
        </p:nvSpPr>
        <p:spPr>
          <a:xfrm>
            <a:off x="11430000" y="640080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114" name="Google Shape;114;p4"/>
          <p:cNvSpPr/>
          <p:nvPr/>
        </p:nvSpPr>
        <p:spPr>
          <a:xfrm>
            <a:off x="64008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Dhwani RIS  ·  DPDP Adoption Approach</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5"/>
          <p:cNvSpPr/>
          <p:nvPr/>
        </p:nvSpPr>
        <p:spPr>
          <a:xfrm>
            <a:off x="64008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200"/>
              <a:buFont typeface="Calibri"/>
              <a:buNone/>
            </a:pPr>
            <a:r>
              <a:rPr b="1" i="0" lang="en-US" sz="1200" u="none" cap="none" strike="noStrike">
                <a:solidFill>
                  <a:srgbClr val="F08030"/>
                </a:solidFill>
                <a:latin typeface="Calibri"/>
                <a:ea typeface="Calibri"/>
                <a:cs typeface="Calibri"/>
                <a:sym typeface="Calibri"/>
              </a:rPr>
              <a:t>THE MECHANISM</a:t>
            </a:r>
            <a:endParaRPr b="0" i="0" sz="1200" u="none" cap="none" strike="noStrike">
              <a:solidFill>
                <a:schemeClr val="dk1"/>
              </a:solidFill>
              <a:latin typeface="Calibri"/>
              <a:ea typeface="Calibri"/>
              <a:cs typeface="Calibri"/>
              <a:sym typeface="Calibri"/>
            </a:endParaRPr>
          </a:p>
        </p:txBody>
      </p:sp>
      <p:sp>
        <p:nvSpPr>
          <p:cNvPr id="121" name="Google Shape;121;p5"/>
          <p:cNvSpPr/>
          <p:nvPr/>
        </p:nvSpPr>
        <p:spPr>
          <a:xfrm>
            <a:off x="640080" y="68580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01020"/>
              </a:buClr>
              <a:buSzPts val="3000"/>
              <a:buFont typeface="Georgia"/>
              <a:buNone/>
            </a:pPr>
            <a:r>
              <a:rPr b="1" i="0" lang="en-US" sz="3000" u="none" cap="none" strike="noStrike">
                <a:solidFill>
                  <a:srgbClr val="801020"/>
                </a:solidFill>
                <a:latin typeface="Georgia"/>
                <a:ea typeface="Georgia"/>
                <a:cs typeface="Georgia"/>
                <a:sym typeface="Georgia"/>
              </a:rPr>
              <a:t>Set up an independent Data Protection team</a:t>
            </a:r>
            <a:endParaRPr b="0" i="0" sz="3000" u="none" cap="none" strike="noStrike">
              <a:solidFill>
                <a:schemeClr val="dk1"/>
              </a:solidFill>
              <a:latin typeface="Calibri"/>
              <a:ea typeface="Calibri"/>
              <a:cs typeface="Calibri"/>
              <a:sym typeface="Calibri"/>
            </a:endParaRPr>
          </a:p>
        </p:txBody>
      </p:sp>
      <p:sp>
        <p:nvSpPr>
          <p:cNvPr id="122" name="Google Shape;122;p5"/>
          <p:cNvSpPr/>
          <p:nvPr/>
        </p:nvSpPr>
        <p:spPr>
          <a:xfrm>
            <a:off x="640080" y="1356897"/>
            <a:ext cx="10881300" cy="5943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A4042"/>
              </a:buClr>
              <a:buSzPts val="1400"/>
              <a:buFont typeface="Calibri"/>
              <a:buNone/>
            </a:pPr>
            <a:r>
              <a:rPr b="0" i="0" lang="en-US" sz="1700" u="none" cap="none" strike="noStrike">
                <a:solidFill>
                  <a:srgbClr val="4A4042"/>
                </a:solidFill>
                <a:latin typeface="Calibri"/>
                <a:ea typeface="Calibri"/>
                <a:cs typeface="Calibri"/>
                <a:sym typeface="Calibri"/>
              </a:rPr>
              <a:t>Dhwani recommends a small, independent Data Protection team, usually two to five people depending on the size of the organisation. They review every data collection and have the authority to push back on the programme teams, and to overrule them.</a:t>
            </a:r>
            <a:endParaRPr b="0" i="0" sz="1700" u="none" cap="none" strike="noStrike">
              <a:solidFill>
                <a:schemeClr val="dk1"/>
              </a:solidFill>
              <a:latin typeface="Calibri"/>
              <a:ea typeface="Calibri"/>
              <a:cs typeface="Calibri"/>
              <a:sym typeface="Calibri"/>
            </a:endParaRPr>
          </a:p>
        </p:txBody>
      </p:sp>
      <p:sp>
        <p:nvSpPr>
          <p:cNvPr id="123" name="Google Shape;123;p5"/>
          <p:cNvSpPr/>
          <p:nvPr/>
        </p:nvSpPr>
        <p:spPr>
          <a:xfrm>
            <a:off x="640080" y="2121408"/>
            <a:ext cx="10881360" cy="1042416"/>
          </a:xfrm>
          <a:prstGeom prst="roundRect">
            <a:avLst>
              <a:gd fmla="val 6140"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914400" y="2386584"/>
            <a:ext cx="530352" cy="530352"/>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5" name="Google Shape;125;p5"/>
          <p:cNvPicPr preferRelativeResize="0"/>
          <p:nvPr/>
        </p:nvPicPr>
        <p:blipFill rotWithShape="1">
          <a:blip r:embed="rId3">
            <a:alphaModFix/>
          </a:blip>
          <a:srcRect b="0" l="0" r="0" t="0"/>
          <a:stretch/>
        </p:blipFill>
        <p:spPr>
          <a:xfrm>
            <a:off x="1024128" y="2496312"/>
            <a:ext cx="310896" cy="310896"/>
          </a:xfrm>
          <a:prstGeom prst="rect">
            <a:avLst/>
          </a:prstGeom>
          <a:noFill/>
          <a:ln>
            <a:noFill/>
          </a:ln>
        </p:spPr>
      </p:pic>
      <p:sp>
        <p:nvSpPr>
          <p:cNvPr id="126" name="Google Shape;126;p5"/>
          <p:cNvSpPr/>
          <p:nvPr/>
        </p:nvSpPr>
        <p:spPr>
          <a:xfrm>
            <a:off x="1664208" y="2258568"/>
            <a:ext cx="96012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650"/>
              <a:buFont typeface="Calibri"/>
              <a:buNone/>
            </a:pPr>
            <a:r>
              <a:rPr b="1" i="0" lang="en-US" sz="1650" u="none" cap="none" strike="noStrike">
                <a:solidFill>
                  <a:srgbClr val="2A1A1D"/>
                </a:solidFill>
                <a:latin typeface="Calibri"/>
                <a:ea typeface="Calibri"/>
                <a:cs typeface="Calibri"/>
                <a:sym typeface="Calibri"/>
              </a:rPr>
              <a:t>Collect as little as possible</a:t>
            </a:r>
            <a:endParaRPr b="0" i="0" sz="1650" u="none" cap="none" strike="noStrike">
              <a:solidFill>
                <a:schemeClr val="dk1"/>
              </a:solidFill>
              <a:latin typeface="Calibri"/>
              <a:ea typeface="Calibri"/>
              <a:cs typeface="Calibri"/>
              <a:sym typeface="Calibri"/>
            </a:endParaRPr>
          </a:p>
        </p:txBody>
      </p:sp>
      <p:sp>
        <p:nvSpPr>
          <p:cNvPr id="127" name="Google Shape;127;p5"/>
          <p:cNvSpPr/>
          <p:nvPr/>
        </p:nvSpPr>
        <p:spPr>
          <a:xfrm>
            <a:off x="1664208" y="2596896"/>
            <a:ext cx="9601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250"/>
              <a:buFont typeface="Calibri"/>
              <a:buNone/>
            </a:pPr>
            <a:r>
              <a:rPr b="0" i="0" lang="en-US" sz="1450" u="none" cap="none" strike="noStrike">
                <a:solidFill>
                  <a:srgbClr val="4A4042"/>
                </a:solidFill>
                <a:latin typeface="Calibri"/>
                <a:ea typeface="Calibri"/>
                <a:cs typeface="Calibri"/>
                <a:sym typeface="Calibri"/>
              </a:rPr>
              <a:t>Every field has to be justified before it's collected. The team's standard questions: why do you need this, and what happens if you don't have it? If there's no good answer, it doesn't get collected.</a:t>
            </a:r>
            <a:endParaRPr b="0" i="0" sz="1450" u="none" cap="none" strike="noStrike">
              <a:solidFill>
                <a:schemeClr val="dk1"/>
              </a:solidFill>
              <a:latin typeface="Calibri"/>
              <a:ea typeface="Calibri"/>
              <a:cs typeface="Calibri"/>
              <a:sym typeface="Calibri"/>
            </a:endParaRPr>
          </a:p>
        </p:txBody>
      </p:sp>
      <p:sp>
        <p:nvSpPr>
          <p:cNvPr id="128" name="Google Shape;128;p5"/>
          <p:cNvSpPr/>
          <p:nvPr/>
        </p:nvSpPr>
        <p:spPr>
          <a:xfrm>
            <a:off x="640080" y="3282696"/>
            <a:ext cx="10881360" cy="1042416"/>
          </a:xfrm>
          <a:prstGeom prst="roundRect">
            <a:avLst>
              <a:gd fmla="val 6140"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914400" y="3547872"/>
            <a:ext cx="530352" cy="530352"/>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0" name="Google Shape;130;p5"/>
          <p:cNvPicPr preferRelativeResize="0"/>
          <p:nvPr/>
        </p:nvPicPr>
        <p:blipFill rotWithShape="1">
          <a:blip r:embed="rId4">
            <a:alphaModFix/>
          </a:blip>
          <a:srcRect b="0" l="0" r="0" t="0"/>
          <a:stretch/>
        </p:blipFill>
        <p:spPr>
          <a:xfrm>
            <a:off x="1024128" y="3657600"/>
            <a:ext cx="310896" cy="310896"/>
          </a:xfrm>
          <a:prstGeom prst="rect">
            <a:avLst/>
          </a:prstGeom>
          <a:noFill/>
          <a:ln>
            <a:noFill/>
          </a:ln>
        </p:spPr>
      </p:pic>
      <p:sp>
        <p:nvSpPr>
          <p:cNvPr id="131" name="Google Shape;131;p5"/>
          <p:cNvSpPr/>
          <p:nvPr/>
        </p:nvSpPr>
        <p:spPr>
          <a:xfrm>
            <a:off x="1664208" y="3419856"/>
            <a:ext cx="96012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650"/>
              <a:buFont typeface="Calibri"/>
              <a:buNone/>
            </a:pPr>
            <a:r>
              <a:rPr b="1" i="0" lang="en-US" sz="1650" u="none" cap="none" strike="noStrike">
                <a:solidFill>
                  <a:srgbClr val="2A1A1D"/>
                </a:solidFill>
                <a:latin typeface="Calibri"/>
                <a:ea typeface="Calibri"/>
                <a:cs typeface="Calibri"/>
                <a:sym typeface="Calibri"/>
              </a:rPr>
              <a:t>Push to delete old data</a:t>
            </a:r>
            <a:endParaRPr b="0" i="0" sz="1650" u="none" cap="none" strike="noStrike">
              <a:solidFill>
                <a:schemeClr val="dk1"/>
              </a:solidFill>
              <a:latin typeface="Calibri"/>
              <a:ea typeface="Calibri"/>
              <a:cs typeface="Calibri"/>
              <a:sym typeface="Calibri"/>
            </a:endParaRPr>
          </a:p>
        </p:txBody>
      </p:sp>
      <p:sp>
        <p:nvSpPr>
          <p:cNvPr id="132" name="Google Shape;132;p5"/>
          <p:cNvSpPr/>
          <p:nvPr/>
        </p:nvSpPr>
        <p:spPr>
          <a:xfrm>
            <a:off x="1664208" y="3758184"/>
            <a:ext cx="9601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250"/>
              <a:buFont typeface="Calibri"/>
              <a:buNone/>
            </a:pPr>
            <a:r>
              <a:rPr b="0" i="0" lang="en-US" sz="1450" u="none" cap="none" strike="noStrike">
                <a:solidFill>
                  <a:srgbClr val="4A4042"/>
                </a:solidFill>
                <a:latin typeface="Calibri"/>
                <a:ea typeface="Calibri"/>
                <a:cs typeface="Calibri"/>
                <a:sym typeface="Calibri"/>
              </a:rPr>
              <a:t>The team works through data collected over the years, starting from the position that it should go. To keep anything, the programme team has to give specific reasons why it can't be deleted.</a:t>
            </a:r>
            <a:endParaRPr b="0" i="0" sz="1450" u="none" cap="none" strike="noStrike">
              <a:solidFill>
                <a:schemeClr val="dk1"/>
              </a:solidFill>
              <a:latin typeface="Calibri"/>
              <a:ea typeface="Calibri"/>
              <a:cs typeface="Calibri"/>
              <a:sym typeface="Calibri"/>
            </a:endParaRPr>
          </a:p>
        </p:txBody>
      </p:sp>
      <p:sp>
        <p:nvSpPr>
          <p:cNvPr id="133" name="Google Shape;133;p5"/>
          <p:cNvSpPr/>
          <p:nvPr/>
        </p:nvSpPr>
        <p:spPr>
          <a:xfrm>
            <a:off x="640080" y="4443984"/>
            <a:ext cx="10881360" cy="1042416"/>
          </a:xfrm>
          <a:prstGeom prst="roundRect">
            <a:avLst>
              <a:gd fmla="val 6140"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914400" y="4709160"/>
            <a:ext cx="530352" cy="530352"/>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5" name="Google Shape;135;p5"/>
          <p:cNvPicPr preferRelativeResize="0"/>
          <p:nvPr/>
        </p:nvPicPr>
        <p:blipFill rotWithShape="1">
          <a:blip r:embed="rId5">
            <a:alphaModFix/>
          </a:blip>
          <a:srcRect b="0" l="0" r="0" t="0"/>
          <a:stretch/>
        </p:blipFill>
        <p:spPr>
          <a:xfrm>
            <a:off x="1024128" y="4818888"/>
            <a:ext cx="310896" cy="310896"/>
          </a:xfrm>
          <a:prstGeom prst="rect">
            <a:avLst/>
          </a:prstGeom>
          <a:noFill/>
          <a:ln>
            <a:noFill/>
          </a:ln>
        </p:spPr>
      </p:pic>
      <p:sp>
        <p:nvSpPr>
          <p:cNvPr id="136" name="Google Shape;136;p5"/>
          <p:cNvSpPr/>
          <p:nvPr/>
        </p:nvSpPr>
        <p:spPr>
          <a:xfrm>
            <a:off x="1664208" y="4581144"/>
            <a:ext cx="96012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650"/>
              <a:buFont typeface="Calibri"/>
              <a:buNone/>
            </a:pPr>
            <a:r>
              <a:rPr b="1" i="0" lang="en-US" sz="1650" u="none" cap="none" strike="noStrike">
                <a:solidFill>
                  <a:srgbClr val="2A1A1D"/>
                </a:solidFill>
                <a:latin typeface="Calibri"/>
                <a:ea typeface="Calibri"/>
                <a:cs typeface="Calibri"/>
                <a:sym typeface="Calibri"/>
              </a:rPr>
              <a:t>Nothing gets collected without sign-off</a:t>
            </a:r>
            <a:endParaRPr b="0" i="0" sz="1650" u="none" cap="none" strike="noStrike">
              <a:solidFill>
                <a:schemeClr val="dk1"/>
              </a:solidFill>
              <a:latin typeface="Calibri"/>
              <a:ea typeface="Calibri"/>
              <a:cs typeface="Calibri"/>
              <a:sym typeface="Calibri"/>
            </a:endParaRPr>
          </a:p>
        </p:txBody>
      </p:sp>
      <p:sp>
        <p:nvSpPr>
          <p:cNvPr id="137" name="Google Shape;137;p5"/>
          <p:cNvSpPr/>
          <p:nvPr/>
        </p:nvSpPr>
        <p:spPr>
          <a:xfrm>
            <a:off x="1664208" y="4919472"/>
            <a:ext cx="9601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250"/>
              <a:buFont typeface="Calibri"/>
              <a:buNone/>
            </a:pPr>
            <a:r>
              <a:rPr b="0" i="0" lang="en-US" sz="1450" u="none" cap="none" strike="noStrike">
                <a:solidFill>
                  <a:srgbClr val="4A4042"/>
                </a:solidFill>
                <a:latin typeface="Calibri"/>
                <a:ea typeface="Calibri"/>
                <a:cs typeface="Calibri"/>
                <a:sym typeface="Calibri"/>
              </a:rPr>
              <a:t>Every form, tool, and system goes past the team before any data is gathered. No sign-off means no collection.</a:t>
            </a:r>
            <a:endParaRPr b="0" i="0" sz="1450" u="none" cap="none" strike="noStrike">
              <a:solidFill>
                <a:schemeClr val="dk1"/>
              </a:solidFill>
              <a:latin typeface="Calibri"/>
              <a:ea typeface="Calibri"/>
              <a:cs typeface="Calibri"/>
              <a:sym typeface="Calibri"/>
            </a:endParaRPr>
          </a:p>
        </p:txBody>
      </p:sp>
      <p:sp>
        <p:nvSpPr>
          <p:cNvPr id="138" name="Google Shape;138;p5"/>
          <p:cNvSpPr/>
          <p:nvPr/>
        </p:nvSpPr>
        <p:spPr>
          <a:xfrm>
            <a:off x="640080" y="5742432"/>
            <a:ext cx="10881360" cy="566928"/>
          </a:xfrm>
          <a:prstGeom prst="roundRect">
            <a:avLst>
              <a:gd fmla="val 12903" name="adj"/>
            </a:avLst>
          </a:prstGeom>
          <a:solidFill>
            <a:srgbClr val="80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9" name="Google Shape;139;p5"/>
          <p:cNvPicPr preferRelativeResize="0"/>
          <p:nvPr/>
        </p:nvPicPr>
        <p:blipFill rotWithShape="1">
          <a:blip r:embed="rId6">
            <a:alphaModFix/>
          </a:blip>
          <a:srcRect b="0" l="0" r="0" t="0"/>
          <a:stretch/>
        </p:blipFill>
        <p:spPr>
          <a:xfrm>
            <a:off x="932688" y="5861304"/>
            <a:ext cx="329184" cy="329184"/>
          </a:xfrm>
          <a:prstGeom prst="rect">
            <a:avLst/>
          </a:prstGeom>
          <a:noFill/>
          <a:ln>
            <a:noFill/>
          </a:ln>
        </p:spPr>
      </p:pic>
      <p:sp>
        <p:nvSpPr>
          <p:cNvPr id="140" name="Google Shape;140;p5"/>
          <p:cNvSpPr/>
          <p:nvPr/>
        </p:nvSpPr>
        <p:spPr>
          <a:xfrm>
            <a:off x="1463040" y="5742432"/>
            <a:ext cx="97840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Independent and deliberately bureaucratic.  </a:t>
            </a:r>
            <a:r>
              <a:rPr b="0" i="0" lang="en-US" sz="1350" u="none" cap="none" strike="noStrike">
                <a:solidFill>
                  <a:srgbClr val="FBE4DF"/>
                </a:solidFill>
                <a:latin typeface="Calibri"/>
                <a:ea typeface="Calibri"/>
                <a:cs typeface="Calibri"/>
                <a:sym typeface="Calibri"/>
              </a:rPr>
              <a:t>That scrutiny is the whole point, and it's what keeps beneficiary data safe.</a:t>
            </a:r>
            <a:endParaRPr b="0" i="0" sz="1350" u="none" cap="none" strike="noStrike">
              <a:solidFill>
                <a:schemeClr val="dk1"/>
              </a:solidFill>
              <a:latin typeface="Calibri"/>
              <a:ea typeface="Calibri"/>
              <a:cs typeface="Calibri"/>
              <a:sym typeface="Calibri"/>
            </a:endParaRPr>
          </a:p>
        </p:txBody>
      </p:sp>
      <p:sp>
        <p:nvSpPr>
          <p:cNvPr id="141" name="Google Shape;141;p5"/>
          <p:cNvSpPr/>
          <p:nvPr/>
        </p:nvSpPr>
        <p:spPr>
          <a:xfrm>
            <a:off x="11430000" y="640080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
        <p:nvSpPr>
          <p:cNvPr id="142" name="Google Shape;142;p5"/>
          <p:cNvSpPr/>
          <p:nvPr/>
        </p:nvSpPr>
        <p:spPr>
          <a:xfrm>
            <a:off x="64008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Dhwani RIS  ·  DPDP Adoption Approach</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6"/>
          <p:cNvSpPr/>
          <p:nvPr/>
        </p:nvSpPr>
        <p:spPr>
          <a:xfrm>
            <a:off x="64008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200"/>
              <a:buFont typeface="Calibri"/>
              <a:buNone/>
            </a:pPr>
            <a:r>
              <a:rPr b="1" i="0" lang="en-US" sz="1200" u="none" cap="none" strike="noStrike">
                <a:solidFill>
                  <a:srgbClr val="F08030"/>
                </a:solidFill>
                <a:latin typeface="Calibri"/>
                <a:ea typeface="Calibri"/>
                <a:cs typeface="Calibri"/>
                <a:sym typeface="Calibri"/>
              </a:rPr>
              <a:t>PILLAR 2</a:t>
            </a:r>
            <a:endParaRPr b="0" i="0" sz="1200" u="none" cap="none" strike="noStrike">
              <a:solidFill>
                <a:schemeClr val="dk1"/>
              </a:solidFill>
              <a:latin typeface="Calibri"/>
              <a:ea typeface="Calibri"/>
              <a:cs typeface="Calibri"/>
              <a:sym typeface="Calibri"/>
            </a:endParaRPr>
          </a:p>
        </p:txBody>
      </p:sp>
      <p:sp>
        <p:nvSpPr>
          <p:cNvPr id="149" name="Google Shape;149;p6"/>
          <p:cNvSpPr/>
          <p:nvPr/>
        </p:nvSpPr>
        <p:spPr>
          <a:xfrm>
            <a:off x="640080" y="68580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01020"/>
              </a:buClr>
              <a:buSzPts val="3000"/>
              <a:buFont typeface="Georgia"/>
              <a:buNone/>
            </a:pPr>
            <a:r>
              <a:rPr b="1" i="0" lang="en-US" sz="3000" u="none" cap="none" strike="noStrike">
                <a:solidFill>
                  <a:srgbClr val="801020"/>
                </a:solidFill>
                <a:latin typeface="Georgia"/>
                <a:ea typeface="Georgia"/>
                <a:cs typeface="Georgia"/>
                <a:sym typeface="Georgia"/>
              </a:rPr>
              <a:t>Split your data into two buckets</a:t>
            </a:r>
            <a:endParaRPr b="0" i="0" sz="3000" u="none" cap="none" strike="noStrike">
              <a:solidFill>
                <a:schemeClr val="dk1"/>
              </a:solidFill>
              <a:latin typeface="Calibri"/>
              <a:ea typeface="Calibri"/>
              <a:cs typeface="Calibri"/>
              <a:sym typeface="Calibri"/>
            </a:endParaRPr>
          </a:p>
        </p:txBody>
      </p:sp>
      <p:sp>
        <p:nvSpPr>
          <p:cNvPr id="150" name="Google Shape;150;p6"/>
          <p:cNvSpPr/>
          <p:nvPr/>
        </p:nvSpPr>
        <p:spPr>
          <a:xfrm>
            <a:off x="640080" y="1417320"/>
            <a:ext cx="1088136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A4042"/>
              </a:buClr>
              <a:buSzPts val="1400"/>
              <a:buFont typeface="Calibri"/>
              <a:buNone/>
            </a:pPr>
            <a:r>
              <a:rPr b="0" i="0" lang="en-US" sz="1600" u="none" cap="none" strike="noStrike">
                <a:solidFill>
                  <a:srgbClr val="4A4042"/>
                </a:solidFill>
                <a:latin typeface="Calibri"/>
                <a:ea typeface="Calibri"/>
                <a:cs typeface="Calibri"/>
                <a:sym typeface="Calibri"/>
              </a:rPr>
              <a:t>An organisation's data falls into two groups, and each needs a different approach. The older data is where most of the work is.</a:t>
            </a:r>
            <a:endParaRPr b="0" i="0" sz="1600" u="none" cap="none" strike="noStrike">
              <a:solidFill>
                <a:schemeClr val="dk1"/>
              </a:solidFill>
              <a:latin typeface="Calibri"/>
              <a:ea typeface="Calibri"/>
              <a:cs typeface="Calibri"/>
              <a:sym typeface="Calibri"/>
            </a:endParaRPr>
          </a:p>
        </p:txBody>
      </p:sp>
      <p:sp>
        <p:nvSpPr>
          <p:cNvPr id="151" name="Google Shape;151;p6"/>
          <p:cNvSpPr/>
          <p:nvPr/>
        </p:nvSpPr>
        <p:spPr>
          <a:xfrm>
            <a:off x="277537" y="2148851"/>
            <a:ext cx="5700900" cy="3440400"/>
          </a:xfrm>
          <a:prstGeom prst="roundRect">
            <a:avLst>
              <a:gd fmla="val 2857" name="adj"/>
            </a:avLst>
          </a:prstGeom>
          <a:solidFill>
            <a:srgbClr val="FBF4F3"/>
          </a:solidFill>
          <a:ln cap="flat" cmpd="sng" w="13650">
            <a:solidFill>
              <a:srgbClr val="EADCDA"/>
            </a:solidFill>
            <a:prstDash val="solid"/>
            <a:round/>
            <a:headEnd len="sm" w="sm" type="none"/>
            <a:tailEnd len="sm" w="sm" type="none"/>
          </a:ln>
          <a:effectLst>
            <a:outerShdw blurRad="68260" rotWithShape="0" algn="bl" dir="8100000" dist="27304">
              <a:srgbClr val="0F172A">
                <a:alpha val="7843"/>
              </a:srgbClr>
            </a:outerShdw>
          </a:effectLst>
        </p:spPr>
        <p:txBody>
          <a:bodyPr anchorCtr="0" anchor="ctr" bIns="98275" lIns="98275" spcFirstLastPara="1" rIns="98275" wrap="square" tIns="98275">
            <a:noAutofit/>
          </a:bodyPr>
          <a:lstStyle/>
          <a:p>
            <a:pPr indent="0" lvl="0" marL="0" rtl="0" algn="l">
              <a:spcBef>
                <a:spcPts val="0"/>
              </a:spcBef>
              <a:spcAft>
                <a:spcPts val="0"/>
              </a:spcAft>
              <a:buNone/>
            </a:pPr>
            <a:r>
              <a:t/>
            </a:r>
            <a:endParaRPr/>
          </a:p>
        </p:txBody>
      </p:sp>
      <p:sp>
        <p:nvSpPr>
          <p:cNvPr id="152" name="Google Shape;152;p6"/>
          <p:cNvSpPr/>
          <p:nvPr/>
        </p:nvSpPr>
        <p:spPr>
          <a:xfrm>
            <a:off x="621566" y="2492878"/>
            <a:ext cx="737100" cy="737100"/>
          </a:xfrm>
          <a:prstGeom prst="ellipse">
            <a:avLst/>
          </a:prstGeom>
          <a:solidFill>
            <a:srgbClr val="FBE4DF"/>
          </a:solidFill>
          <a:ln>
            <a:noFill/>
          </a:ln>
        </p:spPr>
        <p:txBody>
          <a:bodyPr anchorCtr="0" anchor="ctr" bIns="98275" lIns="98275" spcFirstLastPara="1" rIns="98275" wrap="square" tIns="98275">
            <a:noAutofit/>
          </a:bodyPr>
          <a:lstStyle/>
          <a:p>
            <a:pPr indent="0" lvl="0" marL="0" rtl="0" algn="l">
              <a:spcBef>
                <a:spcPts val="0"/>
              </a:spcBef>
              <a:spcAft>
                <a:spcPts val="0"/>
              </a:spcAft>
              <a:buNone/>
            </a:pPr>
            <a:r>
              <a:t/>
            </a:r>
            <a:endParaRPr/>
          </a:p>
        </p:txBody>
      </p:sp>
      <p:pic>
        <p:nvPicPr>
          <p:cNvPr descr="preencoded.png" id="153" name="Google Shape;153;p6"/>
          <p:cNvPicPr preferRelativeResize="0"/>
          <p:nvPr/>
        </p:nvPicPr>
        <p:blipFill rotWithShape="1">
          <a:blip r:embed="rId3">
            <a:alphaModFix/>
          </a:blip>
          <a:srcRect b="0" l="0" r="0" t="0"/>
          <a:stretch/>
        </p:blipFill>
        <p:spPr>
          <a:xfrm>
            <a:off x="788665" y="2659977"/>
            <a:ext cx="403004" cy="403004"/>
          </a:xfrm>
          <a:prstGeom prst="rect">
            <a:avLst/>
          </a:prstGeom>
          <a:noFill/>
          <a:ln>
            <a:noFill/>
          </a:ln>
        </p:spPr>
      </p:pic>
      <p:sp>
        <p:nvSpPr>
          <p:cNvPr id="154" name="Google Shape;154;p6"/>
          <p:cNvSpPr/>
          <p:nvPr/>
        </p:nvSpPr>
        <p:spPr>
          <a:xfrm>
            <a:off x="572419" y="3377520"/>
            <a:ext cx="51114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935"/>
              <a:buFont typeface="Calibri"/>
              <a:buNone/>
            </a:pPr>
            <a:r>
              <a:rPr b="1" i="0" lang="en-US" sz="1935" u="none" cap="none" strike="noStrike">
                <a:solidFill>
                  <a:srgbClr val="2A1A1D"/>
                </a:solidFill>
                <a:latin typeface="Calibri"/>
                <a:ea typeface="Calibri"/>
                <a:cs typeface="Calibri"/>
                <a:sym typeface="Calibri"/>
              </a:rPr>
              <a:t>New data, from now on</a:t>
            </a:r>
            <a:endParaRPr b="0" i="0" sz="1935" u="none" cap="none" strike="noStrike">
              <a:solidFill>
                <a:schemeClr val="dk1"/>
              </a:solidFill>
              <a:latin typeface="Calibri"/>
              <a:ea typeface="Calibri"/>
              <a:cs typeface="Calibri"/>
              <a:sym typeface="Calibri"/>
            </a:endParaRPr>
          </a:p>
        </p:txBody>
      </p:sp>
      <p:sp>
        <p:nvSpPr>
          <p:cNvPr id="155" name="Google Shape;155;p6"/>
          <p:cNvSpPr/>
          <p:nvPr/>
        </p:nvSpPr>
        <p:spPr>
          <a:xfrm>
            <a:off x="572419" y="3792327"/>
            <a:ext cx="5111400" cy="1179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4A4042"/>
              </a:buClr>
              <a:buSzPts val="1451"/>
              <a:buFont typeface="Calibri"/>
              <a:buNone/>
            </a:pPr>
            <a:r>
              <a:rPr b="0" i="0" lang="en-US" sz="1666" u="none" cap="none" strike="noStrike">
                <a:solidFill>
                  <a:srgbClr val="4A4042"/>
                </a:solidFill>
                <a:latin typeface="Calibri"/>
                <a:ea typeface="Calibri"/>
                <a:cs typeface="Calibri"/>
                <a:sym typeface="Calibri"/>
              </a:rPr>
              <a:t>This part is more straightforward. Anything you collect from here follows the DPDP rules from the start: a clear notice, recorded consent, only what's needed, and DP team sign-off before collection.</a:t>
            </a:r>
            <a:endParaRPr b="0" i="0" sz="1666" u="none" cap="none" strike="noStrike">
              <a:solidFill>
                <a:schemeClr val="dk1"/>
              </a:solidFill>
              <a:latin typeface="Calibri"/>
              <a:ea typeface="Calibri"/>
              <a:cs typeface="Calibri"/>
              <a:sym typeface="Calibri"/>
            </a:endParaRPr>
          </a:p>
        </p:txBody>
      </p:sp>
      <p:sp>
        <p:nvSpPr>
          <p:cNvPr id="156" name="Google Shape;156;p6"/>
          <p:cNvSpPr/>
          <p:nvPr/>
        </p:nvSpPr>
        <p:spPr>
          <a:xfrm>
            <a:off x="572419" y="4999364"/>
            <a:ext cx="1671000" cy="412800"/>
          </a:xfrm>
          <a:prstGeom prst="roundRect">
            <a:avLst>
              <a:gd fmla="val 19048" name="adj"/>
            </a:avLst>
          </a:prstGeom>
          <a:solidFill>
            <a:srgbClr val="FBE4DF"/>
          </a:solidFill>
          <a:ln>
            <a:noFill/>
          </a:ln>
        </p:spPr>
        <p:txBody>
          <a:bodyPr anchorCtr="0" anchor="ctr" bIns="98275" lIns="98275" spcFirstLastPara="1" rIns="98275" wrap="square" tIns="98275">
            <a:noAutofit/>
          </a:bodyPr>
          <a:lstStyle/>
          <a:p>
            <a:pPr indent="0" lvl="0" marL="0" rtl="0" algn="l">
              <a:spcBef>
                <a:spcPts val="0"/>
              </a:spcBef>
              <a:spcAft>
                <a:spcPts val="0"/>
              </a:spcAft>
              <a:buNone/>
            </a:pPr>
            <a:r>
              <a:t/>
            </a:r>
            <a:endParaRPr/>
          </a:p>
        </p:txBody>
      </p:sp>
      <p:sp>
        <p:nvSpPr>
          <p:cNvPr id="157" name="Google Shape;157;p6"/>
          <p:cNvSpPr/>
          <p:nvPr/>
        </p:nvSpPr>
        <p:spPr>
          <a:xfrm>
            <a:off x="572419" y="4999364"/>
            <a:ext cx="1671000" cy="41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01020"/>
              </a:buClr>
              <a:buSzPts val="1236"/>
              <a:buFont typeface="Calibri"/>
              <a:buNone/>
            </a:pPr>
            <a:r>
              <a:rPr b="1" i="0" lang="en-US" sz="1236" u="none" cap="none" strike="noStrike">
                <a:solidFill>
                  <a:srgbClr val="801020"/>
                </a:solidFill>
                <a:latin typeface="Calibri"/>
                <a:ea typeface="Calibri"/>
                <a:cs typeface="Calibri"/>
                <a:sym typeface="Calibri"/>
              </a:rPr>
              <a:t>The easier part</a:t>
            </a:r>
            <a:endParaRPr b="0" i="0" sz="1236" u="none" cap="none" strike="noStrike">
              <a:solidFill>
                <a:schemeClr val="dk1"/>
              </a:solidFill>
              <a:latin typeface="Calibri"/>
              <a:ea typeface="Calibri"/>
              <a:cs typeface="Calibri"/>
              <a:sym typeface="Calibri"/>
            </a:endParaRPr>
          </a:p>
        </p:txBody>
      </p:sp>
      <p:sp>
        <p:nvSpPr>
          <p:cNvPr id="158" name="Google Shape;158;p6"/>
          <p:cNvSpPr/>
          <p:nvPr/>
        </p:nvSpPr>
        <p:spPr>
          <a:xfrm>
            <a:off x="6273466" y="2148851"/>
            <a:ext cx="5700900" cy="3440400"/>
          </a:xfrm>
          <a:prstGeom prst="roundRect">
            <a:avLst>
              <a:gd fmla="val 2857" name="adj"/>
            </a:avLst>
          </a:prstGeom>
          <a:solidFill>
            <a:srgbClr val="FBDAD3"/>
          </a:solidFill>
          <a:ln cap="flat" cmpd="sng" w="20475">
            <a:solidFill>
              <a:srgbClr val="801020"/>
            </a:solidFill>
            <a:prstDash val="solid"/>
            <a:round/>
            <a:headEnd len="sm" w="sm" type="none"/>
            <a:tailEnd len="sm" w="sm" type="none"/>
          </a:ln>
          <a:effectLst>
            <a:outerShdw blurRad="68260" rotWithShape="0" algn="bl" dir="8100000" dist="27304">
              <a:srgbClr val="0F172A">
                <a:alpha val="7843"/>
              </a:srgbClr>
            </a:outerShdw>
          </a:effectLst>
        </p:spPr>
        <p:txBody>
          <a:bodyPr anchorCtr="0" anchor="ctr" bIns="98275" lIns="98275" spcFirstLastPara="1" rIns="98275" wrap="square" tIns="98275">
            <a:noAutofit/>
          </a:bodyPr>
          <a:lstStyle/>
          <a:p>
            <a:pPr indent="0" lvl="0" marL="0" rtl="0" algn="l">
              <a:spcBef>
                <a:spcPts val="0"/>
              </a:spcBef>
              <a:spcAft>
                <a:spcPts val="0"/>
              </a:spcAft>
              <a:buNone/>
            </a:pPr>
            <a:r>
              <a:t/>
            </a:r>
            <a:endParaRPr/>
          </a:p>
        </p:txBody>
      </p:sp>
      <p:sp>
        <p:nvSpPr>
          <p:cNvPr id="159" name="Google Shape;159;p6"/>
          <p:cNvSpPr/>
          <p:nvPr/>
        </p:nvSpPr>
        <p:spPr>
          <a:xfrm>
            <a:off x="6617494" y="2492878"/>
            <a:ext cx="737100" cy="737100"/>
          </a:xfrm>
          <a:prstGeom prst="ellipse">
            <a:avLst/>
          </a:prstGeom>
          <a:solidFill>
            <a:srgbClr val="FBE4DF"/>
          </a:solidFill>
          <a:ln>
            <a:noFill/>
          </a:ln>
        </p:spPr>
        <p:txBody>
          <a:bodyPr anchorCtr="0" anchor="ctr" bIns="98275" lIns="98275" spcFirstLastPara="1" rIns="98275" wrap="square" tIns="98275">
            <a:noAutofit/>
          </a:bodyPr>
          <a:lstStyle/>
          <a:p>
            <a:pPr indent="0" lvl="0" marL="0" rtl="0" algn="l">
              <a:spcBef>
                <a:spcPts val="0"/>
              </a:spcBef>
              <a:spcAft>
                <a:spcPts val="0"/>
              </a:spcAft>
              <a:buNone/>
            </a:pPr>
            <a:r>
              <a:t/>
            </a:r>
            <a:endParaRPr/>
          </a:p>
        </p:txBody>
      </p:sp>
      <p:pic>
        <p:nvPicPr>
          <p:cNvPr descr="preencoded.png" id="160" name="Google Shape;160;p6"/>
          <p:cNvPicPr preferRelativeResize="0"/>
          <p:nvPr/>
        </p:nvPicPr>
        <p:blipFill rotWithShape="1">
          <a:blip r:embed="rId4">
            <a:alphaModFix/>
          </a:blip>
          <a:srcRect b="0" l="0" r="0" t="0"/>
          <a:stretch/>
        </p:blipFill>
        <p:spPr>
          <a:xfrm>
            <a:off x="6784594" y="2659977"/>
            <a:ext cx="403004" cy="403004"/>
          </a:xfrm>
          <a:prstGeom prst="rect">
            <a:avLst/>
          </a:prstGeom>
          <a:noFill/>
          <a:ln>
            <a:noFill/>
          </a:ln>
        </p:spPr>
      </p:pic>
      <p:sp>
        <p:nvSpPr>
          <p:cNvPr id="161" name="Google Shape;161;p6"/>
          <p:cNvSpPr/>
          <p:nvPr/>
        </p:nvSpPr>
        <p:spPr>
          <a:xfrm>
            <a:off x="6568347" y="3377520"/>
            <a:ext cx="51114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935"/>
              <a:buFont typeface="Calibri"/>
              <a:buNone/>
            </a:pPr>
            <a:r>
              <a:rPr b="1" i="0" lang="en-US" sz="1935" u="none" cap="none" strike="noStrike">
                <a:solidFill>
                  <a:srgbClr val="2A1A1D"/>
                </a:solidFill>
                <a:latin typeface="Calibri"/>
                <a:ea typeface="Calibri"/>
                <a:cs typeface="Calibri"/>
                <a:sym typeface="Calibri"/>
              </a:rPr>
              <a:t>Old data, collected over the years</a:t>
            </a:r>
            <a:endParaRPr b="0" i="0" sz="1935" u="none" cap="none" strike="noStrike">
              <a:solidFill>
                <a:schemeClr val="dk1"/>
              </a:solidFill>
              <a:latin typeface="Calibri"/>
              <a:ea typeface="Calibri"/>
              <a:cs typeface="Calibri"/>
              <a:sym typeface="Calibri"/>
            </a:endParaRPr>
          </a:p>
        </p:txBody>
      </p:sp>
      <p:sp>
        <p:nvSpPr>
          <p:cNvPr id="162" name="Google Shape;162;p6"/>
          <p:cNvSpPr/>
          <p:nvPr/>
        </p:nvSpPr>
        <p:spPr>
          <a:xfrm>
            <a:off x="6568347" y="3748142"/>
            <a:ext cx="5111400" cy="1179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4A4042"/>
              </a:buClr>
              <a:buSzPts val="1451"/>
              <a:buFont typeface="Calibri"/>
              <a:buNone/>
            </a:pPr>
            <a:r>
              <a:rPr b="0" i="0" lang="en-US" sz="1651" u="none" cap="none" strike="noStrike">
                <a:solidFill>
                  <a:srgbClr val="4A4042"/>
                </a:solidFill>
                <a:latin typeface="Calibri"/>
                <a:ea typeface="Calibri"/>
                <a:cs typeface="Calibri"/>
                <a:sym typeface="Calibri"/>
              </a:rPr>
              <a:t>This is the harder part. Beneficiary data sitting across systems, drives, and spreadsheets. The starting position is to delete it, and keep only what the programme team can clearly justify.</a:t>
            </a:r>
            <a:endParaRPr b="0" i="0" sz="1651" u="none" cap="none" strike="noStrike">
              <a:solidFill>
                <a:schemeClr val="dk1"/>
              </a:solidFill>
              <a:latin typeface="Calibri"/>
              <a:ea typeface="Calibri"/>
              <a:cs typeface="Calibri"/>
              <a:sym typeface="Calibri"/>
            </a:endParaRPr>
          </a:p>
        </p:txBody>
      </p:sp>
      <p:sp>
        <p:nvSpPr>
          <p:cNvPr id="163" name="Google Shape;163;p6"/>
          <p:cNvSpPr/>
          <p:nvPr/>
        </p:nvSpPr>
        <p:spPr>
          <a:xfrm>
            <a:off x="6568347" y="4999364"/>
            <a:ext cx="2359200" cy="412800"/>
          </a:xfrm>
          <a:prstGeom prst="roundRect">
            <a:avLst>
              <a:gd fmla="val 19048" name="adj"/>
            </a:avLst>
          </a:prstGeom>
          <a:solidFill>
            <a:srgbClr val="801020"/>
          </a:solidFill>
          <a:ln>
            <a:noFill/>
          </a:ln>
        </p:spPr>
        <p:txBody>
          <a:bodyPr anchorCtr="0" anchor="ctr" bIns="98275" lIns="98275" spcFirstLastPara="1" rIns="98275" wrap="square" tIns="98275">
            <a:noAutofit/>
          </a:bodyPr>
          <a:lstStyle/>
          <a:p>
            <a:pPr indent="0" lvl="0" marL="0" rtl="0" algn="l">
              <a:spcBef>
                <a:spcPts val="0"/>
              </a:spcBef>
              <a:spcAft>
                <a:spcPts val="0"/>
              </a:spcAft>
              <a:buNone/>
            </a:pPr>
            <a:r>
              <a:t/>
            </a:r>
            <a:endParaRPr/>
          </a:p>
        </p:txBody>
      </p:sp>
      <p:sp>
        <p:nvSpPr>
          <p:cNvPr id="164" name="Google Shape;164;p6"/>
          <p:cNvSpPr/>
          <p:nvPr/>
        </p:nvSpPr>
        <p:spPr>
          <a:xfrm>
            <a:off x="6568347" y="4999364"/>
            <a:ext cx="2359200" cy="41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36"/>
              <a:buFont typeface="Calibri"/>
              <a:buNone/>
            </a:pPr>
            <a:r>
              <a:rPr b="1" i="0" lang="en-US" sz="1236" u="none" cap="none" strike="noStrike">
                <a:solidFill>
                  <a:srgbClr val="FFFFFF"/>
                </a:solidFill>
                <a:latin typeface="Calibri"/>
                <a:ea typeface="Calibri"/>
                <a:cs typeface="Calibri"/>
                <a:sym typeface="Calibri"/>
              </a:rPr>
              <a:t>The hard part →</a:t>
            </a:r>
            <a:endParaRPr b="0" i="0" sz="1236" u="none" cap="none" strike="noStrike">
              <a:solidFill>
                <a:schemeClr val="dk1"/>
              </a:solidFill>
              <a:latin typeface="Calibri"/>
              <a:ea typeface="Calibri"/>
              <a:cs typeface="Calibri"/>
              <a:sym typeface="Calibri"/>
            </a:endParaRPr>
          </a:p>
        </p:txBody>
      </p:sp>
      <p:sp>
        <p:nvSpPr>
          <p:cNvPr id="165" name="Google Shape;165;p6"/>
          <p:cNvSpPr/>
          <p:nvPr/>
        </p:nvSpPr>
        <p:spPr>
          <a:xfrm>
            <a:off x="11430000" y="640080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pic>
        <p:nvPicPr>
          <p:cNvPr id="166" name="Google Shape;166;p6" title="Dhwani final Logo.png"/>
          <p:cNvPicPr preferRelativeResize="0"/>
          <p:nvPr/>
        </p:nvPicPr>
        <p:blipFill>
          <a:blip r:embed="rId5">
            <a:alphaModFix/>
          </a:blip>
          <a:stretch>
            <a:fillRect/>
          </a:stretch>
        </p:blipFill>
        <p:spPr>
          <a:xfrm>
            <a:off x="10672223" y="129275"/>
            <a:ext cx="1336829" cy="502900"/>
          </a:xfrm>
          <a:prstGeom prst="rect">
            <a:avLst/>
          </a:prstGeom>
          <a:noFill/>
          <a:ln>
            <a:noFill/>
          </a:ln>
        </p:spPr>
      </p:pic>
      <p:sp>
        <p:nvSpPr>
          <p:cNvPr id="167" name="Google Shape;167;p6"/>
          <p:cNvSpPr/>
          <p:nvPr/>
        </p:nvSpPr>
        <p:spPr>
          <a:xfrm>
            <a:off x="64008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Dhwani RIS  ·  DPDP Adoption Approach</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 name="Shape 172"/>
        <p:cNvGrpSpPr/>
        <p:nvPr/>
      </p:nvGrpSpPr>
      <p:grpSpPr>
        <a:xfrm>
          <a:off x="0" y="0"/>
          <a:ext cx="0" cy="0"/>
          <a:chOff x="0" y="0"/>
          <a:chExt cx="0" cy="0"/>
        </a:xfrm>
      </p:grpSpPr>
      <p:sp>
        <p:nvSpPr>
          <p:cNvPr id="173" name="Google Shape;173;p7"/>
          <p:cNvSpPr/>
          <p:nvPr/>
        </p:nvSpPr>
        <p:spPr>
          <a:xfrm>
            <a:off x="64008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200"/>
              <a:buFont typeface="Calibri"/>
              <a:buNone/>
            </a:pPr>
            <a:r>
              <a:rPr b="1" i="0" lang="en-US" sz="1200" u="none" cap="none" strike="noStrike">
                <a:solidFill>
                  <a:srgbClr val="F08030"/>
                </a:solidFill>
                <a:latin typeface="Calibri"/>
                <a:ea typeface="Calibri"/>
                <a:cs typeface="Calibri"/>
                <a:sym typeface="Calibri"/>
              </a:rPr>
              <a:t>HANDLING THE OLD DATA</a:t>
            </a:r>
            <a:endParaRPr b="0" i="0" sz="1200" u="none" cap="none" strike="noStrike">
              <a:solidFill>
                <a:schemeClr val="dk1"/>
              </a:solidFill>
              <a:latin typeface="Calibri"/>
              <a:ea typeface="Calibri"/>
              <a:cs typeface="Calibri"/>
              <a:sym typeface="Calibri"/>
            </a:endParaRPr>
          </a:p>
        </p:txBody>
      </p:sp>
      <p:sp>
        <p:nvSpPr>
          <p:cNvPr id="174" name="Google Shape;174;p7"/>
          <p:cNvSpPr/>
          <p:nvPr/>
        </p:nvSpPr>
        <p:spPr>
          <a:xfrm>
            <a:off x="640080" y="68580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01020"/>
              </a:buClr>
              <a:buSzPts val="3000"/>
              <a:buFont typeface="Georgia"/>
              <a:buNone/>
            </a:pPr>
            <a:r>
              <a:rPr b="1" i="0" lang="en-US" sz="3000" u="none" cap="none" strike="noStrike">
                <a:solidFill>
                  <a:srgbClr val="801020"/>
                </a:solidFill>
                <a:latin typeface="Georgia"/>
                <a:ea typeface="Georgia"/>
                <a:cs typeface="Georgia"/>
                <a:sym typeface="Georgia"/>
              </a:rPr>
              <a:t>What to do with the old data</a:t>
            </a:r>
            <a:endParaRPr b="0" i="0" sz="3000" u="none" cap="none" strike="noStrike">
              <a:solidFill>
                <a:schemeClr val="dk1"/>
              </a:solidFill>
              <a:latin typeface="Calibri"/>
              <a:ea typeface="Calibri"/>
              <a:cs typeface="Calibri"/>
              <a:sym typeface="Calibri"/>
            </a:endParaRPr>
          </a:p>
        </p:txBody>
      </p:sp>
      <p:sp>
        <p:nvSpPr>
          <p:cNvPr id="175" name="Google Shape;175;p7"/>
          <p:cNvSpPr/>
          <p:nvPr/>
        </p:nvSpPr>
        <p:spPr>
          <a:xfrm>
            <a:off x="640080" y="1417320"/>
            <a:ext cx="10881360" cy="658368"/>
          </a:xfrm>
          <a:prstGeom prst="roundRect">
            <a:avLst>
              <a:gd fmla="val 11111" name="adj"/>
            </a:avLst>
          </a:prstGeom>
          <a:solidFill>
            <a:srgbClr val="80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p:nvPr/>
        </p:nvSpPr>
        <p:spPr>
          <a:xfrm>
            <a:off x="914400" y="1417320"/>
            <a:ext cx="103327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Start by deleting it.  </a:t>
            </a:r>
            <a:r>
              <a:rPr b="0" i="0" lang="en-US" sz="1400" u="none" cap="none" strike="noStrike">
                <a:solidFill>
                  <a:srgbClr val="FBE4DF"/>
                </a:solidFill>
                <a:latin typeface="Calibri"/>
                <a:ea typeface="Calibri"/>
                <a:cs typeface="Calibri"/>
                <a:sym typeface="Calibri"/>
              </a:rPr>
              <a:t>If a team wants to keep something, they need a specific reason. “We might need it later” doesn't count.</a:t>
            </a:r>
            <a:endParaRPr b="0" i="0" sz="1400" u="none" cap="none" strike="noStrike">
              <a:solidFill>
                <a:schemeClr val="dk1"/>
              </a:solidFill>
              <a:latin typeface="Calibri"/>
              <a:ea typeface="Calibri"/>
              <a:cs typeface="Calibri"/>
              <a:sym typeface="Calibri"/>
            </a:endParaRPr>
          </a:p>
        </p:txBody>
      </p:sp>
      <p:sp>
        <p:nvSpPr>
          <p:cNvPr id="177" name="Google Shape;177;p7"/>
          <p:cNvSpPr/>
          <p:nvPr/>
        </p:nvSpPr>
        <p:spPr>
          <a:xfrm>
            <a:off x="640080" y="2240280"/>
            <a:ext cx="10881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350"/>
              <a:buFont typeface="Calibri"/>
              <a:buNone/>
            </a:pPr>
            <a:r>
              <a:rPr b="0" i="1" lang="en-US" sz="1650" u="none" cap="none" strike="noStrike">
                <a:solidFill>
                  <a:srgbClr val="9A8C8E"/>
                </a:solidFill>
                <a:latin typeface="Calibri"/>
                <a:ea typeface="Calibri"/>
                <a:cs typeface="Calibri"/>
                <a:sym typeface="Calibri"/>
              </a:rPr>
              <a:t>If there's a genuine reason to keep it, pick the option that exposes the least data:</a:t>
            </a:r>
            <a:endParaRPr b="0" i="0" sz="1650" u="none" cap="none" strike="noStrike">
              <a:solidFill>
                <a:schemeClr val="dk1"/>
              </a:solidFill>
              <a:latin typeface="Calibri"/>
              <a:ea typeface="Calibri"/>
              <a:cs typeface="Calibri"/>
              <a:sym typeface="Calibri"/>
            </a:endParaRPr>
          </a:p>
        </p:txBody>
      </p:sp>
      <p:sp>
        <p:nvSpPr>
          <p:cNvPr id="178" name="Google Shape;178;p7"/>
          <p:cNvSpPr/>
          <p:nvPr/>
        </p:nvSpPr>
        <p:spPr>
          <a:xfrm>
            <a:off x="640080" y="2743200"/>
            <a:ext cx="3502152" cy="3063240"/>
          </a:xfrm>
          <a:prstGeom prst="roundRect">
            <a:avLst>
              <a:gd fmla="val 2687"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
          <p:cNvSpPr/>
          <p:nvPr/>
        </p:nvSpPr>
        <p:spPr>
          <a:xfrm>
            <a:off x="914400" y="3035808"/>
            <a:ext cx="566928" cy="566928"/>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0" name="Google Shape;180;p7"/>
          <p:cNvPicPr preferRelativeResize="0"/>
          <p:nvPr/>
        </p:nvPicPr>
        <p:blipFill rotWithShape="1">
          <a:blip r:embed="rId3">
            <a:alphaModFix/>
          </a:blip>
          <a:srcRect b="0" l="0" r="0" t="0"/>
          <a:stretch/>
        </p:blipFill>
        <p:spPr>
          <a:xfrm>
            <a:off x="1033272" y="3154680"/>
            <a:ext cx="329184" cy="329184"/>
          </a:xfrm>
          <a:prstGeom prst="rect">
            <a:avLst/>
          </a:prstGeom>
          <a:noFill/>
          <a:ln>
            <a:noFill/>
          </a:ln>
        </p:spPr>
      </p:pic>
      <p:sp>
        <p:nvSpPr>
          <p:cNvPr id="181" name="Google Shape;181;p7"/>
          <p:cNvSpPr/>
          <p:nvPr/>
        </p:nvSpPr>
        <p:spPr>
          <a:xfrm>
            <a:off x="2816352" y="3108960"/>
            <a:ext cx="1051560" cy="365760"/>
          </a:xfrm>
          <a:prstGeom prst="roundRect">
            <a:avLst>
              <a:gd fmla="val 20000" name="adj"/>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2816352" y="3108960"/>
            <a:ext cx="1051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01020"/>
              </a:buClr>
              <a:buSzPts val="1050"/>
              <a:buFont typeface="Calibri"/>
              <a:buNone/>
            </a:pPr>
            <a:r>
              <a:rPr b="1" i="0" lang="en-US" sz="1050" u="none" cap="none" strike="noStrike">
                <a:solidFill>
                  <a:srgbClr val="801020"/>
                </a:solidFill>
                <a:latin typeface="Calibri"/>
                <a:ea typeface="Calibri"/>
                <a:cs typeface="Calibri"/>
                <a:sym typeface="Calibri"/>
              </a:rPr>
              <a:t>Preferred</a:t>
            </a:r>
            <a:endParaRPr b="0" i="0" sz="1050" u="none" cap="none" strike="noStrike">
              <a:solidFill>
                <a:schemeClr val="dk1"/>
              </a:solidFill>
              <a:latin typeface="Calibri"/>
              <a:ea typeface="Calibri"/>
              <a:cs typeface="Calibri"/>
              <a:sym typeface="Calibri"/>
            </a:endParaRPr>
          </a:p>
        </p:txBody>
      </p:sp>
      <p:sp>
        <p:nvSpPr>
          <p:cNvPr id="183" name="Google Shape;183;p7"/>
          <p:cNvSpPr/>
          <p:nvPr/>
        </p:nvSpPr>
        <p:spPr>
          <a:xfrm>
            <a:off x="914400" y="3794760"/>
            <a:ext cx="548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2200"/>
              <a:buFont typeface="Georgia"/>
              <a:buNone/>
            </a:pPr>
            <a:r>
              <a:rPr b="1" i="0" lang="en-US" sz="2200" u="none" cap="none" strike="noStrike">
                <a:solidFill>
                  <a:srgbClr val="F08030"/>
                </a:solidFill>
                <a:latin typeface="Georgia"/>
                <a:ea typeface="Georgia"/>
                <a:cs typeface="Georgia"/>
                <a:sym typeface="Georgia"/>
              </a:rPr>
              <a:t>1</a:t>
            </a:r>
            <a:endParaRPr b="0" i="0" sz="2200" u="none" cap="none" strike="noStrike">
              <a:solidFill>
                <a:schemeClr val="dk1"/>
              </a:solidFill>
              <a:latin typeface="Calibri"/>
              <a:ea typeface="Calibri"/>
              <a:cs typeface="Calibri"/>
              <a:sym typeface="Calibri"/>
            </a:endParaRPr>
          </a:p>
        </p:txBody>
      </p:sp>
      <p:sp>
        <p:nvSpPr>
          <p:cNvPr id="184" name="Google Shape;184;p7"/>
          <p:cNvSpPr/>
          <p:nvPr/>
        </p:nvSpPr>
        <p:spPr>
          <a:xfrm>
            <a:off x="914400" y="4206240"/>
            <a:ext cx="29535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50"/>
              <a:buFont typeface="Calibri"/>
              <a:buNone/>
            </a:pPr>
            <a:r>
              <a:rPr b="1" i="0" lang="en-US" sz="1550" u="none" cap="none" strike="noStrike">
                <a:solidFill>
                  <a:srgbClr val="2A1A1D"/>
                </a:solidFill>
                <a:latin typeface="Calibri"/>
                <a:ea typeface="Calibri"/>
                <a:cs typeface="Calibri"/>
                <a:sym typeface="Calibri"/>
              </a:rPr>
              <a:t>Analyse it, then delete the raw data</a:t>
            </a:r>
            <a:endParaRPr b="0" i="0" sz="1550" u="none" cap="none" strike="noStrike">
              <a:solidFill>
                <a:schemeClr val="dk1"/>
              </a:solidFill>
              <a:latin typeface="Calibri"/>
              <a:ea typeface="Calibri"/>
              <a:cs typeface="Calibri"/>
              <a:sym typeface="Calibri"/>
            </a:endParaRPr>
          </a:p>
        </p:txBody>
      </p:sp>
      <p:sp>
        <p:nvSpPr>
          <p:cNvPr id="185" name="Google Shape;185;p7"/>
          <p:cNvSpPr/>
          <p:nvPr/>
        </p:nvSpPr>
        <p:spPr>
          <a:xfrm>
            <a:off x="914400" y="4800600"/>
            <a:ext cx="2953512" cy="914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A4042"/>
              </a:buClr>
              <a:buSzPts val="1200"/>
              <a:buFont typeface="Calibri"/>
              <a:buNone/>
            </a:pPr>
            <a:r>
              <a:rPr b="0" i="0" lang="en-US" sz="1500" u="none" cap="none" strike="noStrike">
                <a:solidFill>
                  <a:srgbClr val="4A4042"/>
                </a:solidFill>
                <a:latin typeface="Calibri"/>
                <a:ea typeface="Calibri"/>
                <a:cs typeface="Calibri"/>
                <a:sym typeface="Calibri"/>
              </a:rPr>
              <a:t>Pull out what you actually need — dashboards, charts, tables, or written reports — then delete the underlying records. AI makes this quick.</a:t>
            </a:r>
            <a:endParaRPr b="0" i="0" sz="1500" u="none" cap="none" strike="noStrike">
              <a:solidFill>
                <a:schemeClr val="dk1"/>
              </a:solidFill>
              <a:latin typeface="Calibri"/>
              <a:ea typeface="Calibri"/>
              <a:cs typeface="Calibri"/>
              <a:sym typeface="Calibri"/>
            </a:endParaRPr>
          </a:p>
        </p:txBody>
      </p:sp>
      <p:sp>
        <p:nvSpPr>
          <p:cNvPr id="186" name="Google Shape;186;p7"/>
          <p:cNvSpPr/>
          <p:nvPr/>
        </p:nvSpPr>
        <p:spPr>
          <a:xfrm>
            <a:off x="4329684" y="2743200"/>
            <a:ext cx="3502152" cy="3063240"/>
          </a:xfrm>
          <a:prstGeom prst="roundRect">
            <a:avLst>
              <a:gd fmla="val 2687"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
          <p:cNvSpPr/>
          <p:nvPr/>
        </p:nvSpPr>
        <p:spPr>
          <a:xfrm>
            <a:off x="4604004" y="3035808"/>
            <a:ext cx="566928" cy="566928"/>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8" name="Google Shape;188;p7"/>
          <p:cNvPicPr preferRelativeResize="0"/>
          <p:nvPr/>
        </p:nvPicPr>
        <p:blipFill rotWithShape="1">
          <a:blip r:embed="rId4">
            <a:alphaModFix/>
          </a:blip>
          <a:srcRect b="0" l="0" r="0" t="0"/>
          <a:stretch/>
        </p:blipFill>
        <p:spPr>
          <a:xfrm>
            <a:off x="4722876" y="3154680"/>
            <a:ext cx="329184" cy="329184"/>
          </a:xfrm>
          <a:prstGeom prst="rect">
            <a:avLst/>
          </a:prstGeom>
          <a:noFill/>
          <a:ln>
            <a:noFill/>
          </a:ln>
        </p:spPr>
      </p:pic>
      <p:sp>
        <p:nvSpPr>
          <p:cNvPr id="189" name="Google Shape;189;p7"/>
          <p:cNvSpPr/>
          <p:nvPr/>
        </p:nvSpPr>
        <p:spPr>
          <a:xfrm>
            <a:off x="6505956" y="3108960"/>
            <a:ext cx="1051560" cy="365760"/>
          </a:xfrm>
          <a:prstGeom prst="roundRect">
            <a:avLst>
              <a:gd fmla="val 20000" name="adj"/>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a:off x="6505956" y="3108960"/>
            <a:ext cx="1051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01020"/>
              </a:buClr>
              <a:buSzPts val="1050"/>
              <a:buFont typeface="Calibri"/>
              <a:buNone/>
            </a:pPr>
            <a:r>
              <a:rPr b="1" i="0" lang="en-US" sz="1050" u="none" cap="none" strike="noStrike">
                <a:solidFill>
                  <a:srgbClr val="801020"/>
                </a:solidFill>
                <a:latin typeface="Calibri"/>
                <a:ea typeface="Calibri"/>
                <a:cs typeface="Calibri"/>
                <a:sym typeface="Calibri"/>
              </a:rPr>
              <a:t>If needed</a:t>
            </a:r>
            <a:endParaRPr b="0" i="0" sz="1050" u="none" cap="none" strike="noStrike">
              <a:solidFill>
                <a:schemeClr val="dk1"/>
              </a:solidFill>
              <a:latin typeface="Calibri"/>
              <a:ea typeface="Calibri"/>
              <a:cs typeface="Calibri"/>
              <a:sym typeface="Calibri"/>
            </a:endParaRPr>
          </a:p>
        </p:txBody>
      </p:sp>
      <p:sp>
        <p:nvSpPr>
          <p:cNvPr id="191" name="Google Shape;191;p7"/>
          <p:cNvSpPr/>
          <p:nvPr/>
        </p:nvSpPr>
        <p:spPr>
          <a:xfrm>
            <a:off x="4604004" y="3794760"/>
            <a:ext cx="548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2200"/>
              <a:buFont typeface="Georgia"/>
              <a:buNone/>
            </a:pPr>
            <a:r>
              <a:rPr b="1" i="0" lang="en-US" sz="2200" u="none" cap="none" strike="noStrike">
                <a:solidFill>
                  <a:srgbClr val="F08030"/>
                </a:solidFill>
                <a:latin typeface="Georgia"/>
                <a:ea typeface="Georgia"/>
                <a:cs typeface="Georgia"/>
                <a:sym typeface="Georgia"/>
              </a:rPr>
              <a:t>2</a:t>
            </a:r>
            <a:endParaRPr b="0" i="0" sz="2200" u="none" cap="none" strike="noStrike">
              <a:solidFill>
                <a:schemeClr val="dk1"/>
              </a:solidFill>
              <a:latin typeface="Calibri"/>
              <a:ea typeface="Calibri"/>
              <a:cs typeface="Calibri"/>
              <a:sym typeface="Calibri"/>
            </a:endParaRPr>
          </a:p>
        </p:txBody>
      </p:sp>
      <p:sp>
        <p:nvSpPr>
          <p:cNvPr id="192" name="Google Shape;192;p7"/>
          <p:cNvSpPr/>
          <p:nvPr/>
        </p:nvSpPr>
        <p:spPr>
          <a:xfrm>
            <a:off x="4604004" y="4206240"/>
            <a:ext cx="29535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50"/>
              <a:buFont typeface="Calibri"/>
              <a:buNone/>
            </a:pPr>
            <a:r>
              <a:rPr b="1" i="0" lang="en-US" sz="1550" u="none" cap="none" strike="noStrike">
                <a:solidFill>
                  <a:srgbClr val="2A1A1D"/>
                </a:solidFill>
                <a:latin typeface="Calibri"/>
                <a:ea typeface="Calibri"/>
                <a:cs typeface="Calibri"/>
                <a:sym typeface="Calibri"/>
              </a:rPr>
              <a:t>Anonymise the personal details</a:t>
            </a:r>
            <a:endParaRPr b="0" i="0" sz="1550" u="none" cap="none" strike="noStrike">
              <a:solidFill>
                <a:schemeClr val="dk1"/>
              </a:solidFill>
              <a:latin typeface="Calibri"/>
              <a:ea typeface="Calibri"/>
              <a:cs typeface="Calibri"/>
              <a:sym typeface="Calibri"/>
            </a:endParaRPr>
          </a:p>
        </p:txBody>
      </p:sp>
      <p:sp>
        <p:nvSpPr>
          <p:cNvPr id="193" name="Google Shape;193;p7"/>
          <p:cNvSpPr/>
          <p:nvPr/>
        </p:nvSpPr>
        <p:spPr>
          <a:xfrm>
            <a:off x="4604004" y="4800600"/>
            <a:ext cx="2953512" cy="914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A4042"/>
              </a:buClr>
              <a:buSzPts val="1200"/>
              <a:buFont typeface="Calibri"/>
              <a:buNone/>
            </a:pPr>
            <a:r>
              <a:rPr b="0" i="0" lang="en-US" sz="1500" u="none" cap="none" strike="noStrike">
                <a:solidFill>
                  <a:srgbClr val="4A4042"/>
                </a:solidFill>
                <a:latin typeface="Calibri"/>
                <a:ea typeface="Calibri"/>
                <a:cs typeface="Calibri"/>
                <a:sym typeface="Calibri"/>
              </a:rPr>
              <a:t>Take out anything that identifies a person, but keep the dataset usable for analysis.</a:t>
            </a:r>
            <a:endParaRPr b="0" i="0" sz="1500" u="none" cap="none" strike="noStrike">
              <a:solidFill>
                <a:schemeClr val="dk1"/>
              </a:solidFill>
              <a:latin typeface="Calibri"/>
              <a:ea typeface="Calibri"/>
              <a:cs typeface="Calibri"/>
              <a:sym typeface="Calibri"/>
            </a:endParaRPr>
          </a:p>
        </p:txBody>
      </p:sp>
      <p:sp>
        <p:nvSpPr>
          <p:cNvPr id="194" name="Google Shape;194;p7"/>
          <p:cNvSpPr/>
          <p:nvPr/>
        </p:nvSpPr>
        <p:spPr>
          <a:xfrm>
            <a:off x="8019288" y="2743200"/>
            <a:ext cx="3502152" cy="3063240"/>
          </a:xfrm>
          <a:prstGeom prst="roundRect">
            <a:avLst>
              <a:gd fmla="val 2687" name="adj"/>
            </a:avLst>
          </a:prstGeom>
          <a:solidFill>
            <a:srgbClr val="FBDAD3"/>
          </a:solidFill>
          <a:ln cap="flat" cmpd="sng" w="19050">
            <a:solidFill>
              <a:srgbClr val="801020"/>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8293608" y="3035808"/>
            <a:ext cx="566928" cy="566928"/>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6" name="Google Shape;196;p7"/>
          <p:cNvPicPr preferRelativeResize="0"/>
          <p:nvPr/>
        </p:nvPicPr>
        <p:blipFill rotWithShape="1">
          <a:blip r:embed="rId5">
            <a:alphaModFix/>
          </a:blip>
          <a:srcRect b="0" l="0" r="0" t="0"/>
          <a:stretch/>
        </p:blipFill>
        <p:spPr>
          <a:xfrm>
            <a:off x="8412480" y="3154680"/>
            <a:ext cx="329184" cy="329184"/>
          </a:xfrm>
          <a:prstGeom prst="rect">
            <a:avLst/>
          </a:prstGeom>
          <a:noFill/>
          <a:ln>
            <a:noFill/>
          </a:ln>
        </p:spPr>
      </p:pic>
      <p:sp>
        <p:nvSpPr>
          <p:cNvPr id="197" name="Google Shape;197;p7"/>
          <p:cNvSpPr/>
          <p:nvPr/>
        </p:nvSpPr>
        <p:spPr>
          <a:xfrm>
            <a:off x="10195560" y="3108960"/>
            <a:ext cx="1051560" cy="365760"/>
          </a:xfrm>
          <a:prstGeom prst="roundRect">
            <a:avLst>
              <a:gd fmla="val 20000" name="adj"/>
            </a:avLst>
          </a:prstGeom>
          <a:solidFill>
            <a:srgbClr val="80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10195560" y="3108960"/>
            <a:ext cx="1051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Last resort</a:t>
            </a:r>
            <a:endParaRPr b="0" i="0" sz="1050" u="none" cap="none" strike="noStrike">
              <a:solidFill>
                <a:schemeClr val="dk1"/>
              </a:solidFill>
              <a:latin typeface="Calibri"/>
              <a:ea typeface="Calibri"/>
              <a:cs typeface="Calibri"/>
              <a:sym typeface="Calibri"/>
            </a:endParaRPr>
          </a:p>
        </p:txBody>
      </p:sp>
      <p:sp>
        <p:nvSpPr>
          <p:cNvPr id="199" name="Google Shape;199;p7"/>
          <p:cNvSpPr/>
          <p:nvPr/>
        </p:nvSpPr>
        <p:spPr>
          <a:xfrm>
            <a:off x="8293608" y="3794760"/>
            <a:ext cx="548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2200"/>
              <a:buFont typeface="Georgia"/>
              <a:buNone/>
            </a:pPr>
            <a:r>
              <a:rPr b="1" i="0" lang="en-US" sz="2200" u="none" cap="none" strike="noStrike">
                <a:solidFill>
                  <a:srgbClr val="F08030"/>
                </a:solidFill>
                <a:latin typeface="Georgia"/>
                <a:ea typeface="Georgia"/>
                <a:cs typeface="Georgia"/>
                <a:sym typeface="Georgia"/>
              </a:rPr>
              <a:t>3</a:t>
            </a:r>
            <a:endParaRPr b="0" i="0" sz="2200" u="none" cap="none" strike="noStrike">
              <a:solidFill>
                <a:schemeClr val="dk1"/>
              </a:solidFill>
              <a:latin typeface="Calibri"/>
              <a:ea typeface="Calibri"/>
              <a:cs typeface="Calibri"/>
              <a:sym typeface="Calibri"/>
            </a:endParaRPr>
          </a:p>
        </p:txBody>
      </p:sp>
      <p:sp>
        <p:nvSpPr>
          <p:cNvPr id="200" name="Google Shape;200;p7"/>
          <p:cNvSpPr/>
          <p:nvPr/>
        </p:nvSpPr>
        <p:spPr>
          <a:xfrm>
            <a:off x="8293608" y="4206240"/>
            <a:ext cx="29535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50"/>
              <a:buFont typeface="Calibri"/>
              <a:buNone/>
            </a:pPr>
            <a:r>
              <a:rPr b="1" i="0" lang="en-US" sz="1550" u="none" cap="none" strike="noStrike">
                <a:solidFill>
                  <a:srgbClr val="2A1A1D"/>
                </a:solidFill>
                <a:latin typeface="Calibri"/>
                <a:ea typeface="Calibri"/>
                <a:cs typeface="Calibri"/>
                <a:sym typeface="Calibri"/>
              </a:rPr>
              <a:t>Encrypt the personal details</a:t>
            </a:r>
            <a:endParaRPr b="0" i="0" sz="1550" u="none" cap="none" strike="noStrike">
              <a:solidFill>
                <a:schemeClr val="dk1"/>
              </a:solidFill>
              <a:latin typeface="Calibri"/>
              <a:ea typeface="Calibri"/>
              <a:cs typeface="Calibri"/>
              <a:sym typeface="Calibri"/>
            </a:endParaRPr>
          </a:p>
        </p:txBody>
      </p:sp>
      <p:sp>
        <p:nvSpPr>
          <p:cNvPr id="201" name="Google Shape;201;p7"/>
          <p:cNvSpPr/>
          <p:nvPr/>
        </p:nvSpPr>
        <p:spPr>
          <a:xfrm>
            <a:off x="8293608" y="4800600"/>
            <a:ext cx="2953512" cy="914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A4042"/>
              </a:buClr>
              <a:buSzPts val="1200"/>
              <a:buFont typeface="Calibri"/>
              <a:buNone/>
            </a:pPr>
            <a:r>
              <a:rPr b="0" i="0" lang="en-US" sz="1500" u="none" cap="none" strike="noStrike">
                <a:solidFill>
                  <a:srgbClr val="4A4042"/>
                </a:solidFill>
                <a:latin typeface="Calibri"/>
                <a:ea typeface="Calibri"/>
                <a:cs typeface="Calibri"/>
                <a:sym typeface="Calibri"/>
              </a:rPr>
              <a:t>Only if you genuinely need person-level data you can verify, say for a government or donor audit. Keep it encrypted and locked down.</a:t>
            </a:r>
            <a:endParaRPr b="0" i="0" sz="1500" u="none" cap="none" strike="noStrike">
              <a:solidFill>
                <a:schemeClr val="dk1"/>
              </a:solidFill>
              <a:latin typeface="Calibri"/>
              <a:ea typeface="Calibri"/>
              <a:cs typeface="Calibri"/>
              <a:sym typeface="Calibri"/>
            </a:endParaRPr>
          </a:p>
        </p:txBody>
      </p:sp>
      <p:sp>
        <p:nvSpPr>
          <p:cNvPr id="202" name="Google Shape;202;p7"/>
          <p:cNvSpPr/>
          <p:nvPr/>
        </p:nvSpPr>
        <p:spPr>
          <a:xfrm>
            <a:off x="11430000" y="640080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
        <p:nvSpPr>
          <p:cNvPr id="203" name="Google Shape;203;p7"/>
          <p:cNvSpPr/>
          <p:nvPr/>
        </p:nvSpPr>
        <p:spPr>
          <a:xfrm>
            <a:off x="64008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Dhwani RIS  ·  DPDP Adoption Approach</a:t>
            </a:r>
            <a:endParaRPr b="0" i="0" sz="1000" u="none" cap="none" strike="noStrike">
              <a:solidFill>
                <a:schemeClr val="dk1"/>
              </a:solidFill>
              <a:latin typeface="Calibri"/>
              <a:ea typeface="Calibri"/>
              <a:cs typeface="Calibri"/>
              <a:sym typeface="Calibri"/>
            </a:endParaRPr>
          </a:p>
        </p:txBody>
      </p:sp>
      <p:pic>
        <p:nvPicPr>
          <p:cNvPr id="204" name="Google Shape;204;p7" title="Dhwani final Logo.png"/>
          <p:cNvPicPr preferRelativeResize="0"/>
          <p:nvPr/>
        </p:nvPicPr>
        <p:blipFill>
          <a:blip r:embed="rId6">
            <a:alphaModFix/>
          </a:blip>
          <a:stretch>
            <a:fillRect/>
          </a:stretch>
        </p:blipFill>
        <p:spPr>
          <a:xfrm>
            <a:off x="10672223" y="129275"/>
            <a:ext cx="1336829" cy="502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8"/>
          <p:cNvSpPr/>
          <p:nvPr/>
        </p:nvSpPr>
        <p:spPr>
          <a:xfrm>
            <a:off x="64008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200"/>
              <a:buFont typeface="Calibri"/>
              <a:buNone/>
            </a:pPr>
            <a:r>
              <a:rPr b="1" i="0" lang="en-US" sz="1200" u="none" cap="none" strike="noStrike">
                <a:solidFill>
                  <a:srgbClr val="F08030"/>
                </a:solidFill>
                <a:latin typeface="Calibri"/>
                <a:ea typeface="Calibri"/>
                <a:cs typeface="Calibri"/>
                <a:sym typeface="Calibri"/>
              </a:rPr>
              <a:t>THE NON-NEGOTIABLE</a:t>
            </a:r>
            <a:endParaRPr b="0" i="0" sz="1200" u="none" cap="none" strike="noStrike">
              <a:solidFill>
                <a:schemeClr val="dk1"/>
              </a:solidFill>
              <a:latin typeface="Calibri"/>
              <a:ea typeface="Calibri"/>
              <a:cs typeface="Calibri"/>
              <a:sym typeface="Calibri"/>
            </a:endParaRPr>
          </a:p>
        </p:txBody>
      </p:sp>
      <p:sp>
        <p:nvSpPr>
          <p:cNvPr id="211" name="Google Shape;211;p8"/>
          <p:cNvSpPr/>
          <p:nvPr/>
        </p:nvSpPr>
        <p:spPr>
          <a:xfrm>
            <a:off x="640080" y="68580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01020"/>
              </a:buClr>
              <a:buSzPts val="3000"/>
              <a:buFont typeface="Georgia"/>
              <a:buNone/>
            </a:pPr>
            <a:r>
              <a:rPr b="1" i="0" lang="en-US" sz="3000" u="none" cap="none" strike="noStrike">
                <a:solidFill>
                  <a:srgbClr val="801020"/>
                </a:solidFill>
                <a:latin typeface="Georgia"/>
                <a:ea typeface="Georgia"/>
                <a:cs typeface="Georgia"/>
                <a:sym typeface="Georgia"/>
              </a:rPr>
              <a:t>All data stays in India</a:t>
            </a:r>
            <a:endParaRPr b="0" i="0" sz="3000" u="none" cap="none" strike="noStrike">
              <a:solidFill>
                <a:schemeClr val="dk1"/>
              </a:solidFill>
              <a:latin typeface="Calibri"/>
              <a:ea typeface="Calibri"/>
              <a:cs typeface="Calibri"/>
              <a:sym typeface="Calibri"/>
            </a:endParaRPr>
          </a:p>
        </p:txBody>
      </p:sp>
      <p:sp>
        <p:nvSpPr>
          <p:cNvPr id="212" name="Google Shape;212;p8"/>
          <p:cNvSpPr/>
          <p:nvPr/>
        </p:nvSpPr>
        <p:spPr>
          <a:xfrm>
            <a:off x="640080" y="141732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A4042"/>
              </a:buClr>
              <a:buSzPts val="1400"/>
              <a:buFont typeface="Calibri"/>
              <a:buNone/>
            </a:pPr>
            <a:r>
              <a:rPr b="0" i="0" lang="en-US" sz="1400" u="none" cap="none" strike="noStrike">
                <a:solidFill>
                  <a:srgbClr val="4A4042"/>
                </a:solidFill>
                <a:latin typeface="Calibri"/>
                <a:ea typeface="Calibri"/>
                <a:cs typeface="Calibri"/>
                <a:sym typeface="Calibri"/>
              </a:rPr>
              <a:t>Indian beneficiary data shouldn't sit on servers outside India. It's the first thing the DP team should check, and the one point there's no room to compromise on.</a:t>
            </a:r>
            <a:endParaRPr b="0" i="0" sz="1400" u="none" cap="none" strike="noStrike">
              <a:solidFill>
                <a:schemeClr val="dk1"/>
              </a:solidFill>
              <a:latin typeface="Calibri"/>
              <a:ea typeface="Calibri"/>
              <a:cs typeface="Calibri"/>
              <a:sym typeface="Calibri"/>
            </a:endParaRPr>
          </a:p>
        </p:txBody>
      </p:sp>
      <p:sp>
        <p:nvSpPr>
          <p:cNvPr id="213" name="Google Shape;213;p8"/>
          <p:cNvSpPr/>
          <p:nvPr/>
        </p:nvSpPr>
        <p:spPr>
          <a:xfrm>
            <a:off x="640080" y="2148840"/>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350"/>
              <a:buFont typeface="Calibri"/>
              <a:buNone/>
            </a:pPr>
            <a:r>
              <a:rPr b="1" i="0" lang="en-US" sz="1350" u="none" cap="none" strike="noStrike">
                <a:solidFill>
                  <a:srgbClr val="801020"/>
                </a:solidFill>
                <a:latin typeface="Calibri"/>
                <a:ea typeface="Calibri"/>
                <a:cs typeface="Calibri"/>
                <a:sym typeface="Calibri"/>
              </a:rPr>
              <a:t>The team checks where each tool actually stores its data:</a:t>
            </a:r>
            <a:endParaRPr b="0" i="0" sz="1350" u="none" cap="none" strike="noStrike">
              <a:solidFill>
                <a:schemeClr val="dk1"/>
              </a:solidFill>
              <a:latin typeface="Calibri"/>
              <a:ea typeface="Calibri"/>
              <a:cs typeface="Calibri"/>
              <a:sym typeface="Calibri"/>
            </a:endParaRPr>
          </a:p>
        </p:txBody>
      </p:sp>
      <p:sp>
        <p:nvSpPr>
          <p:cNvPr id="214" name="Google Shape;214;p8"/>
          <p:cNvSpPr/>
          <p:nvPr/>
        </p:nvSpPr>
        <p:spPr>
          <a:xfrm>
            <a:off x="640080" y="2542032"/>
            <a:ext cx="2136038" cy="420624"/>
          </a:xfrm>
          <a:prstGeom prst="roundRect">
            <a:avLst>
              <a:gd fmla="val 17391" name="adj"/>
            </a:avLst>
          </a:prstGeom>
          <a:solidFill>
            <a:srgbClr val="FBE4DF"/>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640080" y="2542032"/>
            <a:ext cx="2136038"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01020"/>
              </a:buClr>
              <a:buSzPts val="1250"/>
              <a:buFont typeface="Calibri"/>
              <a:buNone/>
            </a:pPr>
            <a:r>
              <a:rPr b="1" i="0" lang="en-US" sz="1250" u="none" cap="none" strike="noStrike">
                <a:solidFill>
                  <a:srgbClr val="801020"/>
                </a:solidFill>
                <a:latin typeface="Calibri"/>
                <a:ea typeface="Calibri"/>
                <a:cs typeface="Calibri"/>
                <a:sym typeface="Calibri"/>
              </a:rPr>
              <a:t>Global SaaS tools</a:t>
            </a:r>
            <a:endParaRPr b="0" i="0" sz="1250" u="none" cap="none" strike="noStrike">
              <a:solidFill>
                <a:schemeClr val="dk1"/>
              </a:solidFill>
              <a:latin typeface="Calibri"/>
              <a:ea typeface="Calibri"/>
              <a:cs typeface="Calibri"/>
              <a:sym typeface="Calibri"/>
            </a:endParaRPr>
          </a:p>
        </p:txBody>
      </p:sp>
      <p:sp>
        <p:nvSpPr>
          <p:cNvPr id="216" name="Google Shape;216;p8"/>
          <p:cNvSpPr/>
          <p:nvPr/>
        </p:nvSpPr>
        <p:spPr>
          <a:xfrm>
            <a:off x="3004718" y="2542032"/>
            <a:ext cx="3024835" cy="420624"/>
          </a:xfrm>
          <a:prstGeom prst="roundRect">
            <a:avLst>
              <a:gd fmla="val 17391" name="adj"/>
            </a:avLst>
          </a:prstGeom>
          <a:solidFill>
            <a:srgbClr val="FBE4DF"/>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8"/>
          <p:cNvSpPr/>
          <p:nvPr/>
        </p:nvSpPr>
        <p:spPr>
          <a:xfrm>
            <a:off x="3004718" y="2542032"/>
            <a:ext cx="3024835"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01020"/>
              </a:buClr>
              <a:buSzPts val="1250"/>
              <a:buFont typeface="Calibri"/>
              <a:buNone/>
            </a:pPr>
            <a:r>
              <a:rPr b="1" i="0" lang="en-US" sz="1250" u="none" cap="none" strike="noStrike">
                <a:solidFill>
                  <a:srgbClr val="801020"/>
                </a:solidFill>
                <a:latin typeface="Calibri"/>
                <a:ea typeface="Calibri"/>
                <a:cs typeface="Calibri"/>
                <a:sym typeface="Calibri"/>
              </a:rPr>
              <a:t>Self-hosted or open-source</a:t>
            </a:r>
            <a:endParaRPr b="0" i="0" sz="1250" u="none" cap="none" strike="noStrike">
              <a:solidFill>
                <a:schemeClr val="dk1"/>
              </a:solidFill>
              <a:latin typeface="Calibri"/>
              <a:ea typeface="Calibri"/>
              <a:cs typeface="Calibri"/>
              <a:sym typeface="Calibri"/>
            </a:endParaRPr>
          </a:p>
        </p:txBody>
      </p:sp>
      <p:sp>
        <p:nvSpPr>
          <p:cNvPr id="218" name="Google Shape;218;p8"/>
          <p:cNvSpPr/>
          <p:nvPr/>
        </p:nvSpPr>
        <p:spPr>
          <a:xfrm>
            <a:off x="6258154" y="2542032"/>
            <a:ext cx="2728570" cy="420624"/>
          </a:xfrm>
          <a:prstGeom prst="roundRect">
            <a:avLst>
              <a:gd fmla="val 17391" name="adj"/>
            </a:avLst>
          </a:prstGeom>
          <a:solidFill>
            <a:srgbClr val="FBE4DF"/>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6258154" y="2542032"/>
            <a:ext cx="272857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01020"/>
              </a:buClr>
              <a:buSzPts val="1250"/>
              <a:buFont typeface="Calibri"/>
              <a:buNone/>
            </a:pPr>
            <a:r>
              <a:rPr b="1" i="0" lang="en-US" sz="1250" u="none" cap="none" strike="noStrike">
                <a:solidFill>
                  <a:srgbClr val="801020"/>
                </a:solidFill>
                <a:latin typeface="Calibri"/>
                <a:ea typeface="Calibri"/>
                <a:cs typeface="Calibri"/>
                <a:sym typeface="Calibri"/>
              </a:rPr>
              <a:t>Any third-party service</a:t>
            </a:r>
            <a:endParaRPr b="0" i="0" sz="1250" u="none" cap="none" strike="noStrike">
              <a:solidFill>
                <a:schemeClr val="dk1"/>
              </a:solidFill>
              <a:latin typeface="Calibri"/>
              <a:ea typeface="Calibri"/>
              <a:cs typeface="Calibri"/>
              <a:sym typeface="Calibri"/>
            </a:endParaRPr>
          </a:p>
        </p:txBody>
      </p:sp>
      <p:sp>
        <p:nvSpPr>
          <p:cNvPr id="220" name="Google Shape;220;p8"/>
          <p:cNvSpPr/>
          <p:nvPr/>
        </p:nvSpPr>
        <p:spPr>
          <a:xfrm>
            <a:off x="640080" y="3246120"/>
            <a:ext cx="5303520" cy="1600200"/>
          </a:xfrm>
          <a:prstGeom prst="roundRect">
            <a:avLst>
              <a:gd fmla="val 5143"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914400" y="3566160"/>
            <a:ext cx="566928" cy="566928"/>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2" name="Google Shape;222;p8"/>
          <p:cNvPicPr preferRelativeResize="0"/>
          <p:nvPr/>
        </p:nvPicPr>
        <p:blipFill rotWithShape="1">
          <a:blip r:embed="rId3">
            <a:alphaModFix/>
          </a:blip>
          <a:srcRect b="0" l="0" r="0" t="0"/>
          <a:stretch/>
        </p:blipFill>
        <p:spPr>
          <a:xfrm>
            <a:off x="1033272" y="3685032"/>
            <a:ext cx="329184" cy="329184"/>
          </a:xfrm>
          <a:prstGeom prst="rect">
            <a:avLst/>
          </a:prstGeom>
          <a:noFill/>
          <a:ln>
            <a:noFill/>
          </a:ln>
        </p:spPr>
      </p:pic>
      <p:sp>
        <p:nvSpPr>
          <p:cNvPr id="223" name="Google Shape;223;p8"/>
          <p:cNvSpPr/>
          <p:nvPr/>
        </p:nvSpPr>
        <p:spPr>
          <a:xfrm>
            <a:off x="1645920" y="3575304"/>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600"/>
              <a:buFont typeface="Calibri"/>
              <a:buNone/>
            </a:pPr>
            <a:r>
              <a:rPr b="1" i="0" lang="en-US" sz="1600" u="none" cap="none" strike="noStrike">
                <a:solidFill>
                  <a:srgbClr val="2A1A1D"/>
                </a:solidFill>
                <a:latin typeface="Calibri"/>
                <a:ea typeface="Calibri"/>
                <a:cs typeface="Calibri"/>
                <a:sym typeface="Calibri"/>
              </a:rPr>
              <a:t>If you can keep the tool, move it</a:t>
            </a:r>
            <a:endParaRPr b="0" i="0" sz="1600" u="none" cap="none" strike="noStrike">
              <a:solidFill>
                <a:schemeClr val="dk1"/>
              </a:solidFill>
              <a:latin typeface="Calibri"/>
              <a:ea typeface="Calibri"/>
              <a:cs typeface="Calibri"/>
              <a:sym typeface="Calibri"/>
            </a:endParaRPr>
          </a:p>
        </p:txBody>
      </p:sp>
      <p:sp>
        <p:nvSpPr>
          <p:cNvPr id="224" name="Google Shape;224;p8"/>
          <p:cNvSpPr/>
          <p:nvPr/>
        </p:nvSpPr>
        <p:spPr>
          <a:xfrm>
            <a:off x="1645920" y="3959352"/>
            <a:ext cx="4069080" cy="7772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A4042"/>
              </a:buClr>
              <a:buSzPts val="1250"/>
              <a:buFont typeface="Calibri"/>
              <a:buNone/>
            </a:pPr>
            <a:r>
              <a:rPr b="0" i="0" lang="en-US" sz="1550" u="none" cap="none" strike="noStrike">
                <a:solidFill>
                  <a:srgbClr val="4A4042"/>
                </a:solidFill>
                <a:latin typeface="Calibri"/>
                <a:ea typeface="Calibri"/>
                <a:cs typeface="Calibri"/>
                <a:sym typeface="Calibri"/>
              </a:rPr>
              <a:t>Ask the vendor to host your data in their India region. Many of them have one. Get it confirmed in writing.</a:t>
            </a:r>
            <a:endParaRPr b="0" i="0" sz="1550" u="none" cap="none" strike="noStrike">
              <a:solidFill>
                <a:schemeClr val="dk1"/>
              </a:solidFill>
              <a:latin typeface="Calibri"/>
              <a:ea typeface="Calibri"/>
              <a:cs typeface="Calibri"/>
              <a:sym typeface="Calibri"/>
            </a:endParaRPr>
          </a:p>
        </p:txBody>
      </p:sp>
      <p:sp>
        <p:nvSpPr>
          <p:cNvPr id="225" name="Google Shape;225;p8"/>
          <p:cNvSpPr/>
          <p:nvPr/>
        </p:nvSpPr>
        <p:spPr>
          <a:xfrm>
            <a:off x="6217920" y="3246120"/>
            <a:ext cx="5303520" cy="1600200"/>
          </a:xfrm>
          <a:prstGeom prst="roundRect">
            <a:avLst>
              <a:gd fmla="val 5143"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6492240" y="3566160"/>
            <a:ext cx="566928" cy="566928"/>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7" name="Google Shape;227;p8"/>
          <p:cNvPicPr preferRelativeResize="0"/>
          <p:nvPr/>
        </p:nvPicPr>
        <p:blipFill rotWithShape="1">
          <a:blip r:embed="rId4">
            <a:alphaModFix/>
          </a:blip>
          <a:srcRect b="0" l="0" r="0" t="0"/>
          <a:stretch/>
        </p:blipFill>
        <p:spPr>
          <a:xfrm>
            <a:off x="6611112" y="3685032"/>
            <a:ext cx="329184" cy="329184"/>
          </a:xfrm>
          <a:prstGeom prst="rect">
            <a:avLst/>
          </a:prstGeom>
          <a:noFill/>
          <a:ln>
            <a:noFill/>
          </a:ln>
        </p:spPr>
      </p:pic>
      <p:sp>
        <p:nvSpPr>
          <p:cNvPr id="228" name="Google Shape;228;p8"/>
          <p:cNvSpPr/>
          <p:nvPr/>
        </p:nvSpPr>
        <p:spPr>
          <a:xfrm>
            <a:off x="7223760" y="3575304"/>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600"/>
              <a:buFont typeface="Calibri"/>
              <a:buNone/>
            </a:pPr>
            <a:r>
              <a:rPr b="1" i="0" lang="en-US" sz="1600" u="none" cap="none" strike="noStrike">
                <a:solidFill>
                  <a:srgbClr val="2A1A1D"/>
                </a:solidFill>
                <a:latin typeface="Calibri"/>
                <a:ea typeface="Calibri"/>
                <a:cs typeface="Calibri"/>
                <a:sym typeface="Calibri"/>
              </a:rPr>
              <a:t>If you can't, switch tools</a:t>
            </a:r>
            <a:endParaRPr b="0" i="0" sz="1600" u="none" cap="none" strike="noStrike">
              <a:solidFill>
                <a:schemeClr val="dk1"/>
              </a:solidFill>
              <a:latin typeface="Calibri"/>
              <a:ea typeface="Calibri"/>
              <a:cs typeface="Calibri"/>
              <a:sym typeface="Calibri"/>
            </a:endParaRPr>
          </a:p>
        </p:txBody>
      </p:sp>
      <p:sp>
        <p:nvSpPr>
          <p:cNvPr id="229" name="Google Shape;229;p8"/>
          <p:cNvSpPr/>
          <p:nvPr/>
        </p:nvSpPr>
        <p:spPr>
          <a:xfrm>
            <a:off x="7223760" y="3959352"/>
            <a:ext cx="4069080" cy="7772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A4042"/>
              </a:buClr>
              <a:buSzPts val="1250"/>
              <a:buFont typeface="Calibri"/>
              <a:buNone/>
            </a:pPr>
            <a:r>
              <a:rPr b="0" i="0" lang="en-US" sz="1550" u="none" cap="none" strike="noStrike">
                <a:solidFill>
                  <a:srgbClr val="4A4042"/>
                </a:solidFill>
                <a:latin typeface="Calibri"/>
                <a:ea typeface="Calibri"/>
                <a:cs typeface="Calibri"/>
                <a:sym typeface="Calibri"/>
              </a:rPr>
              <a:t>Find an alternative that stores data in India. The team signs off on the replacement before you move anything.</a:t>
            </a:r>
            <a:endParaRPr b="0" i="0" sz="1550" u="none" cap="none" strike="noStrike">
              <a:solidFill>
                <a:schemeClr val="dk1"/>
              </a:solidFill>
              <a:latin typeface="Calibri"/>
              <a:ea typeface="Calibri"/>
              <a:cs typeface="Calibri"/>
              <a:sym typeface="Calibri"/>
            </a:endParaRPr>
          </a:p>
        </p:txBody>
      </p:sp>
      <p:sp>
        <p:nvSpPr>
          <p:cNvPr id="230" name="Google Shape;230;p8"/>
          <p:cNvSpPr/>
          <p:nvPr/>
        </p:nvSpPr>
        <p:spPr>
          <a:xfrm>
            <a:off x="640080" y="5120640"/>
            <a:ext cx="10881360" cy="658368"/>
          </a:xfrm>
          <a:prstGeom prst="roundRect">
            <a:avLst>
              <a:gd fmla="val 11111" name="adj"/>
            </a:avLst>
          </a:prstGeom>
          <a:solidFill>
            <a:srgbClr val="80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1" name="Google Shape;231;p8"/>
          <p:cNvPicPr preferRelativeResize="0"/>
          <p:nvPr/>
        </p:nvPicPr>
        <p:blipFill rotWithShape="1">
          <a:blip r:embed="rId5">
            <a:alphaModFix/>
          </a:blip>
          <a:srcRect b="0" l="0" r="0" t="0"/>
          <a:stretch/>
        </p:blipFill>
        <p:spPr>
          <a:xfrm>
            <a:off x="960120" y="5266944"/>
            <a:ext cx="365760" cy="365760"/>
          </a:xfrm>
          <a:prstGeom prst="rect">
            <a:avLst/>
          </a:prstGeom>
          <a:noFill/>
          <a:ln>
            <a:noFill/>
          </a:ln>
        </p:spPr>
      </p:pic>
      <p:sp>
        <p:nvSpPr>
          <p:cNvPr id="232" name="Google Shape;232;p8"/>
          <p:cNvSpPr/>
          <p:nvPr/>
        </p:nvSpPr>
        <p:spPr>
          <a:xfrm>
            <a:off x="1463040" y="5120640"/>
            <a:ext cx="98755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The bottom line: Indian beneficiary data stays inside India.</a:t>
            </a:r>
            <a:endParaRPr b="0" i="0" sz="1500" u="none" cap="none" strike="noStrike">
              <a:solidFill>
                <a:schemeClr val="dk1"/>
              </a:solidFill>
              <a:latin typeface="Calibri"/>
              <a:ea typeface="Calibri"/>
              <a:cs typeface="Calibri"/>
              <a:sym typeface="Calibri"/>
            </a:endParaRPr>
          </a:p>
        </p:txBody>
      </p:sp>
      <p:sp>
        <p:nvSpPr>
          <p:cNvPr id="233" name="Google Shape;233;p8"/>
          <p:cNvSpPr/>
          <p:nvPr/>
        </p:nvSpPr>
        <p:spPr>
          <a:xfrm>
            <a:off x="11430000" y="640080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
        <p:nvSpPr>
          <p:cNvPr id="234" name="Google Shape;234;p8"/>
          <p:cNvSpPr/>
          <p:nvPr/>
        </p:nvSpPr>
        <p:spPr>
          <a:xfrm>
            <a:off x="64008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Dhwani RIS  ·  DPDP Adoption Approach</a:t>
            </a:r>
            <a:endParaRPr b="0" i="0" sz="1000" u="none" cap="none" strike="noStrike">
              <a:solidFill>
                <a:schemeClr val="dk1"/>
              </a:solidFill>
              <a:latin typeface="Calibri"/>
              <a:ea typeface="Calibri"/>
              <a:cs typeface="Calibri"/>
              <a:sym typeface="Calibri"/>
            </a:endParaRPr>
          </a:p>
        </p:txBody>
      </p:sp>
      <p:pic>
        <p:nvPicPr>
          <p:cNvPr id="235" name="Google Shape;235;p8" title="Dhwani final Logo.png"/>
          <p:cNvPicPr preferRelativeResize="0"/>
          <p:nvPr/>
        </p:nvPicPr>
        <p:blipFill>
          <a:blip r:embed="rId6">
            <a:alphaModFix/>
          </a:blip>
          <a:stretch>
            <a:fillRect/>
          </a:stretch>
        </p:blipFill>
        <p:spPr>
          <a:xfrm>
            <a:off x="10672223" y="129275"/>
            <a:ext cx="1336829" cy="502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 name="Shape 240"/>
        <p:cNvGrpSpPr/>
        <p:nvPr/>
      </p:nvGrpSpPr>
      <p:grpSpPr>
        <a:xfrm>
          <a:off x="0" y="0"/>
          <a:ext cx="0" cy="0"/>
          <a:chOff x="0" y="0"/>
          <a:chExt cx="0" cy="0"/>
        </a:xfrm>
      </p:grpSpPr>
      <p:sp>
        <p:nvSpPr>
          <p:cNvPr id="241" name="Google Shape;241;p9"/>
          <p:cNvSpPr/>
          <p:nvPr/>
        </p:nvSpPr>
        <p:spPr>
          <a:xfrm>
            <a:off x="64008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200"/>
              <a:buFont typeface="Calibri"/>
              <a:buNone/>
            </a:pPr>
            <a:r>
              <a:rPr b="1" i="0" lang="en-US" sz="1200" u="none" cap="none" strike="noStrike">
                <a:solidFill>
                  <a:srgbClr val="F08030"/>
                </a:solidFill>
                <a:latin typeface="Calibri"/>
                <a:ea typeface="Calibri"/>
                <a:cs typeface="Calibri"/>
                <a:sym typeface="Calibri"/>
              </a:rPr>
              <a:t>A SPECIAL CATEGORY</a:t>
            </a:r>
            <a:endParaRPr b="0" i="0" sz="1200" u="none" cap="none" strike="noStrike">
              <a:solidFill>
                <a:schemeClr val="dk1"/>
              </a:solidFill>
              <a:latin typeface="Calibri"/>
              <a:ea typeface="Calibri"/>
              <a:cs typeface="Calibri"/>
              <a:sym typeface="Calibri"/>
            </a:endParaRPr>
          </a:p>
        </p:txBody>
      </p:sp>
      <p:sp>
        <p:nvSpPr>
          <p:cNvPr id="242" name="Google Shape;242;p9"/>
          <p:cNvSpPr/>
          <p:nvPr/>
        </p:nvSpPr>
        <p:spPr>
          <a:xfrm>
            <a:off x="640080" y="68580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01020"/>
              </a:buClr>
              <a:buSzPts val="3000"/>
              <a:buFont typeface="Georgia"/>
              <a:buNone/>
            </a:pPr>
            <a:r>
              <a:rPr b="1" i="0" lang="en-US" sz="3000" u="none" cap="none" strike="noStrike">
                <a:solidFill>
                  <a:srgbClr val="801020"/>
                </a:solidFill>
                <a:latin typeface="Georgia"/>
                <a:ea typeface="Georgia"/>
                <a:cs typeface="Georgia"/>
                <a:sym typeface="Georgia"/>
              </a:rPr>
              <a:t>Extra care for children and persons with disabilities</a:t>
            </a:r>
            <a:endParaRPr b="0" i="0" sz="3000" u="none" cap="none" strike="noStrike">
              <a:solidFill>
                <a:schemeClr val="dk1"/>
              </a:solidFill>
              <a:latin typeface="Calibri"/>
              <a:ea typeface="Calibri"/>
              <a:cs typeface="Calibri"/>
              <a:sym typeface="Calibri"/>
            </a:endParaRPr>
          </a:p>
        </p:txBody>
      </p:sp>
      <p:sp>
        <p:nvSpPr>
          <p:cNvPr id="243" name="Google Shape;243;p9"/>
          <p:cNvSpPr/>
          <p:nvPr/>
        </p:nvSpPr>
        <p:spPr>
          <a:xfrm>
            <a:off x="640080" y="1627632"/>
            <a:ext cx="1088136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A4042"/>
              </a:buClr>
              <a:buSzPts val="1400"/>
              <a:buFont typeface="Calibri"/>
              <a:buNone/>
            </a:pPr>
            <a:r>
              <a:rPr b="0" i="0" lang="en-US" sz="1400" u="none" cap="none" strike="noStrike">
                <a:solidFill>
                  <a:srgbClr val="4A4042"/>
                </a:solidFill>
                <a:latin typeface="Calibri"/>
                <a:ea typeface="Calibri"/>
                <a:cs typeface="Calibri"/>
                <a:sym typeface="Calibri"/>
              </a:rPr>
              <a:t>A lot of NGOs work directly with children or with persons with disabilities. The law sets a higher bar for their data, and these rules aren't optional.</a:t>
            </a:r>
            <a:endParaRPr b="0" i="0" sz="1400" u="none" cap="none" strike="noStrike">
              <a:solidFill>
                <a:schemeClr val="dk1"/>
              </a:solidFill>
              <a:latin typeface="Calibri"/>
              <a:ea typeface="Calibri"/>
              <a:cs typeface="Calibri"/>
              <a:sym typeface="Calibri"/>
            </a:endParaRPr>
          </a:p>
        </p:txBody>
      </p:sp>
      <p:sp>
        <p:nvSpPr>
          <p:cNvPr id="244" name="Google Shape;244;p9"/>
          <p:cNvSpPr/>
          <p:nvPr/>
        </p:nvSpPr>
        <p:spPr>
          <a:xfrm>
            <a:off x="640080" y="2240280"/>
            <a:ext cx="5303520" cy="1234440"/>
          </a:xfrm>
          <a:prstGeom prst="roundRect">
            <a:avLst>
              <a:gd fmla="val 5926"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p:nvPr/>
        </p:nvSpPr>
        <p:spPr>
          <a:xfrm>
            <a:off x="896112" y="2578608"/>
            <a:ext cx="548640" cy="548640"/>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6" name="Google Shape;246;p9"/>
          <p:cNvPicPr preferRelativeResize="0"/>
          <p:nvPr/>
        </p:nvPicPr>
        <p:blipFill rotWithShape="1">
          <a:blip r:embed="rId3">
            <a:alphaModFix/>
          </a:blip>
          <a:srcRect b="0" l="0" r="0" t="0"/>
          <a:stretch/>
        </p:blipFill>
        <p:spPr>
          <a:xfrm>
            <a:off x="1005840" y="2688336"/>
            <a:ext cx="329184" cy="329184"/>
          </a:xfrm>
          <a:prstGeom prst="rect">
            <a:avLst/>
          </a:prstGeom>
          <a:noFill/>
          <a:ln>
            <a:noFill/>
          </a:ln>
        </p:spPr>
      </p:pic>
      <p:sp>
        <p:nvSpPr>
          <p:cNvPr id="247" name="Google Shape;247;p9"/>
          <p:cNvSpPr/>
          <p:nvPr/>
        </p:nvSpPr>
        <p:spPr>
          <a:xfrm>
            <a:off x="1600200" y="2441448"/>
            <a:ext cx="41605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50"/>
              <a:buFont typeface="Calibri"/>
              <a:buNone/>
            </a:pPr>
            <a:r>
              <a:rPr b="1" i="0" lang="en-US" sz="1550" u="none" cap="none" strike="noStrike">
                <a:solidFill>
                  <a:srgbClr val="2A1A1D"/>
                </a:solidFill>
                <a:latin typeface="Calibri"/>
                <a:ea typeface="Calibri"/>
                <a:cs typeface="Calibri"/>
                <a:sym typeface="Calibri"/>
              </a:rPr>
              <a:t>Verifiable parental consent</a:t>
            </a:r>
            <a:endParaRPr b="0" i="0" sz="1550" u="none" cap="none" strike="noStrike">
              <a:solidFill>
                <a:schemeClr val="dk1"/>
              </a:solidFill>
              <a:latin typeface="Calibri"/>
              <a:ea typeface="Calibri"/>
              <a:cs typeface="Calibri"/>
              <a:sym typeface="Calibri"/>
            </a:endParaRPr>
          </a:p>
        </p:txBody>
      </p:sp>
      <p:sp>
        <p:nvSpPr>
          <p:cNvPr id="248" name="Google Shape;248;p9"/>
          <p:cNvSpPr/>
          <p:nvPr/>
        </p:nvSpPr>
        <p:spPr>
          <a:xfrm>
            <a:off x="1600200" y="2788920"/>
            <a:ext cx="4160520" cy="603504"/>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A4042"/>
              </a:buClr>
              <a:buSzPts val="1250"/>
              <a:buFont typeface="Calibri"/>
              <a:buNone/>
            </a:pPr>
            <a:r>
              <a:rPr b="0" i="0" lang="en-US" sz="1250" u="none" cap="none" strike="noStrike">
                <a:solidFill>
                  <a:srgbClr val="4A4042"/>
                </a:solidFill>
                <a:latin typeface="Calibri"/>
                <a:ea typeface="Calibri"/>
                <a:cs typeface="Calibri"/>
                <a:sym typeface="Calibri"/>
              </a:rPr>
              <a:t>Get consent from a parent or guardian, in a way you can actually prove.</a:t>
            </a:r>
            <a:endParaRPr b="0" i="0" sz="1250" u="none" cap="none" strike="noStrike">
              <a:solidFill>
                <a:schemeClr val="dk1"/>
              </a:solidFill>
              <a:latin typeface="Calibri"/>
              <a:ea typeface="Calibri"/>
              <a:cs typeface="Calibri"/>
              <a:sym typeface="Calibri"/>
            </a:endParaRPr>
          </a:p>
        </p:txBody>
      </p:sp>
      <p:sp>
        <p:nvSpPr>
          <p:cNvPr id="249" name="Google Shape;249;p9"/>
          <p:cNvSpPr/>
          <p:nvPr/>
        </p:nvSpPr>
        <p:spPr>
          <a:xfrm>
            <a:off x="6217920" y="2240280"/>
            <a:ext cx="5303520" cy="1234440"/>
          </a:xfrm>
          <a:prstGeom prst="roundRect">
            <a:avLst>
              <a:gd fmla="val 5926"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9"/>
          <p:cNvSpPr/>
          <p:nvPr/>
        </p:nvSpPr>
        <p:spPr>
          <a:xfrm>
            <a:off x="6473952" y="2578608"/>
            <a:ext cx="548640" cy="548640"/>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1" name="Google Shape;251;p9"/>
          <p:cNvPicPr preferRelativeResize="0"/>
          <p:nvPr/>
        </p:nvPicPr>
        <p:blipFill rotWithShape="1">
          <a:blip r:embed="rId4">
            <a:alphaModFix/>
          </a:blip>
          <a:srcRect b="0" l="0" r="0" t="0"/>
          <a:stretch/>
        </p:blipFill>
        <p:spPr>
          <a:xfrm>
            <a:off x="6583680" y="2688336"/>
            <a:ext cx="329184" cy="329184"/>
          </a:xfrm>
          <a:prstGeom prst="rect">
            <a:avLst/>
          </a:prstGeom>
          <a:noFill/>
          <a:ln>
            <a:noFill/>
          </a:ln>
        </p:spPr>
      </p:pic>
      <p:sp>
        <p:nvSpPr>
          <p:cNvPr id="252" name="Google Shape;252;p9"/>
          <p:cNvSpPr/>
          <p:nvPr/>
        </p:nvSpPr>
        <p:spPr>
          <a:xfrm>
            <a:off x="7178040" y="2441448"/>
            <a:ext cx="41605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50"/>
              <a:buFont typeface="Calibri"/>
              <a:buNone/>
            </a:pPr>
            <a:r>
              <a:rPr b="1" i="0" lang="en-US" sz="1550" u="none" cap="none" strike="noStrike">
                <a:solidFill>
                  <a:srgbClr val="2A1A1D"/>
                </a:solidFill>
                <a:latin typeface="Calibri"/>
                <a:ea typeface="Calibri"/>
                <a:cs typeface="Calibri"/>
                <a:sym typeface="Calibri"/>
              </a:rPr>
              <a:t>Check the relationship</a:t>
            </a:r>
            <a:endParaRPr b="0" i="0" sz="1550" u="none" cap="none" strike="noStrike">
              <a:solidFill>
                <a:schemeClr val="dk1"/>
              </a:solidFill>
              <a:latin typeface="Calibri"/>
              <a:ea typeface="Calibri"/>
              <a:cs typeface="Calibri"/>
              <a:sym typeface="Calibri"/>
            </a:endParaRPr>
          </a:p>
        </p:txBody>
      </p:sp>
      <p:sp>
        <p:nvSpPr>
          <p:cNvPr id="253" name="Google Shape;253;p9"/>
          <p:cNvSpPr/>
          <p:nvPr/>
        </p:nvSpPr>
        <p:spPr>
          <a:xfrm>
            <a:off x="7178040" y="2788920"/>
            <a:ext cx="4160520" cy="603504"/>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A4042"/>
              </a:buClr>
              <a:buSzPts val="1250"/>
              <a:buFont typeface="Calibri"/>
              <a:buNone/>
            </a:pPr>
            <a:r>
              <a:rPr b="0" i="0" lang="en-US" sz="1250" u="none" cap="none" strike="noStrike">
                <a:solidFill>
                  <a:srgbClr val="4A4042"/>
                </a:solidFill>
                <a:latin typeface="Calibri"/>
                <a:ea typeface="Calibri"/>
                <a:cs typeface="Calibri"/>
                <a:sym typeface="Calibri"/>
              </a:rPr>
              <a:t>Confirm the person giving consent really is the child's parent or the individual's guardian.</a:t>
            </a:r>
            <a:endParaRPr b="0" i="0" sz="1250" u="none" cap="none" strike="noStrike">
              <a:solidFill>
                <a:schemeClr val="dk1"/>
              </a:solidFill>
              <a:latin typeface="Calibri"/>
              <a:ea typeface="Calibri"/>
              <a:cs typeface="Calibri"/>
              <a:sym typeface="Calibri"/>
            </a:endParaRPr>
          </a:p>
        </p:txBody>
      </p:sp>
      <p:sp>
        <p:nvSpPr>
          <p:cNvPr id="254" name="Google Shape;254;p9"/>
          <p:cNvSpPr/>
          <p:nvPr/>
        </p:nvSpPr>
        <p:spPr>
          <a:xfrm>
            <a:off x="640080" y="3584448"/>
            <a:ext cx="5303520" cy="1234440"/>
          </a:xfrm>
          <a:prstGeom prst="roundRect">
            <a:avLst>
              <a:gd fmla="val 5926"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9"/>
          <p:cNvSpPr/>
          <p:nvPr/>
        </p:nvSpPr>
        <p:spPr>
          <a:xfrm>
            <a:off x="896112" y="3922776"/>
            <a:ext cx="548640" cy="548640"/>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6" name="Google Shape;256;p9"/>
          <p:cNvPicPr preferRelativeResize="0"/>
          <p:nvPr/>
        </p:nvPicPr>
        <p:blipFill rotWithShape="1">
          <a:blip r:embed="rId5">
            <a:alphaModFix/>
          </a:blip>
          <a:srcRect b="0" l="0" r="0" t="0"/>
          <a:stretch/>
        </p:blipFill>
        <p:spPr>
          <a:xfrm>
            <a:off x="1005840" y="4032504"/>
            <a:ext cx="329184" cy="329184"/>
          </a:xfrm>
          <a:prstGeom prst="rect">
            <a:avLst/>
          </a:prstGeom>
          <a:noFill/>
          <a:ln>
            <a:noFill/>
          </a:ln>
        </p:spPr>
      </p:pic>
      <p:sp>
        <p:nvSpPr>
          <p:cNvPr id="257" name="Google Shape;257;p9"/>
          <p:cNvSpPr/>
          <p:nvPr/>
        </p:nvSpPr>
        <p:spPr>
          <a:xfrm>
            <a:off x="1600200" y="3785616"/>
            <a:ext cx="41605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50"/>
              <a:buFont typeface="Calibri"/>
              <a:buNone/>
            </a:pPr>
            <a:r>
              <a:rPr b="1" i="0" lang="en-US" sz="1550" u="none" cap="none" strike="noStrike">
                <a:solidFill>
                  <a:srgbClr val="2A1A1D"/>
                </a:solidFill>
                <a:latin typeface="Calibri"/>
                <a:ea typeface="Calibri"/>
                <a:cs typeface="Calibri"/>
                <a:sym typeface="Calibri"/>
              </a:rPr>
              <a:t>No tracking or targeted ads</a:t>
            </a:r>
            <a:endParaRPr b="0" i="0" sz="1550" u="none" cap="none" strike="noStrike">
              <a:solidFill>
                <a:schemeClr val="dk1"/>
              </a:solidFill>
              <a:latin typeface="Calibri"/>
              <a:ea typeface="Calibri"/>
              <a:cs typeface="Calibri"/>
              <a:sym typeface="Calibri"/>
            </a:endParaRPr>
          </a:p>
        </p:txBody>
      </p:sp>
      <p:sp>
        <p:nvSpPr>
          <p:cNvPr id="258" name="Google Shape;258;p9"/>
          <p:cNvSpPr/>
          <p:nvPr/>
        </p:nvSpPr>
        <p:spPr>
          <a:xfrm>
            <a:off x="1600200" y="4133088"/>
            <a:ext cx="4160520" cy="603504"/>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A4042"/>
              </a:buClr>
              <a:buSzPts val="1250"/>
              <a:buFont typeface="Calibri"/>
              <a:buNone/>
            </a:pPr>
            <a:r>
              <a:rPr b="0" i="0" lang="en-US" sz="1250" u="none" cap="none" strike="noStrike">
                <a:solidFill>
                  <a:srgbClr val="4A4042"/>
                </a:solidFill>
                <a:latin typeface="Calibri"/>
                <a:ea typeface="Calibri"/>
                <a:cs typeface="Calibri"/>
                <a:sym typeface="Calibri"/>
              </a:rPr>
              <a:t>Don't track their behaviour, monitor them, or use their data for targeted advertising.</a:t>
            </a:r>
            <a:endParaRPr b="0" i="0" sz="1250" u="none" cap="none" strike="noStrike">
              <a:solidFill>
                <a:schemeClr val="dk1"/>
              </a:solidFill>
              <a:latin typeface="Calibri"/>
              <a:ea typeface="Calibri"/>
              <a:cs typeface="Calibri"/>
              <a:sym typeface="Calibri"/>
            </a:endParaRPr>
          </a:p>
        </p:txBody>
      </p:sp>
      <p:sp>
        <p:nvSpPr>
          <p:cNvPr id="259" name="Google Shape;259;p9"/>
          <p:cNvSpPr/>
          <p:nvPr/>
        </p:nvSpPr>
        <p:spPr>
          <a:xfrm>
            <a:off x="6217920" y="3584448"/>
            <a:ext cx="5303520" cy="1234440"/>
          </a:xfrm>
          <a:prstGeom prst="roundRect">
            <a:avLst>
              <a:gd fmla="val 5926"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
          <p:cNvSpPr/>
          <p:nvPr/>
        </p:nvSpPr>
        <p:spPr>
          <a:xfrm>
            <a:off x="6473952" y="3922776"/>
            <a:ext cx="548640" cy="548640"/>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1" name="Google Shape;261;p9"/>
          <p:cNvPicPr preferRelativeResize="0"/>
          <p:nvPr/>
        </p:nvPicPr>
        <p:blipFill rotWithShape="1">
          <a:blip r:embed="rId6">
            <a:alphaModFix/>
          </a:blip>
          <a:srcRect b="0" l="0" r="0" t="0"/>
          <a:stretch/>
        </p:blipFill>
        <p:spPr>
          <a:xfrm>
            <a:off x="6583680" y="4032504"/>
            <a:ext cx="329184" cy="329184"/>
          </a:xfrm>
          <a:prstGeom prst="rect">
            <a:avLst/>
          </a:prstGeom>
          <a:noFill/>
          <a:ln>
            <a:noFill/>
          </a:ln>
        </p:spPr>
      </p:pic>
      <p:sp>
        <p:nvSpPr>
          <p:cNvPr id="262" name="Google Shape;262;p9"/>
          <p:cNvSpPr/>
          <p:nvPr/>
        </p:nvSpPr>
        <p:spPr>
          <a:xfrm>
            <a:off x="7178040" y="3785616"/>
            <a:ext cx="41605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50"/>
              <a:buFont typeface="Calibri"/>
              <a:buNone/>
            </a:pPr>
            <a:r>
              <a:rPr b="1" i="0" lang="en-US" sz="1550" u="none" cap="none" strike="noStrike">
                <a:solidFill>
                  <a:srgbClr val="2A1A1D"/>
                </a:solidFill>
                <a:latin typeface="Calibri"/>
                <a:ea typeface="Calibri"/>
                <a:cs typeface="Calibri"/>
                <a:sym typeface="Calibri"/>
              </a:rPr>
              <a:t>Nothing that could harm them</a:t>
            </a:r>
            <a:endParaRPr b="0" i="0" sz="1550" u="none" cap="none" strike="noStrike">
              <a:solidFill>
                <a:schemeClr val="dk1"/>
              </a:solidFill>
              <a:latin typeface="Calibri"/>
              <a:ea typeface="Calibri"/>
              <a:cs typeface="Calibri"/>
              <a:sym typeface="Calibri"/>
            </a:endParaRPr>
          </a:p>
        </p:txBody>
      </p:sp>
      <p:sp>
        <p:nvSpPr>
          <p:cNvPr id="263" name="Google Shape;263;p9"/>
          <p:cNvSpPr/>
          <p:nvPr/>
        </p:nvSpPr>
        <p:spPr>
          <a:xfrm>
            <a:off x="7178040" y="4133088"/>
            <a:ext cx="4160520" cy="603504"/>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A4042"/>
              </a:buClr>
              <a:buSzPts val="1250"/>
              <a:buFont typeface="Calibri"/>
              <a:buNone/>
            </a:pPr>
            <a:r>
              <a:rPr b="0" i="0" lang="en-US" sz="1250" u="none" cap="none" strike="noStrike">
                <a:solidFill>
                  <a:srgbClr val="4A4042"/>
                </a:solidFill>
                <a:latin typeface="Calibri"/>
                <a:ea typeface="Calibri"/>
                <a:cs typeface="Calibri"/>
                <a:sym typeface="Calibri"/>
              </a:rPr>
              <a:t>Avoid any use of the data that could have a harmful effect on their well-being.</a:t>
            </a:r>
            <a:endParaRPr b="0" i="0" sz="1250" u="none" cap="none" strike="noStrike">
              <a:solidFill>
                <a:schemeClr val="dk1"/>
              </a:solidFill>
              <a:latin typeface="Calibri"/>
              <a:ea typeface="Calibri"/>
              <a:cs typeface="Calibri"/>
              <a:sym typeface="Calibri"/>
            </a:endParaRPr>
          </a:p>
        </p:txBody>
      </p:sp>
      <p:sp>
        <p:nvSpPr>
          <p:cNvPr id="264" name="Google Shape;264;p9"/>
          <p:cNvSpPr/>
          <p:nvPr/>
        </p:nvSpPr>
        <p:spPr>
          <a:xfrm>
            <a:off x="640080" y="5138928"/>
            <a:ext cx="10881360" cy="658368"/>
          </a:xfrm>
          <a:prstGeom prst="roundRect">
            <a:avLst>
              <a:gd fmla="val 11111" name="adj"/>
            </a:avLst>
          </a:prstGeom>
          <a:solidFill>
            <a:srgbClr val="80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5" name="Google Shape;265;p9"/>
          <p:cNvPicPr preferRelativeResize="0"/>
          <p:nvPr/>
        </p:nvPicPr>
        <p:blipFill rotWithShape="1">
          <a:blip r:embed="rId7">
            <a:alphaModFix/>
          </a:blip>
          <a:srcRect b="0" l="0" r="0" t="0"/>
          <a:stretch/>
        </p:blipFill>
        <p:spPr>
          <a:xfrm>
            <a:off x="960120" y="5285232"/>
            <a:ext cx="365760" cy="365760"/>
          </a:xfrm>
          <a:prstGeom prst="rect">
            <a:avLst/>
          </a:prstGeom>
          <a:noFill/>
          <a:ln>
            <a:noFill/>
          </a:ln>
        </p:spPr>
      </p:pic>
      <p:sp>
        <p:nvSpPr>
          <p:cNvPr id="266" name="Google Shape;266;p9"/>
          <p:cNvSpPr/>
          <p:nvPr/>
        </p:nvSpPr>
        <p:spPr>
          <a:xfrm>
            <a:off x="1463040" y="5138928"/>
            <a:ext cx="98755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The Data Protection team checks all four before any of this data is collected.</a:t>
            </a:r>
            <a:endParaRPr b="0" i="0" sz="1450" u="none" cap="none" strike="noStrike">
              <a:solidFill>
                <a:schemeClr val="dk1"/>
              </a:solidFill>
              <a:latin typeface="Calibri"/>
              <a:ea typeface="Calibri"/>
              <a:cs typeface="Calibri"/>
              <a:sym typeface="Calibri"/>
            </a:endParaRPr>
          </a:p>
        </p:txBody>
      </p:sp>
      <p:sp>
        <p:nvSpPr>
          <p:cNvPr id="267" name="Google Shape;267;p9"/>
          <p:cNvSpPr/>
          <p:nvPr/>
        </p:nvSpPr>
        <p:spPr>
          <a:xfrm>
            <a:off x="11430000" y="640080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
        <p:nvSpPr>
          <p:cNvPr id="268" name="Google Shape;268;p9"/>
          <p:cNvSpPr/>
          <p:nvPr/>
        </p:nvSpPr>
        <p:spPr>
          <a:xfrm>
            <a:off x="64008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Dhwani RIS  ·  DPDP Adoption Approach</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3" name="Shape 273"/>
        <p:cNvGrpSpPr/>
        <p:nvPr/>
      </p:nvGrpSpPr>
      <p:grpSpPr>
        <a:xfrm>
          <a:off x="0" y="0"/>
          <a:ext cx="0" cy="0"/>
          <a:chOff x="0" y="0"/>
          <a:chExt cx="0" cy="0"/>
        </a:xfrm>
      </p:grpSpPr>
      <p:pic>
        <p:nvPicPr>
          <p:cNvPr id="274" name="Google Shape;274;p10" title="Dhwani final Logo.png"/>
          <p:cNvPicPr preferRelativeResize="0"/>
          <p:nvPr/>
        </p:nvPicPr>
        <p:blipFill>
          <a:blip r:embed="rId3">
            <a:alphaModFix/>
          </a:blip>
          <a:stretch>
            <a:fillRect/>
          </a:stretch>
        </p:blipFill>
        <p:spPr>
          <a:xfrm>
            <a:off x="10672223" y="129275"/>
            <a:ext cx="1336829" cy="502900"/>
          </a:xfrm>
          <a:prstGeom prst="rect">
            <a:avLst/>
          </a:prstGeom>
          <a:noFill/>
          <a:ln>
            <a:noFill/>
          </a:ln>
        </p:spPr>
      </p:pic>
      <p:sp>
        <p:nvSpPr>
          <p:cNvPr id="275" name="Google Shape;275;p10"/>
          <p:cNvSpPr/>
          <p:nvPr/>
        </p:nvSpPr>
        <p:spPr>
          <a:xfrm>
            <a:off x="64008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200"/>
              <a:buFont typeface="Calibri"/>
              <a:buNone/>
            </a:pPr>
            <a:r>
              <a:rPr b="1" i="0" lang="en-US" sz="1200" u="none" cap="none" strike="noStrike">
                <a:solidFill>
                  <a:srgbClr val="F08030"/>
                </a:solidFill>
                <a:latin typeface="Calibri"/>
                <a:ea typeface="Calibri"/>
                <a:cs typeface="Calibri"/>
                <a:sym typeface="Calibri"/>
              </a:rPr>
              <a:t>WORKING WITH DHWANI</a:t>
            </a:r>
            <a:endParaRPr b="0" i="0" sz="1200" u="none" cap="none" strike="noStrike">
              <a:solidFill>
                <a:schemeClr val="dk1"/>
              </a:solidFill>
              <a:latin typeface="Calibri"/>
              <a:ea typeface="Calibri"/>
              <a:cs typeface="Calibri"/>
              <a:sym typeface="Calibri"/>
            </a:endParaRPr>
          </a:p>
        </p:txBody>
      </p:sp>
      <p:sp>
        <p:nvSpPr>
          <p:cNvPr id="276" name="Google Shape;276;p10"/>
          <p:cNvSpPr/>
          <p:nvPr/>
        </p:nvSpPr>
        <p:spPr>
          <a:xfrm>
            <a:off x="428595" y="685800"/>
            <a:ext cx="11428800" cy="85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01020"/>
              </a:buClr>
              <a:buSzPts val="3125"/>
              <a:buFont typeface="Georgia"/>
              <a:buNone/>
            </a:pPr>
            <a:r>
              <a:rPr b="1" i="0" lang="en-US" sz="3125" u="none" cap="none" strike="noStrike">
                <a:solidFill>
                  <a:srgbClr val="801020"/>
                </a:solidFill>
                <a:latin typeface="Georgia"/>
                <a:ea typeface="Georgia"/>
                <a:cs typeface="Georgia"/>
                <a:sym typeface="Georgia"/>
              </a:rPr>
              <a:t>How the engagement works</a:t>
            </a:r>
            <a:endParaRPr b="0" i="0" sz="3125" u="none" cap="none" strike="noStrike">
              <a:solidFill>
                <a:schemeClr val="dk1"/>
              </a:solidFill>
              <a:latin typeface="Calibri"/>
              <a:ea typeface="Calibri"/>
              <a:cs typeface="Calibri"/>
              <a:sym typeface="Calibri"/>
            </a:endParaRPr>
          </a:p>
        </p:txBody>
      </p:sp>
      <p:sp>
        <p:nvSpPr>
          <p:cNvPr id="277" name="Google Shape;277;p10"/>
          <p:cNvSpPr/>
          <p:nvPr/>
        </p:nvSpPr>
        <p:spPr>
          <a:xfrm>
            <a:off x="428600" y="1876300"/>
            <a:ext cx="2685900" cy="3159900"/>
          </a:xfrm>
          <a:prstGeom prst="roundRect">
            <a:avLst>
              <a:gd fmla="val 3546" name="adj"/>
            </a:avLst>
          </a:prstGeom>
          <a:solidFill>
            <a:srgbClr val="FBF4F3"/>
          </a:solidFill>
          <a:ln cap="flat" cmpd="sng" w="13225">
            <a:solidFill>
              <a:srgbClr val="EADCDA"/>
            </a:solidFill>
            <a:prstDash val="solid"/>
            <a:round/>
            <a:headEnd len="sm" w="sm" type="none"/>
            <a:tailEnd len="sm" w="sm" type="none"/>
          </a:ln>
          <a:effectLst>
            <a:outerShdw blurRad="66139" rotWithShape="0" algn="bl" dir="8100000" dist="26456">
              <a:srgbClr val="0F172A">
                <a:alpha val="7843"/>
              </a:srgbClr>
            </a:outerShdw>
          </a:effectLst>
        </p:spPr>
        <p:txBody>
          <a:bodyPr anchorCtr="0" anchor="ctr" bIns="95225" lIns="95225" spcFirstLastPara="1" rIns="95225" wrap="square" tIns="95225">
            <a:noAutofit/>
          </a:bodyPr>
          <a:lstStyle/>
          <a:p>
            <a:pPr indent="0" lvl="0" marL="0" rtl="0" algn="l">
              <a:spcBef>
                <a:spcPts val="0"/>
              </a:spcBef>
              <a:spcAft>
                <a:spcPts val="0"/>
              </a:spcAft>
              <a:buNone/>
            </a:pPr>
            <a:r>
              <a:t/>
            </a:r>
            <a:endParaRPr/>
          </a:p>
        </p:txBody>
      </p:sp>
      <p:sp>
        <p:nvSpPr>
          <p:cNvPr id="278" name="Google Shape;278;p10"/>
          <p:cNvSpPr/>
          <p:nvPr/>
        </p:nvSpPr>
        <p:spPr>
          <a:xfrm>
            <a:off x="695273" y="2182107"/>
            <a:ext cx="685800" cy="734100"/>
          </a:xfrm>
          <a:prstGeom prst="ellipse">
            <a:avLst/>
          </a:prstGeom>
          <a:solidFill>
            <a:srgbClr val="801020"/>
          </a:solidFill>
          <a:ln>
            <a:noFill/>
          </a:ln>
        </p:spPr>
        <p:txBody>
          <a:bodyPr anchorCtr="0" anchor="ctr" bIns="95225" lIns="95225" spcFirstLastPara="1" rIns="95225" wrap="square" tIns="95225">
            <a:noAutofit/>
          </a:bodyPr>
          <a:lstStyle/>
          <a:p>
            <a:pPr indent="0" lvl="0" marL="0" rtl="0" algn="l">
              <a:spcBef>
                <a:spcPts val="0"/>
              </a:spcBef>
              <a:spcAft>
                <a:spcPts val="0"/>
              </a:spcAft>
              <a:buNone/>
            </a:pPr>
            <a:r>
              <a:t/>
            </a:r>
            <a:endParaRPr/>
          </a:p>
        </p:txBody>
      </p:sp>
      <p:pic>
        <p:nvPicPr>
          <p:cNvPr descr="preencoded.png" id="279" name="Google Shape;279;p10"/>
          <p:cNvPicPr preferRelativeResize="0"/>
          <p:nvPr/>
        </p:nvPicPr>
        <p:blipFill rotWithShape="1">
          <a:blip r:embed="rId4">
            <a:alphaModFix/>
          </a:blip>
          <a:srcRect b="0" l="0" r="0" t="0"/>
          <a:stretch/>
        </p:blipFill>
        <p:spPr>
          <a:xfrm>
            <a:off x="857182" y="2355398"/>
            <a:ext cx="361913" cy="387355"/>
          </a:xfrm>
          <a:prstGeom prst="rect">
            <a:avLst/>
          </a:prstGeom>
          <a:noFill/>
          <a:ln>
            <a:noFill/>
          </a:ln>
        </p:spPr>
      </p:pic>
      <p:sp>
        <p:nvSpPr>
          <p:cNvPr id="280" name="Google Shape;280;p10"/>
          <p:cNvSpPr/>
          <p:nvPr/>
        </p:nvSpPr>
        <p:spPr>
          <a:xfrm>
            <a:off x="714321" y="3079141"/>
            <a:ext cx="2209500" cy="2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198"/>
              <a:buFont typeface="Calibri"/>
              <a:buNone/>
            </a:pPr>
            <a:r>
              <a:rPr b="1" i="0" lang="en-US" sz="1198" u="none" cap="none" strike="noStrike">
                <a:solidFill>
                  <a:srgbClr val="F08030"/>
                </a:solidFill>
                <a:latin typeface="Calibri"/>
                <a:ea typeface="Calibri"/>
                <a:cs typeface="Calibri"/>
                <a:sym typeface="Calibri"/>
              </a:rPr>
              <a:t>PHASE 1</a:t>
            </a:r>
            <a:endParaRPr b="0" i="0" sz="1198" u="none" cap="none" strike="noStrike">
              <a:solidFill>
                <a:schemeClr val="dk1"/>
              </a:solidFill>
              <a:latin typeface="Calibri"/>
              <a:ea typeface="Calibri"/>
              <a:cs typeface="Calibri"/>
              <a:sym typeface="Calibri"/>
            </a:endParaRPr>
          </a:p>
        </p:txBody>
      </p:sp>
      <p:sp>
        <p:nvSpPr>
          <p:cNvPr id="281" name="Google Shape;281;p10"/>
          <p:cNvSpPr/>
          <p:nvPr/>
        </p:nvSpPr>
        <p:spPr>
          <a:xfrm>
            <a:off x="714321" y="3354368"/>
            <a:ext cx="2209500" cy="40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719"/>
              <a:buFont typeface="Calibri"/>
              <a:buNone/>
            </a:pPr>
            <a:r>
              <a:rPr b="1" i="0" lang="en-US" sz="1719" u="none" cap="none" strike="noStrike">
                <a:solidFill>
                  <a:srgbClr val="2A1A1D"/>
                </a:solidFill>
                <a:latin typeface="Calibri"/>
                <a:ea typeface="Calibri"/>
                <a:cs typeface="Calibri"/>
                <a:sym typeface="Calibri"/>
              </a:rPr>
              <a:t>Set up</a:t>
            </a:r>
            <a:endParaRPr b="0" i="0" sz="1719" u="none" cap="none" strike="noStrike">
              <a:solidFill>
                <a:schemeClr val="dk1"/>
              </a:solidFill>
              <a:latin typeface="Calibri"/>
              <a:ea typeface="Calibri"/>
              <a:cs typeface="Calibri"/>
              <a:sym typeface="Calibri"/>
            </a:endParaRPr>
          </a:p>
        </p:txBody>
      </p:sp>
      <p:sp>
        <p:nvSpPr>
          <p:cNvPr id="282" name="Google Shape;282;p10"/>
          <p:cNvSpPr/>
          <p:nvPr/>
        </p:nvSpPr>
        <p:spPr>
          <a:xfrm>
            <a:off x="714321" y="3864046"/>
            <a:ext cx="2162100" cy="1070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A4042"/>
              </a:buClr>
              <a:buSzPts val="1146"/>
              <a:buFont typeface="Calibri"/>
              <a:buNone/>
            </a:pPr>
            <a:r>
              <a:rPr b="0" i="0" lang="en-US" sz="1562" u="none" cap="none" strike="noStrike">
                <a:solidFill>
                  <a:srgbClr val="4A4042"/>
                </a:solidFill>
                <a:latin typeface="Calibri"/>
                <a:ea typeface="Calibri"/>
                <a:cs typeface="Calibri"/>
                <a:sym typeface="Calibri"/>
              </a:rPr>
              <a:t>Form the independent DP team and get the data-protection principles adopted across the organisation.</a:t>
            </a:r>
            <a:endParaRPr b="0" i="0" sz="1562" u="none" cap="none" strike="noStrike">
              <a:solidFill>
                <a:schemeClr val="dk1"/>
              </a:solidFill>
              <a:latin typeface="Calibri"/>
              <a:ea typeface="Calibri"/>
              <a:cs typeface="Calibri"/>
              <a:sym typeface="Calibri"/>
            </a:endParaRPr>
          </a:p>
        </p:txBody>
      </p:sp>
      <p:sp>
        <p:nvSpPr>
          <p:cNvPr id="283" name="Google Shape;283;p10"/>
          <p:cNvSpPr/>
          <p:nvPr/>
        </p:nvSpPr>
        <p:spPr>
          <a:xfrm>
            <a:off x="3304858" y="1876300"/>
            <a:ext cx="2685900" cy="3159900"/>
          </a:xfrm>
          <a:prstGeom prst="roundRect">
            <a:avLst>
              <a:gd fmla="val 3546" name="adj"/>
            </a:avLst>
          </a:prstGeom>
          <a:solidFill>
            <a:srgbClr val="FBF4F3"/>
          </a:solidFill>
          <a:ln cap="flat" cmpd="sng" w="13225">
            <a:solidFill>
              <a:srgbClr val="EADCDA"/>
            </a:solidFill>
            <a:prstDash val="solid"/>
            <a:round/>
            <a:headEnd len="sm" w="sm" type="none"/>
            <a:tailEnd len="sm" w="sm" type="none"/>
          </a:ln>
          <a:effectLst>
            <a:outerShdw blurRad="66139" rotWithShape="0" algn="bl" dir="8100000" dist="26456">
              <a:srgbClr val="0F172A">
                <a:alpha val="7843"/>
              </a:srgbClr>
            </a:outerShdw>
          </a:effectLst>
        </p:spPr>
        <p:txBody>
          <a:bodyPr anchorCtr="0" anchor="ctr" bIns="95225" lIns="95225" spcFirstLastPara="1" rIns="95225" wrap="square" tIns="95225">
            <a:noAutofit/>
          </a:bodyPr>
          <a:lstStyle/>
          <a:p>
            <a:pPr indent="0" lvl="0" marL="0" rtl="0" algn="l">
              <a:spcBef>
                <a:spcPts val="0"/>
              </a:spcBef>
              <a:spcAft>
                <a:spcPts val="0"/>
              </a:spcAft>
              <a:buNone/>
            </a:pPr>
            <a:r>
              <a:t/>
            </a:r>
            <a:endParaRPr/>
          </a:p>
        </p:txBody>
      </p:sp>
      <p:sp>
        <p:nvSpPr>
          <p:cNvPr id="284" name="Google Shape;284;p10"/>
          <p:cNvSpPr/>
          <p:nvPr/>
        </p:nvSpPr>
        <p:spPr>
          <a:xfrm>
            <a:off x="3571531" y="2182107"/>
            <a:ext cx="685800" cy="734100"/>
          </a:xfrm>
          <a:prstGeom prst="ellipse">
            <a:avLst/>
          </a:prstGeom>
          <a:solidFill>
            <a:srgbClr val="801020"/>
          </a:solidFill>
          <a:ln>
            <a:noFill/>
          </a:ln>
        </p:spPr>
        <p:txBody>
          <a:bodyPr anchorCtr="0" anchor="ctr" bIns="95225" lIns="95225" spcFirstLastPara="1" rIns="95225" wrap="square" tIns="95225">
            <a:noAutofit/>
          </a:bodyPr>
          <a:lstStyle/>
          <a:p>
            <a:pPr indent="0" lvl="0" marL="0" rtl="0" algn="l">
              <a:spcBef>
                <a:spcPts val="0"/>
              </a:spcBef>
              <a:spcAft>
                <a:spcPts val="0"/>
              </a:spcAft>
              <a:buNone/>
            </a:pPr>
            <a:r>
              <a:t/>
            </a:r>
            <a:endParaRPr/>
          </a:p>
        </p:txBody>
      </p:sp>
      <p:pic>
        <p:nvPicPr>
          <p:cNvPr descr="preencoded.png" id="285" name="Google Shape;285;p10"/>
          <p:cNvPicPr preferRelativeResize="0"/>
          <p:nvPr/>
        </p:nvPicPr>
        <p:blipFill rotWithShape="1">
          <a:blip r:embed="rId5">
            <a:alphaModFix/>
          </a:blip>
          <a:srcRect b="0" l="0" r="0" t="0"/>
          <a:stretch/>
        </p:blipFill>
        <p:spPr>
          <a:xfrm>
            <a:off x="3733440" y="2355398"/>
            <a:ext cx="361913" cy="387355"/>
          </a:xfrm>
          <a:prstGeom prst="rect">
            <a:avLst/>
          </a:prstGeom>
          <a:noFill/>
          <a:ln>
            <a:noFill/>
          </a:ln>
        </p:spPr>
      </p:pic>
      <p:sp>
        <p:nvSpPr>
          <p:cNvPr id="286" name="Google Shape;286;p10"/>
          <p:cNvSpPr/>
          <p:nvPr/>
        </p:nvSpPr>
        <p:spPr>
          <a:xfrm>
            <a:off x="3590579" y="3079141"/>
            <a:ext cx="2209500" cy="2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198"/>
              <a:buFont typeface="Calibri"/>
              <a:buNone/>
            </a:pPr>
            <a:r>
              <a:rPr b="1" i="0" lang="en-US" sz="1198" u="none" cap="none" strike="noStrike">
                <a:solidFill>
                  <a:srgbClr val="F08030"/>
                </a:solidFill>
                <a:latin typeface="Calibri"/>
                <a:ea typeface="Calibri"/>
                <a:cs typeface="Calibri"/>
                <a:sym typeface="Calibri"/>
              </a:rPr>
              <a:t>PHASE 2</a:t>
            </a:r>
            <a:endParaRPr b="0" i="0" sz="1198" u="none" cap="none" strike="noStrike">
              <a:solidFill>
                <a:schemeClr val="dk1"/>
              </a:solidFill>
              <a:latin typeface="Calibri"/>
              <a:ea typeface="Calibri"/>
              <a:cs typeface="Calibri"/>
              <a:sym typeface="Calibri"/>
            </a:endParaRPr>
          </a:p>
        </p:txBody>
      </p:sp>
      <p:sp>
        <p:nvSpPr>
          <p:cNvPr id="287" name="Google Shape;287;p10"/>
          <p:cNvSpPr/>
          <p:nvPr/>
        </p:nvSpPr>
        <p:spPr>
          <a:xfrm>
            <a:off x="3590579" y="3354368"/>
            <a:ext cx="2209500" cy="40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719"/>
              <a:buFont typeface="Calibri"/>
              <a:buNone/>
            </a:pPr>
            <a:r>
              <a:rPr b="1" i="0" lang="en-US" sz="1719" u="none" cap="none" strike="noStrike">
                <a:solidFill>
                  <a:srgbClr val="2A1A1D"/>
                </a:solidFill>
                <a:latin typeface="Calibri"/>
                <a:ea typeface="Calibri"/>
                <a:cs typeface="Calibri"/>
                <a:sym typeface="Calibri"/>
              </a:rPr>
              <a:t>Clean up</a:t>
            </a:r>
            <a:endParaRPr b="0" i="0" sz="1719" u="none" cap="none" strike="noStrike">
              <a:solidFill>
                <a:schemeClr val="dk1"/>
              </a:solidFill>
              <a:latin typeface="Calibri"/>
              <a:ea typeface="Calibri"/>
              <a:cs typeface="Calibri"/>
              <a:sym typeface="Calibri"/>
            </a:endParaRPr>
          </a:p>
        </p:txBody>
      </p:sp>
      <p:sp>
        <p:nvSpPr>
          <p:cNvPr id="288" name="Google Shape;288;p10"/>
          <p:cNvSpPr/>
          <p:nvPr/>
        </p:nvSpPr>
        <p:spPr>
          <a:xfrm>
            <a:off x="3590579" y="3864046"/>
            <a:ext cx="2162100" cy="1070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A4042"/>
              </a:buClr>
              <a:buSzPts val="1146"/>
              <a:buFont typeface="Calibri"/>
              <a:buNone/>
            </a:pPr>
            <a:r>
              <a:rPr b="0" i="0" lang="en-US" sz="1450" u="none" cap="none" strike="noStrike">
                <a:solidFill>
                  <a:srgbClr val="4A4042"/>
                </a:solidFill>
                <a:latin typeface="Calibri"/>
                <a:ea typeface="Calibri"/>
                <a:cs typeface="Calibri"/>
                <a:sym typeface="Calibri"/>
              </a:rPr>
              <a:t>Sort the old data (delete, analyse, anonymise, or encrypt) and move it all onto India-based storage.</a:t>
            </a:r>
            <a:endParaRPr b="0" i="0" sz="1450" u="none" cap="none" strike="noStrike">
              <a:solidFill>
                <a:schemeClr val="dk1"/>
              </a:solidFill>
              <a:latin typeface="Calibri"/>
              <a:ea typeface="Calibri"/>
              <a:cs typeface="Calibri"/>
              <a:sym typeface="Calibri"/>
            </a:endParaRPr>
          </a:p>
        </p:txBody>
      </p:sp>
      <p:sp>
        <p:nvSpPr>
          <p:cNvPr id="289" name="Google Shape;289;p10"/>
          <p:cNvSpPr/>
          <p:nvPr/>
        </p:nvSpPr>
        <p:spPr>
          <a:xfrm>
            <a:off x="6181116" y="1876300"/>
            <a:ext cx="2685900" cy="3159900"/>
          </a:xfrm>
          <a:prstGeom prst="roundRect">
            <a:avLst>
              <a:gd fmla="val 3546" name="adj"/>
            </a:avLst>
          </a:prstGeom>
          <a:solidFill>
            <a:srgbClr val="FBF4F3"/>
          </a:solidFill>
          <a:ln cap="flat" cmpd="sng" w="13225">
            <a:solidFill>
              <a:srgbClr val="EADCDA"/>
            </a:solidFill>
            <a:prstDash val="solid"/>
            <a:round/>
            <a:headEnd len="sm" w="sm" type="none"/>
            <a:tailEnd len="sm" w="sm" type="none"/>
          </a:ln>
          <a:effectLst>
            <a:outerShdw blurRad="66139" rotWithShape="0" algn="bl" dir="8100000" dist="26456">
              <a:srgbClr val="0F172A">
                <a:alpha val="7843"/>
              </a:srgbClr>
            </a:outerShdw>
          </a:effectLst>
        </p:spPr>
        <p:txBody>
          <a:bodyPr anchorCtr="0" anchor="ctr" bIns="95225" lIns="95225" spcFirstLastPara="1" rIns="95225" wrap="square" tIns="95225">
            <a:noAutofit/>
          </a:bodyPr>
          <a:lstStyle/>
          <a:p>
            <a:pPr indent="0" lvl="0" marL="0" rtl="0" algn="l">
              <a:spcBef>
                <a:spcPts val="0"/>
              </a:spcBef>
              <a:spcAft>
                <a:spcPts val="0"/>
              </a:spcAft>
              <a:buNone/>
            </a:pPr>
            <a:r>
              <a:t/>
            </a:r>
            <a:endParaRPr/>
          </a:p>
        </p:txBody>
      </p:sp>
      <p:sp>
        <p:nvSpPr>
          <p:cNvPr id="290" name="Google Shape;290;p10"/>
          <p:cNvSpPr/>
          <p:nvPr/>
        </p:nvSpPr>
        <p:spPr>
          <a:xfrm>
            <a:off x="6447789" y="2182107"/>
            <a:ext cx="685800" cy="734100"/>
          </a:xfrm>
          <a:prstGeom prst="ellipse">
            <a:avLst/>
          </a:prstGeom>
          <a:solidFill>
            <a:srgbClr val="801020"/>
          </a:solidFill>
          <a:ln>
            <a:noFill/>
          </a:ln>
        </p:spPr>
        <p:txBody>
          <a:bodyPr anchorCtr="0" anchor="ctr" bIns="95225" lIns="95225" spcFirstLastPara="1" rIns="95225" wrap="square" tIns="95225">
            <a:noAutofit/>
          </a:bodyPr>
          <a:lstStyle/>
          <a:p>
            <a:pPr indent="0" lvl="0" marL="0" rtl="0" algn="l">
              <a:spcBef>
                <a:spcPts val="0"/>
              </a:spcBef>
              <a:spcAft>
                <a:spcPts val="0"/>
              </a:spcAft>
              <a:buNone/>
            </a:pPr>
            <a:r>
              <a:t/>
            </a:r>
            <a:endParaRPr/>
          </a:p>
        </p:txBody>
      </p:sp>
      <p:pic>
        <p:nvPicPr>
          <p:cNvPr descr="preencoded.png" id="291" name="Google Shape;291;p10"/>
          <p:cNvPicPr preferRelativeResize="0"/>
          <p:nvPr/>
        </p:nvPicPr>
        <p:blipFill rotWithShape="1">
          <a:blip r:embed="rId6">
            <a:alphaModFix/>
          </a:blip>
          <a:srcRect b="0" l="0" r="0" t="0"/>
          <a:stretch/>
        </p:blipFill>
        <p:spPr>
          <a:xfrm>
            <a:off x="6609698" y="2355398"/>
            <a:ext cx="361913" cy="387355"/>
          </a:xfrm>
          <a:prstGeom prst="rect">
            <a:avLst/>
          </a:prstGeom>
          <a:noFill/>
          <a:ln>
            <a:noFill/>
          </a:ln>
        </p:spPr>
      </p:pic>
      <p:sp>
        <p:nvSpPr>
          <p:cNvPr id="292" name="Google Shape;292;p10"/>
          <p:cNvSpPr/>
          <p:nvPr/>
        </p:nvSpPr>
        <p:spPr>
          <a:xfrm>
            <a:off x="6466837" y="3079141"/>
            <a:ext cx="2209500" cy="2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198"/>
              <a:buFont typeface="Calibri"/>
              <a:buNone/>
            </a:pPr>
            <a:r>
              <a:rPr b="1" i="0" lang="en-US" sz="1198" u="none" cap="none" strike="noStrike">
                <a:solidFill>
                  <a:srgbClr val="F08030"/>
                </a:solidFill>
                <a:latin typeface="Calibri"/>
                <a:ea typeface="Calibri"/>
                <a:cs typeface="Calibri"/>
                <a:sym typeface="Calibri"/>
              </a:rPr>
              <a:t>PHASE 3</a:t>
            </a:r>
            <a:endParaRPr b="0" i="0" sz="1198" u="none" cap="none" strike="noStrike">
              <a:solidFill>
                <a:schemeClr val="dk1"/>
              </a:solidFill>
              <a:latin typeface="Calibri"/>
              <a:ea typeface="Calibri"/>
              <a:cs typeface="Calibri"/>
              <a:sym typeface="Calibri"/>
            </a:endParaRPr>
          </a:p>
        </p:txBody>
      </p:sp>
      <p:sp>
        <p:nvSpPr>
          <p:cNvPr id="293" name="Google Shape;293;p10"/>
          <p:cNvSpPr/>
          <p:nvPr/>
        </p:nvSpPr>
        <p:spPr>
          <a:xfrm>
            <a:off x="6466837" y="3354368"/>
            <a:ext cx="2209500" cy="40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719"/>
              <a:buFont typeface="Calibri"/>
              <a:buNone/>
            </a:pPr>
            <a:r>
              <a:rPr b="1" i="0" lang="en-US" sz="1719" u="none" cap="none" strike="noStrike">
                <a:solidFill>
                  <a:srgbClr val="2A1A1D"/>
                </a:solidFill>
                <a:latin typeface="Calibri"/>
                <a:ea typeface="Calibri"/>
                <a:cs typeface="Calibri"/>
                <a:sym typeface="Calibri"/>
              </a:rPr>
              <a:t>Get prepared</a:t>
            </a:r>
            <a:endParaRPr b="0" i="0" sz="1719" u="none" cap="none" strike="noStrike">
              <a:solidFill>
                <a:schemeClr val="dk1"/>
              </a:solidFill>
              <a:latin typeface="Calibri"/>
              <a:ea typeface="Calibri"/>
              <a:cs typeface="Calibri"/>
              <a:sym typeface="Calibri"/>
            </a:endParaRPr>
          </a:p>
        </p:txBody>
      </p:sp>
      <p:sp>
        <p:nvSpPr>
          <p:cNvPr id="294" name="Google Shape;294;p10"/>
          <p:cNvSpPr/>
          <p:nvPr/>
        </p:nvSpPr>
        <p:spPr>
          <a:xfrm>
            <a:off x="6466837" y="3864046"/>
            <a:ext cx="2162100" cy="1070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A4042"/>
              </a:buClr>
              <a:buSzPts val="1146"/>
              <a:buFont typeface="Calibri"/>
              <a:buNone/>
            </a:pPr>
            <a:r>
              <a:rPr b="0" i="0" lang="en-US" sz="1450" u="none" cap="none" strike="noStrike">
                <a:solidFill>
                  <a:srgbClr val="4A4042"/>
                </a:solidFill>
                <a:latin typeface="Calibri"/>
                <a:ea typeface="Calibri"/>
                <a:cs typeface="Calibri"/>
                <a:sym typeface="Calibri"/>
              </a:rPr>
              <a:t>Help the team get ready: set up consent manager arrangements, write the data policies, and review the new-data MIS systems.</a:t>
            </a:r>
            <a:endParaRPr b="0" i="0" sz="1450" u="none" cap="none" strike="noStrike">
              <a:solidFill>
                <a:schemeClr val="dk1"/>
              </a:solidFill>
              <a:latin typeface="Calibri"/>
              <a:ea typeface="Calibri"/>
              <a:cs typeface="Calibri"/>
              <a:sym typeface="Calibri"/>
            </a:endParaRPr>
          </a:p>
        </p:txBody>
      </p:sp>
      <p:sp>
        <p:nvSpPr>
          <p:cNvPr id="295" name="Google Shape;295;p10"/>
          <p:cNvSpPr/>
          <p:nvPr/>
        </p:nvSpPr>
        <p:spPr>
          <a:xfrm>
            <a:off x="9057375" y="1876300"/>
            <a:ext cx="2685900" cy="3159900"/>
          </a:xfrm>
          <a:prstGeom prst="roundRect">
            <a:avLst>
              <a:gd fmla="val 3546" name="adj"/>
            </a:avLst>
          </a:prstGeom>
          <a:solidFill>
            <a:srgbClr val="FBF4F3"/>
          </a:solidFill>
          <a:ln cap="flat" cmpd="sng" w="13225">
            <a:solidFill>
              <a:srgbClr val="EADCDA"/>
            </a:solidFill>
            <a:prstDash val="solid"/>
            <a:round/>
            <a:headEnd len="sm" w="sm" type="none"/>
            <a:tailEnd len="sm" w="sm" type="none"/>
          </a:ln>
          <a:effectLst>
            <a:outerShdw blurRad="66139" rotWithShape="0" algn="bl" dir="8100000" dist="26456">
              <a:srgbClr val="0F172A">
                <a:alpha val="7843"/>
              </a:srgbClr>
            </a:outerShdw>
          </a:effectLst>
        </p:spPr>
        <p:txBody>
          <a:bodyPr anchorCtr="0" anchor="ctr" bIns="95225" lIns="95225" spcFirstLastPara="1" rIns="95225" wrap="square" tIns="95225">
            <a:noAutofit/>
          </a:bodyPr>
          <a:lstStyle/>
          <a:p>
            <a:pPr indent="0" lvl="0" marL="0" rtl="0" algn="l">
              <a:spcBef>
                <a:spcPts val="0"/>
              </a:spcBef>
              <a:spcAft>
                <a:spcPts val="0"/>
              </a:spcAft>
              <a:buNone/>
            </a:pPr>
            <a:r>
              <a:t/>
            </a:r>
            <a:endParaRPr/>
          </a:p>
        </p:txBody>
      </p:sp>
      <p:sp>
        <p:nvSpPr>
          <p:cNvPr id="296" name="Google Shape;296;p10"/>
          <p:cNvSpPr/>
          <p:nvPr/>
        </p:nvSpPr>
        <p:spPr>
          <a:xfrm>
            <a:off x="9324048" y="2182107"/>
            <a:ext cx="685800" cy="734100"/>
          </a:xfrm>
          <a:prstGeom prst="ellipse">
            <a:avLst/>
          </a:prstGeom>
          <a:solidFill>
            <a:srgbClr val="801020"/>
          </a:solidFill>
          <a:ln>
            <a:noFill/>
          </a:ln>
        </p:spPr>
        <p:txBody>
          <a:bodyPr anchorCtr="0" anchor="ctr" bIns="95225" lIns="95225" spcFirstLastPara="1" rIns="95225" wrap="square" tIns="95225">
            <a:noAutofit/>
          </a:bodyPr>
          <a:lstStyle/>
          <a:p>
            <a:pPr indent="0" lvl="0" marL="0" rtl="0" algn="l">
              <a:spcBef>
                <a:spcPts val="0"/>
              </a:spcBef>
              <a:spcAft>
                <a:spcPts val="0"/>
              </a:spcAft>
              <a:buNone/>
            </a:pPr>
            <a:r>
              <a:t/>
            </a:r>
            <a:endParaRPr/>
          </a:p>
        </p:txBody>
      </p:sp>
      <p:pic>
        <p:nvPicPr>
          <p:cNvPr descr="preencoded.png" id="297" name="Google Shape;297;p10"/>
          <p:cNvPicPr preferRelativeResize="0"/>
          <p:nvPr/>
        </p:nvPicPr>
        <p:blipFill rotWithShape="1">
          <a:blip r:embed="rId7">
            <a:alphaModFix/>
          </a:blip>
          <a:srcRect b="0" l="0" r="0" t="0"/>
          <a:stretch/>
        </p:blipFill>
        <p:spPr>
          <a:xfrm>
            <a:off x="9485956" y="2355398"/>
            <a:ext cx="361913" cy="387355"/>
          </a:xfrm>
          <a:prstGeom prst="rect">
            <a:avLst/>
          </a:prstGeom>
          <a:noFill/>
          <a:ln>
            <a:noFill/>
          </a:ln>
        </p:spPr>
      </p:pic>
      <p:sp>
        <p:nvSpPr>
          <p:cNvPr id="298" name="Google Shape;298;p10"/>
          <p:cNvSpPr/>
          <p:nvPr/>
        </p:nvSpPr>
        <p:spPr>
          <a:xfrm>
            <a:off x="9343096" y="3079141"/>
            <a:ext cx="2209500" cy="2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198"/>
              <a:buFont typeface="Calibri"/>
              <a:buNone/>
            </a:pPr>
            <a:r>
              <a:rPr b="1" i="0" lang="en-US" sz="1198" u="none" cap="none" strike="noStrike">
                <a:solidFill>
                  <a:srgbClr val="F08030"/>
                </a:solidFill>
                <a:latin typeface="Calibri"/>
                <a:ea typeface="Calibri"/>
                <a:cs typeface="Calibri"/>
                <a:sym typeface="Calibri"/>
              </a:rPr>
              <a:t>PHASE 4</a:t>
            </a:r>
            <a:endParaRPr b="0" i="0" sz="1198" u="none" cap="none" strike="noStrike">
              <a:solidFill>
                <a:schemeClr val="dk1"/>
              </a:solidFill>
              <a:latin typeface="Calibri"/>
              <a:ea typeface="Calibri"/>
              <a:cs typeface="Calibri"/>
              <a:sym typeface="Calibri"/>
            </a:endParaRPr>
          </a:p>
        </p:txBody>
      </p:sp>
      <p:sp>
        <p:nvSpPr>
          <p:cNvPr id="299" name="Google Shape;299;p10"/>
          <p:cNvSpPr/>
          <p:nvPr/>
        </p:nvSpPr>
        <p:spPr>
          <a:xfrm>
            <a:off x="9343096" y="3354368"/>
            <a:ext cx="2209500" cy="40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719"/>
              <a:buFont typeface="Calibri"/>
              <a:buNone/>
            </a:pPr>
            <a:r>
              <a:rPr b="1" i="0" lang="en-US" sz="1719" u="none" cap="none" strike="noStrike">
                <a:solidFill>
                  <a:srgbClr val="2A1A1D"/>
                </a:solidFill>
                <a:latin typeface="Calibri"/>
                <a:ea typeface="Calibri"/>
                <a:cs typeface="Calibri"/>
                <a:sym typeface="Calibri"/>
              </a:rPr>
              <a:t>Certify</a:t>
            </a:r>
            <a:endParaRPr b="0" i="0" sz="1719" u="none" cap="none" strike="noStrike">
              <a:solidFill>
                <a:schemeClr val="dk1"/>
              </a:solidFill>
              <a:latin typeface="Calibri"/>
              <a:ea typeface="Calibri"/>
              <a:cs typeface="Calibri"/>
              <a:sym typeface="Calibri"/>
            </a:endParaRPr>
          </a:p>
        </p:txBody>
      </p:sp>
      <p:sp>
        <p:nvSpPr>
          <p:cNvPr id="300" name="Google Shape;300;p10"/>
          <p:cNvSpPr/>
          <p:nvPr/>
        </p:nvSpPr>
        <p:spPr>
          <a:xfrm>
            <a:off x="9343096" y="3864046"/>
            <a:ext cx="2162100" cy="1070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A4042"/>
              </a:buClr>
              <a:buSzPts val="1146"/>
              <a:buFont typeface="Calibri"/>
              <a:buNone/>
            </a:pPr>
            <a:r>
              <a:rPr b="0" i="0" lang="en-US" sz="1450" u="none" cap="none" strike="noStrike">
                <a:solidFill>
                  <a:srgbClr val="4A4042"/>
                </a:solidFill>
                <a:latin typeface="Calibri"/>
                <a:ea typeface="Calibri"/>
                <a:cs typeface="Calibri"/>
                <a:sym typeface="Calibri"/>
              </a:rPr>
              <a:t>An outside agency reviews your policies, data, and systems, and certifies that you're following the Act.</a:t>
            </a:r>
            <a:endParaRPr b="0" i="0" sz="1450" u="none" cap="none" strike="noStrike">
              <a:solidFill>
                <a:schemeClr val="dk1"/>
              </a:solidFill>
              <a:latin typeface="Calibri"/>
              <a:ea typeface="Calibri"/>
              <a:cs typeface="Calibri"/>
              <a:sym typeface="Calibri"/>
            </a:endParaRPr>
          </a:p>
        </p:txBody>
      </p:sp>
      <p:sp>
        <p:nvSpPr>
          <p:cNvPr id="301" name="Google Shape;301;p10"/>
          <p:cNvSpPr/>
          <p:nvPr/>
        </p:nvSpPr>
        <p:spPr>
          <a:xfrm>
            <a:off x="640080" y="5360720"/>
            <a:ext cx="10881300" cy="960000"/>
          </a:xfrm>
          <a:prstGeom prst="roundRect">
            <a:avLst>
              <a:gd fmla="val 9524" name="adj"/>
            </a:avLst>
          </a:prstGeom>
          <a:solidFill>
            <a:srgbClr val="80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2" name="Google Shape;302;p10"/>
          <p:cNvPicPr preferRelativeResize="0"/>
          <p:nvPr/>
        </p:nvPicPr>
        <p:blipFill rotWithShape="1">
          <a:blip r:embed="rId7">
            <a:alphaModFix/>
          </a:blip>
          <a:srcRect b="0" l="0" r="0" t="0"/>
          <a:stretch/>
        </p:blipFill>
        <p:spPr>
          <a:xfrm>
            <a:off x="960120" y="5561888"/>
            <a:ext cx="548640" cy="548640"/>
          </a:xfrm>
          <a:prstGeom prst="rect">
            <a:avLst/>
          </a:prstGeom>
          <a:noFill/>
          <a:ln>
            <a:noFill/>
          </a:ln>
        </p:spPr>
      </p:pic>
      <p:sp>
        <p:nvSpPr>
          <p:cNvPr id="303" name="Google Shape;303;p10"/>
          <p:cNvSpPr/>
          <p:nvPr/>
        </p:nvSpPr>
        <p:spPr>
          <a:xfrm>
            <a:off x="1783080" y="5360720"/>
            <a:ext cx="9601200" cy="9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This usually takes six months to a year.</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BE4DF"/>
              </a:buClr>
              <a:buSzPts val="1300"/>
              <a:buFont typeface="Calibri"/>
              <a:buNone/>
            </a:pPr>
            <a:r>
              <a:rPr b="0" i="0" lang="en-US" sz="1300" u="none" cap="none" strike="noStrike">
                <a:solidFill>
                  <a:srgbClr val="FBE4DF"/>
                </a:solidFill>
                <a:latin typeface="Calibri"/>
                <a:ea typeface="Calibri"/>
                <a:cs typeface="Calibri"/>
                <a:sym typeface="Calibri"/>
              </a:rPr>
              <a:t>At the end you have an independent certificate to show your board and your donors that you're following the Act.</a:t>
            </a:r>
            <a:endParaRPr b="0" i="0" sz="1700" u="none" cap="none" strike="noStrike">
              <a:solidFill>
                <a:schemeClr val="dk1"/>
              </a:solidFill>
              <a:latin typeface="Calibri"/>
              <a:ea typeface="Calibri"/>
              <a:cs typeface="Calibri"/>
              <a:sym typeface="Calibri"/>
            </a:endParaRPr>
          </a:p>
        </p:txBody>
      </p:sp>
      <p:sp>
        <p:nvSpPr>
          <p:cNvPr id="304" name="Google Shape;304;p10"/>
          <p:cNvSpPr/>
          <p:nvPr/>
        </p:nvSpPr>
        <p:spPr>
          <a:xfrm>
            <a:off x="640080" y="6473952"/>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000"/>
              <a:buFont typeface="Calibri"/>
              <a:buNone/>
            </a:pPr>
            <a:r>
              <a:rPr b="0" i="1" lang="en-US" sz="1000" u="none" cap="none" strike="noStrike">
                <a:solidFill>
                  <a:srgbClr val="9A8C8E"/>
                </a:solidFill>
                <a:latin typeface="Calibri"/>
                <a:ea typeface="Calibri"/>
                <a:cs typeface="Calibri"/>
                <a:sym typeface="Calibri"/>
              </a:rPr>
              <a:t>Prepared by Dhwani RIS  ·  Based on the DPDP Act 2023 and Rules 2025  ·  Planning guidance, not legal advice.</a:t>
            </a:r>
            <a:endParaRPr b="0" i="0" sz="1000" u="none" cap="none" strike="noStrike">
              <a:solidFill>
                <a:schemeClr val="dk1"/>
              </a:solidFill>
              <a:latin typeface="Calibri"/>
              <a:ea typeface="Calibri"/>
              <a:cs typeface="Calibri"/>
              <a:sym typeface="Calibri"/>
            </a:endParaRPr>
          </a:p>
        </p:txBody>
      </p:sp>
      <p:pic>
        <p:nvPicPr>
          <p:cNvPr id="305" name="Google Shape;305;p10" title="Dhwani final Logo.png"/>
          <p:cNvPicPr preferRelativeResize="0"/>
          <p:nvPr/>
        </p:nvPicPr>
        <p:blipFill>
          <a:blip r:embed="rId3">
            <a:alphaModFix/>
          </a:blip>
          <a:stretch>
            <a:fillRect/>
          </a:stretch>
        </p:blipFill>
        <p:spPr>
          <a:xfrm>
            <a:off x="10824623" y="281675"/>
            <a:ext cx="1336829" cy="502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01020"/>
        </a:solidFill>
      </p:bgPr>
    </p:bg>
    <p:spTree>
      <p:nvGrpSpPr>
        <p:cNvPr id="310" name="Shape 310"/>
        <p:cNvGrpSpPr/>
        <p:nvPr/>
      </p:nvGrpSpPr>
      <p:grpSpPr>
        <a:xfrm>
          <a:off x="0" y="0"/>
          <a:ext cx="0" cy="0"/>
          <a:chOff x="0" y="0"/>
          <a:chExt cx="0" cy="0"/>
        </a:xfrm>
      </p:grpSpPr>
      <p:sp>
        <p:nvSpPr>
          <p:cNvPr id="311" name="Google Shape;311;p11"/>
          <p:cNvSpPr/>
          <p:nvPr/>
        </p:nvSpPr>
        <p:spPr>
          <a:xfrm>
            <a:off x="0" y="3063240"/>
            <a:ext cx="1463040" cy="54864"/>
          </a:xfrm>
          <a:prstGeom prst="rect">
            <a:avLst/>
          </a:prstGeom>
          <a:solidFill>
            <a:srgbClr val="F080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822960" y="24688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400"/>
              <a:buFont typeface="Calibri"/>
              <a:buNone/>
            </a:pPr>
            <a:r>
              <a:rPr b="1" i="0" lang="en-US" sz="1400" u="none" cap="none" strike="noStrike">
                <a:solidFill>
                  <a:srgbClr val="F08030"/>
                </a:solidFill>
                <a:latin typeface="Calibri"/>
                <a:ea typeface="Calibri"/>
                <a:cs typeface="Calibri"/>
                <a:sym typeface="Calibri"/>
              </a:rPr>
              <a:t>APPENDIX</a:t>
            </a:r>
            <a:endParaRPr b="0" i="0" sz="1400" u="none" cap="none" strike="noStrike">
              <a:solidFill>
                <a:schemeClr val="dk1"/>
              </a:solidFill>
              <a:latin typeface="Calibri"/>
              <a:ea typeface="Calibri"/>
              <a:cs typeface="Calibri"/>
              <a:sym typeface="Calibri"/>
            </a:endParaRPr>
          </a:p>
        </p:txBody>
      </p:sp>
      <p:sp>
        <p:nvSpPr>
          <p:cNvPr id="313" name="Google Shape;313;p11"/>
          <p:cNvSpPr/>
          <p:nvPr/>
        </p:nvSpPr>
        <p:spPr>
          <a:xfrm>
            <a:off x="777240" y="3200400"/>
            <a:ext cx="10058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Georgia"/>
              <a:buNone/>
            </a:pPr>
            <a:r>
              <a:rPr b="1" i="0" lang="en-US" sz="4000" u="none" cap="none" strike="noStrike">
                <a:solidFill>
                  <a:srgbClr val="FFFFFF"/>
                </a:solidFill>
                <a:latin typeface="Georgia"/>
                <a:ea typeface="Georgia"/>
                <a:cs typeface="Georgia"/>
                <a:sym typeface="Georgia"/>
              </a:rPr>
              <a:t>Reference material</a:t>
            </a:r>
            <a:endParaRPr b="0" i="0" sz="4000" u="none" cap="none" strike="noStrike">
              <a:solidFill>
                <a:schemeClr val="dk1"/>
              </a:solidFill>
              <a:latin typeface="Calibri"/>
              <a:ea typeface="Calibri"/>
              <a:cs typeface="Calibri"/>
              <a:sym typeface="Calibri"/>
            </a:endParaRPr>
          </a:p>
        </p:txBody>
      </p:sp>
      <p:sp>
        <p:nvSpPr>
          <p:cNvPr id="314" name="Google Shape;314;p11"/>
          <p:cNvSpPr/>
          <p:nvPr/>
        </p:nvSpPr>
        <p:spPr>
          <a:xfrm>
            <a:off x="822960" y="4206240"/>
            <a:ext cx="9144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E4DF"/>
              </a:buClr>
              <a:buSzPts val="1600"/>
              <a:buFont typeface="Calibri"/>
              <a:buNone/>
            </a:pPr>
            <a:r>
              <a:rPr b="0" i="0" lang="en-US" sz="1600" u="none" cap="none" strike="noStrike">
                <a:solidFill>
                  <a:srgbClr val="FBE4DF"/>
                </a:solidFill>
                <a:latin typeface="Calibri"/>
                <a:ea typeface="Calibri"/>
                <a:cs typeface="Calibri"/>
                <a:sym typeface="Calibri"/>
              </a:rPr>
              <a:t>The law, the terms, and the detail behind the approach.</a:t>
            </a:r>
            <a:endParaRPr b="0" i="0" sz="1600" u="none" cap="none" strike="noStrike">
              <a:solidFill>
                <a:schemeClr val="dk1"/>
              </a:solidFill>
              <a:latin typeface="Calibri"/>
              <a:ea typeface="Calibri"/>
              <a:cs typeface="Calibri"/>
              <a:sym typeface="Calibri"/>
            </a:endParaRPr>
          </a:p>
        </p:txBody>
      </p:sp>
      <p:pic>
        <p:nvPicPr>
          <p:cNvPr id="315" name="Google Shape;315;p11" title="Dhwani final Logo.png"/>
          <p:cNvPicPr preferRelativeResize="0"/>
          <p:nvPr/>
        </p:nvPicPr>
        <p:blipFill>
          <a:blip r:embed="rId3">
            <a:alphaModFix/>
          </a:blip>
          <a:stretch>
            <a:fillRect/>
          </a:stretch>
        </p:blipFill>
        <p:spPr>
          <a:xfrm>
            <a:off x="10672223" y="129275"/>
            <a:ext cx="1336829" cy="502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0" name="Shape 320"/>
        <p:cNvGrpSpPr/>
        <p:nvPr/>
      </p:nvGrpSpPr>
      <p:grpSpPr>
        <a:xfrm>
          <a:off x="0" y="0"/>
          <a:ext cx="0" cy="0"/>
          <a:chOff x="0" y="0"/>
          <a:chExt cx="0" cy="0"/>
        </a:xfrm>
      </p:grpSpPr>
      <p:sp>
        <p:nvSpPr>
          <p:cNvPr id="321" name="Google Shape;321;p12"/>
          <p:cNvSpPr/>
          <p:nvPr/>
        </p:nvSpPr>
        <p:spPr>
          <a:xfrm>
            <a:off x="64008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200"/>
              <a:buFont typeface="Calibri"/>
              <a:buNone/>
            </a:pPr>
            <a:r>
              <a:rPr b="1" i="0" lang="en-US" sz="1200" u="none" cap="none" strike="noStrike">
                <a:solidFill>
                  <a:srgbClr val="F08030"/>
                </a:solidFill>
                <a:latin typeface="Calibri"/>
                <a:ea typeface="Calibri"/>
                <a:cs typeface="Calibri"/>
                <a:sym typeface="Calibri"/>
              </a:rPr>
              <a:t>THE WORDS YOU'LL KEEP HEARING</a:t>
            </a:r>
            <a:endParaRPr b="0" i="0" sz="1200" u="none" cap="none" strike="noStrike">
              <a:solidFill>
                <a:schemeClr val="dk1"/>
              </a:solidFill>
              <a:latin typeface="Calibri"/>
              <a:ea typeface="Calibri"/>
              <a:cs typeface="Calibri"/>
              <a:sym typeface="Calibri"/>
            </a:endParaRPr>
          </a:p>
        </p:txBody>
      </p:sp>
      <p:sp>
        <p:nvSpPr>
          <p:cNvPr id="322" name="Google Shape;322;p12"/>
          <p:cNvSpPr/>
          <p:nvPr/>
        </p:nvSpPr>
        <p:spPr>
          <a:xfrm>
            <a:off x="640080" y="68580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01020"/>
              </a:buClr>
              <a:buSzPts val="3000"/>
              <a:buFont typeface="Georgia"/>
              <a:buNone/>
            </a:pPr>
            <a:r>
              <a:rPr b="1" i="0" lang="en-US" sz="3000" u="none" cap="none" strike="noStrike">
                <a:solidFill>
                  <a:srgbClr val="801020"/>
                </a:solidFill>
                <a:latin typeface="Georgia"/>
                <a:ea typeface="Georgia"/>
                <a:cs typeface="Georgia"/>
                <a:sym typeface="Georgia"/>
              </a:rPr>
              <a:t>The jargon, in the simplest terms</a:t>
            </a:r>
            <a:endParaRPr b="0" i="0" sz="3000" u="none" cap="none" strike="noStrike">
              <a:solidFill>
                <a:schemeClr val="dk1"/>
              </a:solidFill>
              <a:latin typeface="Calibri"/>
              <a:ea typeface="Calibri"/>
              <a:cs typeface="Calibri"/>
              <a:sym typeface="Calibri"/>
            </a:endParaRPr>
          </a:p>
        </p:txBody>
      </p:sp>
      <p:sp>
        <p:nvSpPr>
          <p:cNvPr id="323" name="Google Shape;323;p12"/>
          <p:cNvSpPr/>
          <p:nvPr/>
        </p:nvSpPr>
        <p:spPr>
          <a:xfrm>
            <a:off x="640080" y="1783080"/>
            <a:ext cx="5440680" cy="905256"/>
          </a:xfrm>
          <a:prstGeom prst="roundRect">
            <a:avLst>
              <a:gd fmla="val 7071"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2"/>
          <p:cNvSpPr/>
          <p:nvPr/>
        </p:nvSpPr>
        <p:spPr>
          <a:xfrm>
            <a:off x="841248" y="2029968"/>
            <a:ext cx="420624" cy="420624"/>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5" name="Google Shape;325;p12"/>
          <p:cNvPicPr preferRelativeResize="0"/>
          <p:nvPr/>
        </p:nvPicPr>
        <p:blipFill rotWithShape="1">
          <a:blip r:embed="rId3">
            <a:alphaModFix/>
          </a:blip>
          <a:srcRect b="0" l="0" r="0" t="0"/>
          <a:stretch/>
        </p:blipFill>
        <p:spPr>
          <a:xfrm>
            <a:off x="914400" y="2103120"/>
            <a:ext cx="274320" cy="274320"/>
          </a:xfrm>
          <a:prstGeom prst="rect">
            <a:avLst/>
          </a:prstGeom>
          <a:noFill/>
          <a:ln>
            <a:noFill/>
          </a:ln>
        </p:spPr>
      </p:pic>
      <p:sp>
        <p:nvSpPr>
          <p:cNvPr id="326" name="Google Shape;326;p12"/>
          <p:cNvSpPr/>
          <p:nvPr/>
        </p:nvSpPr>
        <p:spPr>
          <a:xfrm>
            <a:off x="1417320" y="1929384"/>
            <a:ext cx="45262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50"/>
              <a:buFont typeface="Calibri"/>
              <a:buNone/>
            </a:pPr>
            <a:r>
              <a:rPr b="1" i="0" lang="en-US" sz="1550" u="none" cap="none" strike="noStrike">
                <a:solidFill>
                  <a:srgbClr val="2A1A1D"/>
                </a:solidFill>
                <a:latin typeface="Calibri"/>
                <a:ea typeface="Calibri"/>
                <a:cs typeface="Calibri"/>
                <a:sym typeface="Calibri"/>
              </a:rPr>
              <a:t>Data Fiduciary</a:t>
            </a:r>
            <a:endParaRPr b="0" i="0" sz="1550" u="none" cap="none" strike="noStrike">
              <a:solidFill>
                <a:schemeClr val="dk1"/>
              </a:solidFill>
              <a:latin typeface="Calibri"/>
              <a:ea typeface="Calibri"/>
              <a:cs typeface="Calibri"/>
              <a:sym typeface="Calibri"/>
            </a:endParaRPr>
          </a:p>
        </p:txBody>
      </p:sp>
      <p:sp>
        <p:nvSpPr>
          <p:cNvPr id="327" name="Google Shape;327;p12"/>
          <p:cNvSpPr/>
          <p:nvPr/>
        </p:nvSpPr>
        <p:spPr>
          <a:xfrm>
            <a:off x="1417320" y="2258568"/>
            <a:ext cx="45262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250"/>
              <a:buFont typeface="Calibri"/>
              <a:buNone/>
            </a:pPr>
            <a:r>
              <a:rPr b="0" i="0" lang="en-US" sz="1250" u="none" cap="none" strike="noStrike">
                <a:solidFill>
                  <a:srgbClr val="4A4042"/>
                </a:solidFill>
                <a:latin typeface="Calibri"/>
                <a:ea typeface="Calibri"/>
                <a:cs typeface="Calibri"/>
                <a:sym typeface="Calibri"/>
              </a:rPr>
              <a:t>That's us — responsible for the data.</a:t>
            </a:r>
            <a:endParaRPr b="0" i="0" sz="1250" u="none" cap="none" strike="noStrike">
              <a:solidFill>
                <a:schemeClr val="dk1"/>
              </a:solidFill>
              <a:latin typeface="Calibri"/>
              <a:ea typeface="Calibri"/>
              <a:cs typeface="Calibri"/>
              <a:sym typeface="Calibri"/>
            </a:endParaRPr>
          </a:p>
        </p:txBody>
      </p:sp>
      <p:sp>
        <p:nvSpPr>
          <p:cNvPr id="328" name="Google Shape;328;p12"/>
          <p:cNvSpPr/>
          <p:nvPr/>
        </p:nvSpPr>
        <p:spPr>
          <a:xfrm>
            <a:off x="6355080" y="1783080"/>
            <a:ext cx="5440680" cy="905256"/>
          </a:xfrm>
          <a:prstGeom prst="roundRect">
            <a:avLst>
              <a:gd fmla="val 7071"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2"/>
          <p:cNvSpPr/>
          <p:nvPr/>
        </p:nvSpPr>
        <p:spPr>
          <a:xfrm>
            <a:off x="6556248" y="2029968"/>
            <a:ext cx="420624" cy="420624"/>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0" name="Google Shape;330;p12"/>
          <p:cNvPicPr preferRelativeResize="0"/>
          <p:nvPr/>
        </p:nvPicPr>
        <p:blipFill rotWithShape="1">
          <a:blip r:embed="rId4">
            <a:alphaModFix/>
          </a:blip>
          <a:srcRect b="0" l="0" r="0" t="0"/>
          <a:stretch/>
        </p:blipFill>
        <p:spPr>
          <a:xfrm>
            <a:off x="6629400" y="2103120"/>
            <a:ext cx="274320" cy="274320"/>
          </a:xfrm>
          <a:prstGeom prst="rect">
            <a:avLst/>
          </a:prstGeom>
          <a:noFill/>
          <a:ln>
            <a:noFill/>
          </a:ln>
        </p:spPr>
      </p:pic>
      <p:sp>
        <p:nvSpPr>
          <p:cNvPr id="331" name="Google Shape;331;p12"/>
          <p:cNvSpPr/>
          <p:nvPr/>
        </p:nvSpPr>
        <p:spPr>
          <a:xfrm>
            <a:off x="7132320" y="1929384"/>
            <a:ext cx="45262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50"/>
              <a:buFont typeface="Calibri"/>
              <a:buNone/>
            </a:pPr>
            <a:r>
              <a:rPr b="1" i="0" lang="en-US" sz="1550" u="none" cap="none" strike="noStrike">
                <a:solidFill>
                  <a:srgbClr val="2A1A1D"/>
                </a:solidFill>
                <a:latin typeface="Calibri"/>
                <a:ea typeface="Calibri"/>
                <a:cs typeface="Calibri"/>
                <a:sym typeface="Calibri"/>
              </a:rPr>
              <a:t>Data Principal</a:t>
            </a:r>
            <a:endParaRPr b="0" i="0" sz="1550" u="none" cap="none" strike="noStrike">
              <a:solidFill>
                <a:schemeClr val="dk1"/>
              </a:solidFill>
              <a:latin typeface="Calibri"/>
              <a:ea typeface="Calibri"/>
              <a:cs typeface="Calibri"/>
              <a:sym typeface="Calibri"/>
            </a:endParaRPr>
          </a:p>
        </p:txBody>
      </p:sp>
      <p:sp>
        <p:nvSpPr>
          <p:cNvPr id="332" name="Google Shape;332;p12"/>
          <p:cNvSpPr/>
          <p:nvPr/>
        </p:nvSpPr>
        <p:spPr>
          <a:xfrm>
            <a:off x="7132320" y="2258568"/>
            <a:ext cx="45262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250"/>
              <a:buFont typeface="Calibri"/>
              <a:buNone/>
            </a:pPr>
            <a:r>
              <a:rPr b="0" i="0" lang="en-US" sz="1250" u="none" cap="none" strike="noStrike">
                <a:solidFill>
                  <a:srgbClr val="4A4042"/>
                </a:solidFill>
                <a:latin typeface="Calibri"/>
                <a:ea typeface="Calibri"/>
                <a:cs typeface="Calibri"/>
                <a:sym typeface="Calibri"/>
              </a:rPr>
              <a:t>The person the data is about.</a:t>
            </a:r>
            <a:endParaRPr b="0" i="0" sz="1250" u="none" cap="none" strike="noStrike">
              <a:solidFill>
                <a:schemeClr val="dk1"/>
              </a:solidFill>
              <a:latin typeface="Calibri"/>
              <a:ea typeface="Calibri"/>
              <a:cs typeface="Calibri"/>
              <a:sym typeface="Calibri"/>
            </a:endParaRPr>
          </a:p>
        </p:txBody>
      </p:sp>
      <p:sp>
        <p:nvSpPr>
          <p:cNvPr id="333" name="Google Shape;333;p12"/>
          <p:cNvSpPr/>
          <p:nvPr/>
        </p:nvSpPr>
        <p:spPr>
          <a:xfrm>
            <a:off x="640080" y="2834640"/>
            <a:ext cx="5440680" cy="905256"/>
          </a:xfrm>
          <a:prstGeom prst="roundRect">
            <a:avLst>
              <a:gd fmla="val 7071"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2"/>
          <p:cNvSpPr/>
          <p:nvPr/>
        </p:nvSpPr>
        <p:spPr>
          <a:xfrm>
            <a:off x="841248" y="3081528"/>
            <a:ext cx="420624" cy="420624"/>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5" name="Google Shape;335;p12"/>
          <p:cNvPicPr preferRelativeResize="0"/>
          <p:nvPr/>
        </p:nvPicPr>
        <p:blipFill rotWithShape="1">
          <a:blip r:embed="rId5">
            <a:alphaModFix/>
          </a:blip>
          <a:srcRect b="0" l="0" r="0" t="0"/>
          <a:stretch/>
        </p:blipFill>
        <p:spPr>
          <a:xfrm>
            <a:off x="914400" y="3154680"/>
            <a:ext cx="274320" cy="274320"/>
          </a:xfrm>
          <a:prstGeom prst="rect">
            <a:avLst/>
          </a:prstGeom>
          <a:noFill/>
          <a:ln>
            <a:noFill/>
          </a:ln>
        </p:spPr>
      </p:pic>
      <p:sp>
        <p:nvSpPr>
          <p:cNvPr id="336" name="Google Shape;336;p12"/>
          <p:cNvSpPr/>
          <p:nvPr/>
        </p:nvSpPr>
        <p:spPr>
          <a:xfrm>
            <a:off x="1417320" y="2980944"/>
            <a:ext cx="45262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50"/>
              <a:buFont typeface="Calibri"/>
              <a:buNone/>
            </a:pPr>
            <a:r>
              <a:rPr b="1" i="0" lang="en-US" sz="1550" u="none" cap="none" strike="noStrike">
                <a:solidFill>
                  <a:srgbClr val="2A1A1D"/>
                </a:solidFill>
                <a:latin typeface="Calibri"/>
                <a:ea typeface="Calibri"/>
                <a:cs typeface="Calibri"/>
                <a:sym typeface="Calibri"/>
              </a:rPr>
              <a:t>Personal Data</a:t>
            </a:r>
            <a:endParaRPr b="0" i="0" sz="1550" u="none" cap="none" strike="noStrike">
              <a:solidFill>
                <a:schemeClr val="dk1"/>
              </a:solidFill>
              <a:latin typeface="Calibri"/>
              <a:ea typeface="Calibri"/>
              <a:cs typeface="Calibri"/>
              <a:sym typeface="Calibri"/>
            </a:endParaRPr>
          </a:p>
        </p:txBody>
      </p:sp>
      <p:sp>
        <p:nvSpPr>
          <p:cNvPr id="337" name="Google Shape;337;p12"/>
          <p:cNvSpPr/>
          <p:nvPr/>
        </p:nvSpPr>
        <p:spPr>
          <a:xfrm>
            <a:off x="1417320" y="3310128"/>
            <a:ext cx="45262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250"/>
              <a:buFont typeface="Calibri"/>
              <a:buNone/>
            </a:pPr>
            <a:r>
              <a:rPr b="0" i="0" lang="en-US" sz="1250" u="none" cap="none" strike="noStrike">
                <a:solidFill>
                  <a:srgbClr val="4A4042"/>
                </a:solidFill>
                <a:latin typeface="Calibri"/>
                <a:ea typeface="Calibri"/>
                <a:cs typeface="Calibri"/>
                <a:sym typeface="Calibri"/>
              </a:rPr>
              <a:t>Anything that identifies someone.</a:t>
            </a:r>
            <a:endParaRPr b="0" i="0" sz="1250" u="none" cap="none" strike="noStrike">
              <a:solidFill>
                <a:schemeClr val="dk1"/>
              </a:solidFill>
              <a:latin typeface="Calibri"/>
              <a:ea typeface="Calibri"/>
              <a:cs typeface="Calibri"/>
              <a:sym typeface="Calibri"/>
            </a:endParaRPr>
          </a:p>
        </p:txBody>
      </p:sp>
      <p:sp>
        <p:nvSpPr>
          <p:cNvPr id="338" name="Google Shape;338;p12"/>
          <p:cNvSpPr/>
          <p:nvPr/>
        </p:nvSpPr>
        <p:spPr>
          <a:xfrm>
            <a:off x="6355080" y="2834640"/>
            <a:ext cx="5440680" cy="905256"/>
          </a:xfrm>
          <a:prstGeom prst="roundRect">
            <a:avLst>
              <a:gd fmla="val 7071"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2"/>
          <p:cNvSpPr/>
          <p:nvPr/>
        </p:nvSpPr>
        <p:spPr>
          <a:xfrm>
            <a:off x="6556248" y="3081528"/>
            <a:ext cx="420624" cy="420624"/>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0" name="Google Shape;340;p12"/>
          <p:cNvPicPr preferRelativeResize="0"/>
          <p:nvPr/>
        </p:nvPicPr>
        <p:blipFill rotWithShape="1">
          <a:blip r:embed="rId6">
            <a:alphaModFix/>
          </a:blip>
          <a:srcRect b="0" l="0" r="0" t="0"/>
          <a:stretch/>
        </p:blipFill>
        <p:spPr>
          <a:xfrm>
            <a:off x="6629400" y="3154680"/>
            <a:ext cx="274320" cy="274320"/>
          </a:xfrm>
          <a:prstGeom prst="rect">
            <a:avLst/>
          </a:prstGeom>
          <a:noFill/>
          <a:ln>
            <a:noFill/>
          </a:ln>
        </p:spPr>
      </p:pic>
      <p:sp>
        <p:nvSpPr>
          <p:cNvPr id="341" name="Google Shape;341;p12"/>
          <p:cNvSpPr/>
          <p:nvPr/>
        </p:nvSpPr>
        <p:spPr>
          <a:xfrm>
            <a:off x="7132320" y="2980944"/>
            <a:ext cx="45262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50"/>
              <a:buFont typeface="Calibri"/>
              <a:buNone/>
            </a:pPr>
            <a:r>
              <a:rPr b="1" i="0" lang="en-US" sz="1550" u="none" cap="none" strike="noStrike">
                <a:solidFill>
                  <a:srgbClr val="2A1A1D"/>
                </a:solidFill>
                <a:latin typeface="Calibri"/>
                <a:ea typeface="Calibri"/>
                <a:cs typeface="Calibri"/>
                <a:sym typeface="Calibri"/>
              </a:rPr>
              <a:t>Sensitive Data</a:t>
            </a:r>
            <a:endParaRPr b="0" i="0" sz="1550" u="none" cap="none" strike="noStrike">
              <a:solidFill>
                <a:schemeClr val="dk1"/>
              </a:solidFill>
              <a:latin typeface="Calibri"/>
              <a:ea typeface="Calibri"/>
              <a:cs typeface="Calibri"/>
              <a:sym typeface="Calibri"/>
            </a:endParaRPr>
          </a:p>
        </p:txBody>
      </p:sp>
      <p:sp>
        <p:nvSpPr>
          <p:cNvPr id="342" name="Google Shape;342;p12"/>
          <p:cNvSpPr/>
          <p:nvPr/>
        </p:nvSpPr>
        <p:spPr>
          <a:xfrm>
            <a:off x="7132320" y="3310128"/>
            <a:ext cx="45262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250"/>
              <a:buFont typeface="Calibri"/>
              <a:buNone/>
            </a:pPr>
            <a:r>
              <a:rPr b="0" i="0" lang="en-US" sz="1250" u="none" cap="none" strike="noStrike">
                <a:solidFill>
                  <a:srgbClr val="4A4042"/>
                </a:solidFill>
                <a:latin typeface="Calibri"/>
                <a:ea typeface="Calibri"/>
                <a:cs typeface="Calibri"/>
                <a:sym typeface="Calibri"/>
              </a:rPr>
              <a:t>High-risk: health, caste, finances.</a:t>
            </a:r>
            <a:endParaRPr b="0" i="0" sz="1250" u="none" cap="none" strike="noStrike">
              <a:solidFill>
                <a:schemeClr val="dk1"/>
              </a:solidFill>
              <a:latin typeface="Calibri"/>
              <a:ea typeface="Calibri"/>
              <a:cs typeface="Calibri"/>
              <a:sym typeface="Calibri"/>
            </a:endParaRPr>
          </a:p>
        </p:txBody>
      </p:sp>
      <p:sp>
        <p:nvSpPr>
          <p:cNvPr id="343" name="Google Shape;343;p12"/>
          <p:cNvSpPr/>
          <p:nvPr/>
        </p:nvSpPr>
        <p:spPr>
          <a:xfrm>
            <a:off x="640080" y="3886200"/>
            <a:ext cx="5440680" cy="905256"/>
          </a:xfrm>
          <a:prstGeom prst="roundRect">
            <a:avLst>
              <a:gd fmla="val 7071"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2"/>
          <p:cNvSpPr/>
          <p:nvPr/>
        </p:nvSpPr>
        <p:spPr>
          <a:xfrm>
            <a:off x="841248" y="4133088"/>
            <a:ext cx="420624" cy="420624"/>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5" name="Google Shape;345;p12"/>
          <p:cNvPicPr preferRelativeResize="0"/>
          <p:nvPr/>
        </p:nvPicPr>
        <p:blipFill rotWithShape="1">
          <a:blip r:embed="rId7">
            <a:alphaModFix/>
          </a:blip>
          <a:srcRect b="0" l="0" r="0" t="0"/>
          <a:stretch/>
        </p:blipFill>
        <p:spPr>
          <a:xfrm>
            <a:off x="914400" y="4206240"/>
            <a:ext cx="274320" cy="274320"/>
          </a:xfrm>
          <a:prstGeom prst="rect">
            <a:avLst/>
          </a:prstGeom>
          <a:noFill/>
          <a:ln>
            <a:noFill/>
          </a:ln>
        </p:spPr>
      </p:pic>
      <p:sp>
        <p:nvSpPr>
          <p:cNvPr id="346" name="Google Shape;346;p12"/>
          <p:cNvSpPr/>
          <p:nvPr/>
        </p:nvSpPr>
        <p:spPr>
          <a:xfrm>
            <a:off x="1417320" y="4032504"/>
            <a:ext cx="45262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50"/>
              <a:buFont typeface="Calibri"/>
              <a:buNone/>
            </a:pPr>
            <a:r>
              <a:rPr b="1" i="0" lang="en-US" sz="1550" u="none" cap="none" strike="noStrike">
                <a:solidFill>
                  <a:srgbClr val="2A1A1D"/>
                </a:solidFill>
                <a:latin typeface="Calibri"/>
                <a:ea typeface="Calibri"/>
                <a:cs typeface="Calibri"/>
                <a:sym typeface="Calibri"/>
              </a:rPr>
              <a:t>Consent</a:t>
            </a:r>
            <a:endParaRPr b="0" i="0" sz="1550" u="none" cap="none" strike="noStrike">
              <a:solidFill>
                <a:schemeClr val="dk1"/>
              </a:solidFill>
              <a:latin typeface="Calibri"/>
              <a:ea typeface="Calibri"/>
              <a:cs typeface="Calibri"/>
              <a:sym typeface="Calibri"/>
            </a:endParaRPr>
          </a:p>
        </p:txBody>
      </p:sp>
      <p:sp>
        <p:nvSpPr>
          <p:cNvPr id="347" name="Google Shape;347;p12"/>
          <p:cNvSpPr/>
          <p:nvPr/>
        </p:nvSpPr>
        <p:spPr>
          <a:xfrm>
            <a:off x="1417320" y="4361688"/>
            <a:ext cx="45262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250"/>
              <a:buFont typeface="Calibri"/>
              <a:buNone/>
            </a:pPr>
            <a:r>
              <a:rPr b="0" i="0" lang="en-US" sz="1250" u="none" cap="none" strike="noStrike">
                <a:solidFill>
                  <a:srgbClr val="4A4042"/>
                </a:solidFill>
                <a:latin typeface="Calibri"/>
                <a:ea typeface="Calibri"/>
                <a:cs typeface="Calibri"/>
                <a:sym typeface="Calibri"/>
              </a:rPr>
              <a:t>Clear, recorded permission to use it.</a:t>
            </a:r>
            <a:endParaRPr b="0" i="0" sz="1250" u="none" cap="none" strike="noStrike">
              <a:solidFill>
                <a:schemeClr val="dk1"/>
              </a:solidFill>
              <a:latin typeface="Calibri"/>
              <a:ea typeface="Calibri"/>
              <a:cs typeface="Calibri"/>
              <a:sym typeface="Calibri"/>
            </a:endParaRPr>
          </a:p>
        </p:txBody>
      </p:sp>
      <p:sp>
        <p:nvSpPr>
          <p:cNvPr id="348" name="Google Shape;348;p12"/>
          <p:cNvSpPr/>
          <p:nvPr/>
        </p:nvSpPr>
        <p:spPr>
          <a:xfrm>
            <a:off x="6355080" y="3886200"/>
            <a:ext cx="5440680" cy="905256"/>
          </a:xfrm>
          <a:prstGeom prst="roundRect">
            <a:avLst>
              <a:gd fmla="val 7071"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2"/>
          <p:cNvSpPr/>
          <p:nvPr/>
        </p:nvSpPr>
        <p:spPr>
          <a:xfrm>
            <a:off x="6556248" y="4133088"/>
            <a:ext cx="420624" cy="420624"/>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0" name="Google Shape;350;p12"/>
          <p:cNvPicPr preferRelativeResize="0"/>
          <p:nvPr/>
        </p:nvPicPr>
        <p:blipFill rotWithShape="1">
          <a:blip r:embed="rId8">
            <a:alphaModFix/>
          </a:blip>
          <a:srcRect b="0" l="0" r="0" t="0"/>
          <a:stretch/>
        </p:blipFill>
        <p:spPr>
          <a:xfrm>
            <a:off x="6629400" y="4206240"/>
            <a:ext cx="274320" cy="274320"/>
          </a:xfrm>
          <a:prstGeom prst="rect">
            <a:avLst/>
          </a:prstGeom>
          <a:noFill/>
          <a:ln>
            <a:noFill/>
          </a:ln>
        </p:spPr>
      </p:pic>
      <p:sp>
        <p:nvSpPr>
          <p:cNvPr id="351" name="Google Shape;351;p12"/>
          <p:cNvSpPr/>
          <p:nvPr/>
        </p:nvSpPr>
        <p:spPr>
          <a:xfrm>
            <a:off x="7132320" y="4032504"/>
            <a:ext cx="45262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50"/>
              <a:buFont typeface="Calibri"/>
              <a:buNone/>
            </a:pPr>
            <a:r>
              <a:rPr b="1" i="0" lang="en-US" sz="1550" u="none" cap="none" strike="noStrike">
                <a:solidFill>
                  <a:srgbClr val="2A1A1D"/>
                </a:solidFill>
                <a:latin typeface="Calibri"/>
                <a:ea typeface="Calibri"/>
                <a:cs typeface="Calibri"/>
                <a:sym typeface="Calibri"/>
              </a:rPr>
              <a:t>Purpose Limitation</a:t>
            </a:r>
            <a:endParaRPr b="0" i="0" sz="1550" u="none" cap="none" strike="noStrike">
              <a:solidFill>
                <a:schemeClr val="dk1"/>
              </a:solidFill>
              <a:latin typeface="Calibri"/>
              <a:ea typeface="Calibri"/>
              <a:cs typeface="Calibri"/>
              <a:sym typeface="Calibri"/>
            </a:endParaRPr>
          </a:p>
        </p:txBody>
      </p:sp>
      <p:sp>
        <p:nvSpPr>
          <p:cNvPr id="352" name="Google Shape;352;p12"/>
          <p:cNvSpPr/>
          <p:nvPr/>
        </p:nvSpPr>
        <p:spPr>
          <a:xfrm>
            <a:off x="7132320" y="4361688"/>
            <a:ext cx="45262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250"/>
              <a:buFont typeface="Calibri"/>
              <a:buNone/>
            </a:pPr>
            <a:r>
              <a:rPr b="0" i="0" lang="en-US" sz="1250" u="none" cap="none" strike="noStrike">
                <a:solidFill>
                  <a:srgbClr val="4A4042"/>
                </a:solidFill>
                <a:latin typeface="Calibri"/>
                <a:ea typeface="Calibri"/>
                <a:cs typeface="Calibri"/>
                <a:sym typeface="Calibri"/>
              </a:rPr>
              <a:t>Use data only for the reason collected.</a:t>
            </a:r>
            <a:endParaRPr b="0" i="0" sz="1250" u="none" cap="none" strike="noStrike">
              <a:solidFill>
                <a:schemeClr val="dk1"/>
              </a:solidFill>
              <a:latin typeface="Calibri"/>
              <a:ea typeface="Calibri"/>
              <a:cs typeface="Calibri"/>
              <a:sym typeface="Calibri"/>
            </a:endParaRPr>
          </a:p>
        </p:txBody>
      </p:sp>
      <p:sp>
        <p:nvSpPr>
          <p:cNvPr id="353" name="Google Shape;353;p12"/>
          <p:cNvSpPr/>
          <p:nvPr/>
        </p:nvSpPr>
        <p:spPr>
          <a:xfrm>
            <a:off x="640080" y="4937760"/>
            <a:ext cx="5440680" cy="905256"/>
          </a:xfrm>
          <a:prstGeom prst="roundRect">
            <a:avLst>
              <a:gd fmla="val 7071" name="adj"/>
            </a:avLst>
          </a:prstGeom>
          <a:solidFill>
            <a:srgbClr val="FBDAD3"/>
          </a:solidFill>
          <a:ln cap="flat" cmpd="sng" w="12700">
            <a:solidFill>
              <a:srgbClr val="801020"/>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2"/>
          <p:cNvSpPr/>
          <p:nvPr/>
        </p:nvSpPr>
        <p:spPr>
          <a:xfrm>
            <a:off x="841248" y="5184648"/>
            <a:ext cx="420624" cy="420624"/>
          </a:xfrm>
          <a:prstGeom prst="ellipse">
            <a:avLst/>
          </a:prstGeom>
          <a:solidFill>
            <a:srgbClr val="FBDA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5" name="Google Shape;355;p12"/>
          <p:cNvPicPr preferRelativeResize="0"/>
          <p:nvPr/>
        </p:nvPicPr>
        <p:blipFill rotWithShape="1">
          <a:blip r:embed="rId9">
            <a:alphaModFix/>
          </a:blip>
          <a:srcRect b="0" l="0" r="0" t="0"/>
          <a:stretch/>
        </p:blipFill>
        <p:spPr>
          <a:xfrm>
            <a:off x="914400" y="5257800"/>
            <a:ext cx="274320" cy="274320"/>
          </a:xfrm>
          <a:prstGeom prst="rect">
            <a:avLst/>
          </a:prstGeom>
          <a:noFill/>
          <a:ln>
            <a:noFill/>
          </a:ln>
        </p:spPr>
      </p:pic>
      <p:sp>
        <p:nvSpPr>
          <p:cNvPr id="356" name="Google Shape;356;p12"/>
          <p:cNvSpPr/>
          <p:nvPr/>
        </p:nvSpPr>
        <p:spPr>
          <a:xfrm>
            <a:off x="1417320" y="5084064"/>
            <a:ext cx="45262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50"/>
              <a:buFont typeface="Calibri"/>
              <a:buNone/>
            </a:pPr>
            <a:r>
              <a:rPr b="1" i="0" lang="en-US" sz="1550" u="none" cap="none" strike="noStrike">
                <a:solidFill>
                  <a:srgbClr val="2A1A1D"/>
                </a:solidFill>
                <a:latin typeface="Calibri"/>
                <a:ea typeface="Calibri"/>
                <a:cs typeface="Calibri"/>
                <a:sym typeface="Calibri"/>
              </a:rPr>
              <a:t>Cross-border Transfer</a:t>
            </a:r>
            <a:endParaRPr b="0" i="0" sz="1550" u="none" cap="none" strike="noStrike">
              <a:solidFill>
                <a:schemeClr val="dk1"/>
              </a:solidFill>
              <a:latin typeface="Calibri"/>
              <a:ea typeface="Calibri"/>
              <a:cs typeface="Calibri"/>
              <a:sym typeface="Calibri"/>
            </a:endParaRPr>
          </a:p>
        </p:txBody>
      </p:sp>
      <p:sp>
        <p:nvSpPr>
          <p:cNvPr id="357" name="Google Shape;357;p12"/>
          <p:cNvSpPr/>
          <p:nvPr/>
        </p:nvSpPr>
        <p:spPr>
          <a:xfrm>
            <a:off x="1417320" y="5413248"/>
            <a:ext cx="45262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250"/>
              <a:buFont typeface="Calibri"/>
              <a:buNone/>
            </a:pPr>
            <a:r>
              <a:rPr b="0" i="0" lang="en-US" sz="1250" u="none" cap="none" strike="noStrike">
                <a:solidFill>
                  <a:srgbClr val="4A4042"/>
                </a:solidFill>
                <a:latin typeface="Calibri"/>
                <a:ea typeface="Calibri"/>
                <a:cs typeface="Calibri"/>
                <a:sym typeface="Calibri"/>
              </a:rPr>
              <a:t>Sending data outside India (e.g. to donors).</a:t>
            </a:r>
            <a:endParaRPr b="0" i="0" sz="1250" u="none" cap="none" strike="noStrike">
              <a:solidFill>
                <a:schemeClr val="dk1"/>
              </a:solidFill>
              <a:latin typeface="Calibri"/>
              <a:ea typeface="Calibri"/>
              <a:cs typeface="Calibri"/>
              <a:sym typeface="Calibri"/>
            </a:endParaRPr>
          </a:p>
        </p:txBody>
      </p:sp>
      <p:sp>
        <p:nvSpPr>
          <p:cNvPr id="358" name="Google Shape;358;p12"/>
          <p:cNvSpPr/>
          <p:nvPr/>
        </p:nvSpPr>
        <p:spPr>
          <a:xfrm>
            <a:off x="6355080" y="4937760"/>
            <a:ext cx="5440680" cy="905256"/>
          </a:xfrm>
          <a:prstGeom prst="roundRect">
            <a:avLst>
              <a:gd fmla="val 7071"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2"/>
          <p:cNvSpPr/>
          <p:nvPr/>
        </p:nvSpPr>
        <p:spPr>
          <a:xfrm>
            <a:off x="6556248" y="5184648"/>
            <a:ext cx="420624" cy="420624"/>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0" name="Google Shape;360;p12"/>
          <p:cNvPicPr preferRelativeResize="0"/>
          <p:nvPr/>
        </p:nvPicPr>
        <p:blipFill rotWithShape="1">
          <a:blip r:embed="rId10">
            <a:alphaModFix/>
          </a:blip>
          <a:srcRect b="0" l="0" r="0" t="0"/>
          <a:stretch/>
        </p:blipFill>
        <p:spPr>
          <a:xfrm>
            <a:off x="6629400" y="5257800"/>
            <a:ext cx="274320" cy="274320"/>
          </a:xfrm>
          <a:prstGeom prst="rect">
            <a:avLst/>
          </a:prstGeom>
          <a:noFill/>
          <a:ln>
            <a:noFill/>
          </a:ln>
        </p:spPr>
      </p:pic>
      <p:sp>
        <p:nvSpPr>
          <p:cNvPr id="361" name="Google Shape;361;p12"/>
          <p:cNvSpPr/>
          <p:nvPr/>
        </p:nvSpPr>
        <p:spPr>
          <a:xfrm>
            <a:off x="7132320" y="5084064"/>
            <a:ext cx="45262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50"/>
              <a:buFont typeface="Calibri"/>
              <a:buNone/>
            </a:pPr>
            <a:r>
              <a:rPr b="1" i="0" lang="en-US" sz="1550" u="none" cap="none" strike="noStrike">
                <a:solidFill>
                  <a:srgbClr val="2A1A1D"/>
                </a:solidFill>
                <a:latin typeface="Calibri"/>
                <a:ea typeface="Calibri"/>
                <a:cs typeface="Calibri"/>
                <a:sym typeface="Calibri"/>
              </a:rPr>
              <a:t>Data Breach</a:t>
            </a:r>
            <a:endParaRPr b="0" i="0" sz="1550" u="none" cap="none" strike="noStrike">
              <a:solidFill>
                <a:schemeClr val="dk1"/>
              </a:solidFill>
              <a:latin typeface="Calibri"/>
              <a:ea typeface="Calibri"/>
              <a:cs typeface="Calibri"/>
              <a:sym typeface="Calibri"/>
            </a:endParaRPr>
          </a:p>
        </p:txBody>
      </p:sp>
      <p:sp>
        <p:nvSpPr>
          <p:cNvPr id="362" name="Google Shape;362;p12"/>
          <p:cNvSpPr/>
          <p:nvPr/>
        </p:nvSpPr>
        <p:spPr>
          <a:xfrm>
            <a:off x="7132320" y="5413248"/>
            <a:ext cx="45262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250"/>
              <a:buFont typeface="Calibri"/>
              <a:buNone/>
            </a:pPr>
            <a:r>
              <a:rPr b="0" i="0" lang="en-US" sz="1250" u="none" cap="none" strike="noStrike">
                <a:solidFill>
                  <a:srgbClr val="4A4042"/>
                </a:solidFill>
                <a:latin typeface="Calibri"/>
                <a:ea typeface="Calibri"/>
                <a:cs typeface="Calibri"/>
                <a:sym typeface="Calibri"/>
              </a:rPr>
              <a:t>Data lost, stolen, or exposed.</a:t>
            </a:r>
            <a:endParaRPr b="0" i="0" sz="1250" u="none" cap="none" strike="noStrike">
              <a:solidFill>
                <a:schemeClr val="dk1"/>
              </a:solidFill>
              <a:latin typeface="Calibri"/>
              <a:ea typeface="Calibri"/>
              <a:cs typeface="Calibri"/>
              <a:sym typeface="Calibri"/>
            </a:endParaRPr>
          </a:p>
        </p:txBody>
      </p:sp>
      <p:sp>
        <p:nvSpPr>
          <p:cNvPr id="363" name="Google Shape;363;p12"/>
          <p:cNvSpPr/>
          <p:nvPr/>
        </p:nvSpPr>
        <p:spPr>
          <a:xfrm>
            <a:off x="11430000" y="640080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10</a:t>
            </a:r>
            <a:endParaRPr b="0" i="0" sz="1000" u="none" cap="none" strike="noStrike">
              <a:solidFill>
                <a:schemeClr val="dk1"/>
              </a:solidFill>
              <a:latin typeface="Calibri"/>
              <a:ea typeface="Calibri"/>
              <a:cs typeface="Calibri"/>
              <a:sym typeface="Calibri"/>
            </a:endParaRPr>
          </a:p>
        </p:txBody>
      </p:sp>
      <p:sp>
        <p:nvSpPr>
          <p:cNvPr id="364" name="Google Shape;364;p12"/>
          <p:cNvSpPr/>
          <p:nvPr/>
        </p:nvSpPr>
        <p:spPr>
          <a:xfrm>
            <a:off x="64008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Dhwani RIS  ·  DPDP Adoption Approach</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9" name="Shape 369"/>
        <p:cNvGrpSpPr/>
        <p:nvPr/>
      </p:nvGrpSpPr>
      <p:grpSpPr>
        <a:xfrm>
          <a:off x="0" y="0"/>
          <a:ext cx="0" cy="0"/>
          <a:chOff x="0" y="0"/>
          <a:chExt cx="0" cy="0"/>
        </a:xfrm>
      </p:grpSpPr>
      <p:sp>
        <p:nvSpPr>
          <p:cNvPr id="370" name="Google Shape;370;p13"/>
          <p:cNvSpPr/>
          <p:nvPr/>
        </p:nvSpPr>
        <p:spPr>
          <a:xfrm>
            <a:off x="64008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200"/>
              <a:buFont typeface="Calibri"/>
              <a:buNone/>
            </a:pPr>
            <a:r>
              <a:rPr b="1" i="0" lang="en-US" sz="1200" u="none" cap="none" strike="noStrike">
                <a:solidFill>
                  <a:srgbClr val="F08030"/>
                </a:solidFill>
                <a:latin typeface="Calibri"/>
                <a:ea typeface="Calibri"/>
                <a:cs typeface="Calibri"/>
                <a:sym typeface="Calibri"/>
              </a:rPr>
              <a:t>THE COMPLETE REFERENCE</a:t>
            </a:r>
            <a:endParaRPr b="0" i="0" sz="1200" u="none" cap="none" strike="noStrike">
              <a:solidFill>
                <a:schemeClr val="dk1"/>
              </a:solidFill>
              <a:latin typeface="Calibri"/>
              <a:ea typeface="Calibri"/>
              <a:cs typeface="Calibri"/>
              <a:sym typeface="Calibri"/>
            </a:endParaRPr>
          </a:p>
        </p:txBody>
      </p:sp>
      <p:sp>
        <p:nvSpPr>
          <p:cNvPr id="371" name="Google Shape;371;p13"/>
          <p:cNvSpPr/>
          <p:nvPr/>
        </p:nvSpPr>
        <p:spPr>
          <a:xfrm>
            <a:off x="640080" y="68580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01020"/>
              </a:buClr>
              <a:buSzPts val="3000"/>
              <a:buFont typeface="Georgia"/>
              <a:buNone/>
            </a:pPr>
            <a:r>
              <a:rPr b="1" i="0" lang="en-US" sz="3000" u="none" cap="none" strike="noStrike">
                <a:solidFill>
                  <a:srgbClr val="801020"/>
                </a:solidFill>
                <a:latin typeface="Georgia"/>
                <a:ea typeface="Georgia"/>
                <a:cs typeface="Georgia"/>
                <a:sym typeface="Georgia"/>
              </a:rPr>
              <a:t>Every DPDP term, in plain English</a:t>
            </a:r>
            <a:endParaRPr b="0" i="0" sz="3000" u="none" cap="none" strike="noStrike">
              <a:solidFill>
                <a:schemeClr val="dk1"/>
              </a:solidFill>
              <a:latin typeface="Calibri"/>
              <a:ea typeface="Calibri"/>
              <a:cs typeface="Calibri"/>
              <a:sym typeface="Calibri"/>
            </a:endParaRPr>
          </a:p>
        </p:txBody>
      </p:sp>
      <p:sp>
        <p:nvSpPr>
          <p:cNvPr id="372" name="Google Shape;372;p13"/>
          <p:cNvSpPr/>
          <p:nvPr/>
        </p:nvSpPr>
        <p:spPr>
          <a:xfrm>
            <a:off x="640080" y="1207008"/>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350"/>
              <a:buFont typeface="Calibri"/>
              <a:buNone/>
            </a:pPr>
            <a:r>
              <a:rPr b="0" i="1" lang="en-US" sz="1350" u="none" cap="none" strike="noStrike">
                <a:solidFill>
                  <a:srgbClr val="9A8C8E"/>
                </a:solidFill>
                <a:latin typeface="Calibri"/>
                <a:ea typeface="Calibri"/>
                <a:cs typeface="Calibri"/>
                <a:sym typeface="Calibri"/>
              </a:rPr>
              <a:t>The full list of terms, in case your team wants something to refer back to.</a:t>
            </a:r>
            <a:endParaRPr b="0" i="0" sz="1350" u="none" cap="none" strike="noStrike">
              <a:solidFill>
                <a:schemeClr val="dk1"/>
              </a:solidFill>
              <a:latin typeface="Calibri"/>
              <a:ea typeface="Calibri"/>
              <a:cs typeface="Calibri"/>
              <a:sym typeface="Calibri"/>
            </a:endParaRPr>
          </a:p>
        </p:txBody>
      </p:sp>
      <p:sp>
        <p:nvSpPr>
          <p:cNvPr id="373" name="Google Shape;373;p13"/>
          <p:cNvSpPr/>
          <p:nvPr/>
        </p:nvSpPr>
        <p:spPr>
          <a:xfrm>
            <a:off x="640080" y="1627632"/>
            <a:ext cx="5303520" cy="603504"/>
          </a:xfrm>
          <a:prstGeom prst="roundRect">
            <a:avLst>
              <a:gd fmla="val 7576"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3"/>
          <p:cNvSpPr/>
          <p:nvPr/>
        </p:nvSpPr>
        <p:spPr>
          <a:xfrm>
            <a:off x="841248" y="1691640"/>
            <a:ext cx="4937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250"/>
              <a:buFont typeface="Calibri"/>
              <a:buNone/>
            </a:pPr>
            <a:r>
              <a:rPr b="1" i="0" lang="en-US" sz="1250" u="none" cap="none" strike="noStrike">
                <a:solidFill>
                  <a:srgbClr val="801020"/>
                </a:solidFill>
                <a:latin typeface="Calibri"/>
                <a:ea typeface="Calibri"/>
                <a:cs typeface="Calibri"/>
                <a:sym typeface="Calibri"/>
              </a:rPr>
              <a:t>Data Fiduciary</a:t>
            </a:r>
            <a:endParaRPr b="0" i="0" sz="1250" u="none" cap="none" strike="noStrike">
              <a:solidFill>
                <a:schemeClr val="dk1"/>
              </a:solidFill>
              <a:latin typeface="Calibri"/>
              <a:ea typeface="Calibri"/>
              <a:cs typeface="Calibri"/>
              <a:sym typeface="Calibri"/>
            </a:endParaRPr>
          </a:p>
        </p:txBody>
      </p:sp>
      <p:sp>
        <p:nvSpPr>
          <p:cNvPr id="375" name="Google Shape;375;p13"/>
          <p:cNvSpPr/>
          <p:nvPr/>
        </p:nvSpPr>
        <p:spPr>
          <a:xfrm>
            <a:off x="841248" y="1938528"/>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050"/>
              <a:buFont typeface="Calibri"/>
              <a:buNone/>
            </a:pPr>
            <a:r>
              <a:rPr b="0" i="0" lang="en-US" sz="1050" u="none" cap="none" strike="noStrike">
                <a:solidFill>
                  <a:srgbClr val="4A4042"/>
                </a:solidFill>
                <a:latin typeface="Calibri"/>
                <a:ea typeface="Calibri"/>
                <a:cs typeface="Calibri"/>
                <a:sym typeface="Calibri"/>
              </a:rPr>
              <a:t>The organisation that decides how data is used — that's you.</a:t>
            </a:r>
            <a:endParaRPr b="0" i="0" sz="1050" u="none" cap="none" strike="noStrike">
              <a:solidFill>
                <a:schemeClr val="dk1"/>
              </a:solidFill>
              <a:latin typeface="Calibri"/>
              <a:ea typeface="Calibri"/>
              <a:cs typeface="Calibri"/>
              <a:sym typeface="Calibri"/>
            </a:endParaRPr>
          </a:p>
        </p:txBody>
      </p:sp>
      <p:sp>
        <p:nvSpPr>
          <p:cNvPr id="376" name="Google Shape;376;p13"/>
          <p:cNvSpPr/>
          <p:nvPr/>
        </p:nvSpPr>
        <p:spPr>
          <a:xfrm>
            <a:off x="6217920" y="1627632"/>
            <a:ext cx="5303520" cy="603504"/>
          </a:xfrm>
          <a:prstGeom prst="roundRect">
            <a:avLst>
              <a:gd fmla="val 7576"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3"/>
          <p:cNvSpPr/>
          <p:nvPr/>
        </p:nvSpPr>
        <p:spPr>
          <a:xfrm>
            <a:off x="6419088" y="1691640"/>
            <a:ext cx="4937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250"/>
              <a:buFont typeface="Calibri"/>
              <a:buNone/>
            </a:pPr>
            <a:r>
              <a:rPr b="1" i="0" lang="en-US" sz="1250" u="none" cap="none" strike="noStrike">
                <a:solidFill>
                  <a:srgbClr val="801020"/>
                </a:solidFill>
                <a:latin typeface="Calibri"/>
                <a:ea typeface="Calibri"/>
                <a:cs typeface="Calibri"/>
                <a:sym typeface="Calibri"/>
              </a:rPr>
              <a:t>Significant Data Fiduciary</a:t>
            </a:r>
            <a:endParaRPr b="0" i="0" sz="1250" u="none" cap="none" strike="noStrike">
              <a:solidFill>
                <a:schemeClr val="dk1"/>
              </a:solidFill>
              <a:latin typeface="Calibri"/>
              <a:ea typeface="Calibri"/>
              <a:cs typeface="Calibri"/>
              <a:sym typeface="Calibri"/>
            </a:endParaRPr>
          </a:p>
        </p:txBody>
      </p:sp>
      <p:sp>
        <p:nvSpPr>
          <p:cNvPr id="378" name="Google Shape;378;p13"/>
          <p:cNvSpPr/>
          <p:nvPr/>
        </p:nvSpPr>
        <p:spPr>
          <a:xfrm>
            <a:off x="6419088" y="1938528"/>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050"/>
              <a:buFont typeface="Calibri"/>
              <a:buNone/>
            </a:pPr>
            <a:r>
              <a:rPr b="0" i="0" lang="en-US" sz="1050" u="none" cap="none" strike="noStrike">
                <a:solidFill>
                  <a:srgbClr val="4A4042"/>
                </a:solidFill>
                <a:latin typeface="Calibri"/>
                <a:ea typeface="Calibri"/>
                <a:cs typeface="Calibri"/>
                <a:sym typeface="Calibri"/>
              </a:rPr>
              <a:t>A large or high-risk fiduciary the govt holds to stricter rules.</a:t>
            </a:r>
            <a:endParaRPr b="0" i="0" sz="1050" u="none" cap="none" strike="noStrike">
              <a:solidFill>
                <a:schemeClr val="dk1"/>
              </a:solidFill>
              <a:latin typeface="Calibri"/>
              <a:ea typeface="Calibri"/>
              <a:cs typeface="Calibri"/>
              <a:sym typeface="Calibri"/>
            </a:endParaRPr>
          </a:p>
        </p:txBody>
      </p:sp>
      <p:sp>
        <p:nvSpPr>
          <p:cNvPr id="379" name="Google Shape;379;p13"/>
          <p:cNvSpPr/>
          <p:nvPr/>
        </p:nvSpPr>
        <p:spPr>
          <a:xfrm>
            <a:off x="640080" y="2304288"/>
            <a:ext cx="5303520" cy="603504"/>
          </a:xfrm>
          <a:prstGeom prst="roundRect">
            <a:avLst>
              <a:gd fmla="val 7576"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3"/>
          <p:cNvSpPr/>
          <p:nvPr/>
        </p:nvSpPr>
        <p:spPr>
          <a:xfrm>
            <a:off x="841248" y="2368296"/>
            <a:ext cx="4937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250"/>
              <a:buFont typeface="Calibri"/>
              <a:buNone/>
            </a:pPr>
            <a:r>
              <a:rPr b="1" i="0" lang="en-US" sz="1250" u="none" cap="none" strike="noStrike">
                <a:solidFill>
                  <a:srgbClr val="801020"/>
                </a:solidFill>
                <a:latin typeface="Calibri"/>
                <a:ea typeface="Calibri"/>
                <a:cs typeface="Calibri"/>
                <a:sym typeface="Calibri"/>
              </a:rPr>
              <a:t>Data Principal</a:t>
            </a:r>
            <a:endParaRPr b="0" i="0" sz="1250" u="none" cap="none" strike="noStrike">
              <a:solidFill>
                <a:schemeClr val="dk1"/>
              </a:solidFill>
              <a:latin typeface="Calibri"/>
              <a:ea typeface="Calibri"/>
              <a:cs typeface="Calibri"/>
              <a:sym typeface="Calibri"/>
            </a:endParaRPr>
          </a:p>
        </p:txBody>
      </p:sp>
      <p:sp>
        <p:nvSpPr>
          <p:cNvPr id="381" name="Google Shape;381;p13"/>
          <p:cNvSpPr/>
          <p:nvPr/>
        </p:nvSpPr>
        <p:spPr>
          <a:xfrm>
            <a:off x="841248" y="2615184"/>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050"/>
              <a:buFont typeface="Calibri"/>
              <a:buNone/>
            </a:pPr>
            <a:r>
              <a:rPr b="0" i="0" lang="en-US" sz="1050" u="none" cap="none" strike="noStrike">
                <a:solidFill>
                  <a:srgbClr val="4A4042"/>
                </a:solidFill>
                <a:latin typeface="Calibri"/>
                <a:ea typeface="Calibri"/>
                <a:cs typeface="Calibri"/>
                <a:sym typeface="Calibri"/>
              </a:rPr>
              <a:t>The person the data is about — your beneficiary or staff.</a:t>
            </a:r>
            <a:endParaRPr b="0" i="0" sz="1050" u="none" cap="none" strike="noStrike">
              <a:solidFill>
                <a:schemeClr val="dk1"/>
              </a:solidFill>
              <a:latin typeface="Calibri"/>
              <a:ea typeface="Calibri"/>
              <a:cs typeface="Calibri"/>
              <a:sym typeface="Calibri"/>
            </a:endParaRPr>
          </a:p>
        </p:txBody>
      </p:sp>
      <p:sp>
        <p:nvSpPr>
          <p:cNvPr id="382" name="Google Shape;382;p13"/>
          <p:cNvSpPr/>
          <p:nvPr/>
        </p:nvSpPr>
        <p:spPr>
          <a:xfrm>
            <a:off x="6217920" y="2304288"/>
            <a:ext cx="5303520" cy="603504"/>
          </a:xfrm>
          <a:prstGeom prst="roundRect">
            <a:avLst>
              <a:gd fmla="val 7576"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3"/>
          <p:cNvSpPr/>
          <p:nvPr/>
        </p:nvSpPr>
        <p:spPr>
          <a:xfrm>
            <a:off x="6419088" y="2368296"/>
            <a:ext cx="4937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250"/>
              <a:buFont typeface="Calibri"/>
              <a:buNone/>
            </a:pPr>
            <a:r>
              <a:rPr b="1" i="0" lang="en-US" sz="1250" u="none" cap="none" strike="noStrike">
                <a:solidFill>
                  <a:srgbClr val="801020"/>
                </a:solidFill>
                <a:latin typeface="Calibri"/>
                <a:ea typeface="Calibri"/>
                <a:cs typeface="Calibri"/>
                <a:sym typeface="Calibri"/>
              </a:rPr>
              <a:t>Data Processor</a:t>
            </a:r>
            <a:endParaRPr b="0" i="0" sz="1250" u="none" cap="none" strike="noStrike">
              <a:solidFill>
                <a:schemeClr val="dk1"/>
              </a:solidFill>
              <a:latin typeface="Calibri"/>
              <a:ea typeface="Calibri"/>
              <a:cs typeface="Calibri"/>
              <a:sym typeface="Calibri"/>
            </a:endParaRPr>
          </a:p>
        </p:txBody>
      </p:sp>
      <p:sp>
        <p:nvSpPr>
          <p:cNvPr id="384" name="Google Shape;384;p13"/>
          <p:cNvSpPr/>
          <p:nvPr/>
        </p:nvSpPr>
        <p:spPr>
          <a:xfrm>
            <a:off x="6419088" y="2615184"/>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050"/>
              <a:buFont typeface="Calibri"/>
              <a:buNone/>
            </a:pPr>
            <a:r>
              <a:rPr b="0" i="0" lang="en-US" sz="1050" u="none" cap="none" strike="noStrike">
                <a:solidFill>
                  <a:srgbClr val="4A4042"/>
                </a:solidFill>
                <a:latin typeface="Calibri"/>
                <a:ea typeface="Calibri"/>
                <a:cs typeface="Calibri"/>
                <a:sym typeface="Calibri"/>
              </a:rPr>
              <a:t>An outside vendor that handles data for you, e.g. a cloud tool.</a:t>
            </a:r>
            <a:endParaRPr b="0" i="0" sz="1050" u="none" cap="none" strike="noStrike">
              <a:solidFill>
                <a:schemeClr val="dk1"/>
              </a:solidFill>
              <a:latin typeface="Calibri"/>
              <a:ea typeface="Calibri"/>
              <a:cs typeface="Calibri"/>
              <a:sym typeface="Calibri"/>
            </a:endParaRPr>
          </a:p>
        </p:txBody>
      </p:sp>
      <p:sp>
        <p:nvSpPr>
          <p:cNvPr id="385" name="Google Shape;385;p13"/>
          <p:cNvSpPr/>
          <p:nvPr/>
        </p:nvSpPr>
        <p:spPr>
          <a:xfrm>
            <a:off x="640080" y="2980944"/>
            <a:ext cx="5303520" cy="603504"/>
          </a:xfrm>
          <a:prstGeom prst="roundRect">
            <a:avLst>
              <a:gd fmla="val 7576"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3"/>
          <p:cNvSpPr/>
          <p:nvPr/>
        </p:nvSpPr>
        <p:spPr>
          <a:xfrm>
            <a:off x="841248" y="3044952"/>
            <a:ext cx="4937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250"/>
              <a:buFont typeface="Calibri"/>
              <a:buNone/>
            </a:pPr>
            <a:r>
              <a:rPr b="1" i="0" lang="en-US" sz="1250" u="none" cap="none" strike="noStrike">
                <a:solidFill>
                  <a:srgbClr val="801020"/>
                </a:solidFill>
                <a:latin typeface="Calibri"/>
                <a:ea typeface="Calibri"/>
                <a:cs typeface="Calibri"/>
                <a:sym typeface="Calibri"/>
              </a:rPr>
              <a:t>Consent Manager</a:t>
            </a:r>
            <a:endParaRPr b="0" i="0" sz="1250" u="none" cap="none" strike="noStrike">
              <a:solidFill>
                <a:schemeClr val="dk1"/>
              </a:solidFill>
              <a:latin typeface="Calibri"/>
              <a:ea typeface="Calibri"/>
              <a:cs typeface="Calibri"/>
              <a:sym typeface="Calibri"/>
            </a:endParaRPr>
          </a:p>
        </p:txBody>
      </p:sp>
      <p:sp>
        <p:nvSpPr>
          <p:cNvPr id="387" name="Google Shape;387;p13"/>
          <p:cNvSpPr/>
          <p:nvPr/>
        </p:nvSpPr>
        <p:spPr>
          <a:xfrm>
            <a:off x="841248" y="3291840"/>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050"/>
              <a:buFont typeface="Calibri"/>
              <a:buNone/>
            </a:pPr>
            <a:r>
              <a:rPr b="0" i="0" lang="en-US" sz="1050" u="none" cap="none" strike="noStrike">
                <a:solidFill>
                  <a:srgbClr val="4A4042"/>
                </a:solidFill>
                <a:latin typeface="Calibri"/>
                <a:ea typeface="Calibri"/>
                <a:cs typeface="Calibri"/>
                <a:sym typeface="Calibri"/>
              </a:rPr>
              <a:t>A registered platform for giving and withdrawing consent.</a:t>
            </a:r>
            <a:endParaRPr b="0" i="0" sz="1050" u="none" cap="none" strike="noStrike">
              <a:solidFill>
                <a:schemeClr val="dk1"/>
              </a:solidFill>
              <a:latin typeface="Calibri"/>
              <a:ea typeface="Calibri"/>
              <a:cs typeface="Calibri"/>
              <a:sym typeface="Calibri"/>
            </a:endParaRPr>
          </a:p>
        </p:txBody>
      </p:sp>
      <p:sp>
        <p:nvSpPr>
          <p:cNvPr id="388" name="Google Shape;388;p13"/>
          <p:cNvSpPr/>
          <p:nvPr/>
        </p:nvSpPr>
        <p:spPr>
          <a:xfrm>
            <a:off x="6217920" y="2980944"/>
            <a:ext cx="5303520" cy="603504"/>
          </a:xfrm>
          <a:prstGeom prst="roundRect">
            <a:avLst>
              <a:gd fmla="val 7576"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3"/>
          <p:cNvSpPr/>
          <p:nvPr/>
        </p:nvSpPr>
        <p:spPr>
          <a:xfrm>
            <a:off x="6419088" y="3044952"/>
            <a:ext cx="4937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250"/>
              <a:buFont typeface="Calibri"/>
              <a:buNone/>
            </a:pPr>
            <a:r>
              <a:rPr b="1" i="0" lang="en-US" sz="1250" u="none" cap="none" strike="noStrike">
                <a:solidFill>
                  <a:srgbClr val="801020"/>
                </a:solidFill>
                <a:latin typeface="Calibri"/>
                <a:ea typeface="Calibri"/>
                <a:cs typeface="Calibri"/>
                <a:sym typeface="Calibri"/>
              </a:rPr>
              <a:t>Personal Data</a:t>
            </a:r>
            <a:endParaRPr b="0" i="0" sz="1250" u="none" cap="none" strike="noStrike">
              <a:solidFill>
                <a:schemeClr val="dk1"/>
              </a:solidFill>
              <a:latin typeface="Calibri"/>
              <a:ea typeface="Calibri"/>
              <a:cs typeface="Calibri"/>
              <a:sym typeface="Calibri"/>
            </a:endParaRPr>
          </a:p>
        </p:txBody>
      </p:sp>
      <p:sp>
        <p:nvSpPr>
          <p:cNvPr id="390" name="Google Shape;390;p13"/>
          <p:cNvSpPr/>
          <p:nvPr/>
        </p:nvSpPr>
        <p:spPr>
          <a:xfrm>
            <a:off x="6419088" y="3291840"/>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050"/>
              <a:buFont typeface="Calibri"/>
              <a:buNone/>
            </a:pPr>
            <a:r>
              <a:rPr b="0" i="0" lang="en-US" sz="1050" u="none" cap="none" strike="noStrike">
                <a:solidFill>
                  <a:srgbClr val="4A4042"/>
                </a:solidFill>
                <a:latin typeface="Calibri"/>
                <a:ea typeface="Calibri"/>
                <a:cs typeface="Calibri"/>
                <a:sym typeface="Calibri"/>
              </a:rPr>
              <a:t>Any detail that identifies a person — name, phone, photo.</a:t>
            </a:r>
            <a:endParaRPr b="0" i="0" sz="1050" u="none" cap="none" strike="noStrike">
              <a:solidFill>
                <a:schemeClr val="dk1"/>
              </a:solidFill>
              <a:latin typeface="Calibri"/>
              <a:ea typeface="Calibri"/>
              <a:cs typeface="Calibri"/>
              <a:sym typeface="Calibri"/>
            </a:endParaRPr>
          </a:p>
        </p:txBody>
      </p:sp>
      <p:sp>
        <p:nvSpPr>
          <p:cNvPr id="391" name="Google Shape;391;p13"/>
          <p:cNvSpPr/>
          <p:nvPr/>
        </p:nvSpPr>
        <p:spPr>
          <a:xfrm>
            <a:off x="640080" y="3657600"/>
            <a:ext cx="5303520" cy="603504"/>
          </a:xfrm>
          <a:prstGeom prst="roundRect">
            <a:avLst>
              <a:gd fmla="val 7576"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3"/>
          <p:cNvSpPr/>
          <p:nvPr/>
        </p:nvSpPr>
        <p:spPr>
          <a:xfrm>
            <a:off x="841248" y="3721608"/>
            <a:ext cx="4937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250"/>
              <a:buFont typeface="Calibri"/>
              <a:buNone/>
            </a:pPr>
            <a:r>
              <a:rPr b="1" i="0" lang="en-US" sz="1250" u="none" cap="none" strike="noStrike">
                <a:solidFill>
                  <a:srgbClr val="801020"/>
                </a:solidFill>
                <a:latin typeface="Calibri"/>
                <a:ea typeface="Calibri"/>
                <a:cs typeface="Calibri"/>
                <a:sym typeface="Calibri"/>
              </a:rPr>
              <a:t>Sensitive Personal Data</a:t>
            </a:r>
            <a:endParaRPr b="0" i="0" sz="1250" u="none" cap="none" strike="noStrike">
              <a:solidFill>
                <a:schemeClr val="dk1"/>
              </a:solidFill>
              <a:latin typeface="Calibri"/>
              <a:ea typeface="Calibri"/>
              <a:cs typeface="Calibri"/>
              <a:sym typeface="Calibri"/>
            </a:endParaRPr>
          </a:p>
        </p:txBody>
      </p:sp>
      <p:sp>
        <p:nvSpPr>
          <p:cNvPr id="393" name="Google Shape;393;p13"/>
          <p:cNvSpPr/>
          <p:nvPr/>
        </p:nvSpPr>
        <p:spPr>
          <a:xfrm>
            <a:off x="841248" y="3968496"/>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050"/>
              <a:buFont typeface="Calibri"/>
              <a:buNone/>
            </a:pPr>
            <a:r>
              <a:rPr b="0" i="0" lang="en-US" sz="1050" u="none" cap="none" strike="noStrike">
                <a:solidFill>
                  <a:srgbClr val="4A4042"/>
                </a:solidFill>
                <a:latin typeface="Calibri"/>
                <a:ea typeface="Calibri"/>
                <a:cs typeface="Calibri"/>
                <a:sym typeface="Calibri"/>
              </a:rPr>
              <a:t>The riskiest data: health, finances, biometrics, beliefs.</a:t>
            </a:r>
            <a:endParaRPr b="0" i="0" sz="1050" u="none" cap="none" strike="noStrike">
              <a:solidFill>
                <a:schemeClr val="dk1"/>
              </a:solidFill>
              <a:latin typeface="Calibri"/>
              <a:ea typeface="Calibri"/>
              <a:cs typeface="Calibri"/>
              <a:sym typeface="Calibri"/>
            </a:endParaRPr>
          </a:p>
        </p:txBody>
      </p:sp>
      <p:sp>
        <p:nvSpPr>
          <p:cNvPr id="394" name="Google Shape;394;p13"/>
          <p:cNvSpPr/>
          <p:nvPr/>
        </p:nvSpPr>
        <p:spPr>
          <a:xfrm>
            <a:off x="6217920" y="3657600"/>
            <a:ext cx="5303520" cy="603504"/>
          </a:xfrm>
          <a:prstGeom prst="roundRect">
            <a:avLst>
              <a:gd fmla="val 7576"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3"/>
          <p:cNvSpPr/>
          <p:nvPr/>
        </p:nvSpPr>
        <p:spPr>
          <a:xfrm>
            <a:off x="6419088" y="3721608"/>
            <a:ext cx="4937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250"/>
              <a:buFont typeface="Calibri"/>
              <a:buNone/>
            </a:pPr>
            <a:r>
              <a:rPr b="1" i="0" lang="en-US" sz="1250" u="none" cap="none" strike="noStrike">
                <a:solidFill>
                  <a:srgbClr val="801020"/>
                </a:solidFill>
                <a:latin typeface="Calibri"/>
                <a:ea typeface="Calibri"/>
                <a:cs typeface="Calibri"/>
                <a:sym typeface="Calibri"/>
              </a:rPr>
              <a:t>Data Localisation</a:t>
            </a:r>
            <a:endParaRPr b="0" i="0" sz="1250" u="none" cap="none" strike="noStrike">
              <a:solidFill>
                <a:schemeClr val="dk1"/>
              </a:solidFill>
              <a:latin typeface="Calibri"/>
              <a:ea typeface="Calibri"/>
              <a:cs typeface="Calibri"/>
              <a:sym typeface="Calibri"/>
            </a:endParaRPr>
          </a:p>
        </p:txBody>
      </p:sp>
      <p:sp>
        <p:nvSpPr>
          <p:cNvPr id="396" name="Google Shape;396;p13"/>
          <p:cNvSpPr/>
          <p:nvPr/>
        </p:nvSpPr>
        <p:spPr>
          <a:xfrm>
            <a:off x="6419088" y="3968496"/>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050"/>
              <a:buFont typeface="Calibri"/>
              <a:buNone/>
            </a:pPr>
            <a:r>
              <a:rPr b="0" i="0" lang="en-US" sz="1050" u="none" cap="none" strike="noStrike">
                <a:solidFill>
                  <a:srgbClr val="4A4042"/>
                </a:solidFill>
                <a:latin typeface="Calibri"/>
                <a:ea typeface="Calibri"/>
                <a:cs typeface="Calibri"/>
                <a:sym typeface="Calibri"/>
              </a:rPr>
              <a:t>A rule that certain data must be stored on servers in India.</a:t>
            </a:r>
            <a:endParaRPr b="0" i="0" sz="1050" u="none" cap="none" strike="noStrike">
              <a:solidFill>
                <a:schemeClr val="dk1"/>
              </a:solidFill>
              <a:latin typeface="Calibri"/>
              <a:ea typeface="Calibri"/>
              <a:cs typeface="Calibri"/>
              <a:sym typeface="Calibri"/>
            </a:endParaRPr>
          </a:p>
        </p:txBody>
      </p:sp>
      <p:sp>
        <p:nvSpPr>
          <p:cNvPr id="397" name="Google Shape;397;p13"/>
          <p:cNvSpPr/>
          <p:nvPr/>
        </p:nvSpPr>
        <p:spPr>
          <a:xfrm>
            <a:off x="640080" y="4334256"/>
            <a:ext cx="5303520" cy="603504"/>
          </a:xfrm>
          <a:prstGeom prst="roundRect">
            <a:avLst>
              <a:gd fmla="val 7576"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3"/>
          <p:cNvSpPr/>
          <p:nvPr/>
        </p:nvSpPr>
        <p:spPr>
          <a:xfrm>
            <a:off x="841248" y="4398264"/>
            <a:ext cx="4937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250"/>
              <a:buFont typeface="Calibri"/>
              <a:buNone/>
            </a:pPr>
            <a:r>
              <a:rPr b="1" i="0" lang="en-US" sz="1250" u="none" cap="none" strike="noStrike">
                <a:solidFill>
                  <a:srgbClr val="801020"/>
                </a:solidFill>
                <a:latin typeface="Calibri"/>
                <a:ea typeface="Calibri"/>
                <a:cs typeface="Calibri"/>
                <a:sym typeface="Calibri"/>
              </a:rPr>
              <a:t>Personal Data Breach</a:t>
            </a:r>
            <a:endParaRPr b="0" i="0" sz="1250" u="none" cap="none" strike="noStrike">
              <a:solidFill>
                <a:schemeClr val="dk1"/>
              </a:solidFill>
              <a:latin typeface="Calibri"/>
              <a:ea typeface="Calibri"/>
              <a:cs typeface="Calibri"/>
              <a:sym typeface="Calibri"/>
            </a:endParaRPr>
          </a:p>
        </p:txBody>
      </p:sp>
      <p:sp>
        <p:nvSpPr>
          <p:cNvPr id="399" name="Google Shape;399;p13"/>
          <p:cNvSpPr/>
          <p:nvPr/>
        </p:nvSpPr>
        <p:spPr>
          <a:xfrm>
            <a:off x="841248" y="4645152"/>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050"/>
              <a:buFont typeface="Calibri"/>
              <a:buNone/>
            </a:pPr>
            <a:r>
              <a:rPr b="0" i="0" lang="en-US" sz="1050" u="none" cap="none" strike="noStrike">
                <a:solidFill>
                  <a:srgbClr val="4A4042"/>
                </a:solidFill>
                <a:latin typeface="Calibri"/>
                <a:ea typeface="Calibri"/>
                <a:cs typeface="Calibri"/>
                <a:sym typeface="Calibri"/>
              </a:rPr>
              <a:t>Any unauthorised access, loss, or exposure of personal data.</a:t>
            </a:r>
            <a:endParaRPr b="0" i="0" sz="1050" u="none" cap="none" strike="noStrike">
              <a:solidFill>
                <a:schemeClr val="dk1"/>
              </a:solidFill>
              <a:latin typeface="Calibri"/>
              <a:ea typeface="Calibri"/>
              <a:cs typeface="Calibri"/>
              <a:sym typeface="Calibri"/>
            </a:endParaRPr>
          </a:p>
        </p:txBody>
      </p:sp>
      <p:sp>
        <p:nvSpPr>
          <p:cNvPr id="400" name="Google Shape;400;p13"/>
          <p:cNvSpPr/>
          <p:nvPr/>
        </p:nvSpPr>
        <p:spPr>
          <a:xfrm>
            <a:off x="6217920" y="4334256"/>
            <a:ext cx="5303520" cy="603504"/>
          </a:xfrm>
          <a:prstGeom prst="roundRect">
            <a:avLst>
              <a:gd fmla="val 7576"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3"/>
          <p:cNvSpPr/>
          <p:nvPr/>
        </p:nvSpPr>
        <p:spPr>
          <a:xfrm>
            <a:off x="6419088" y="4398264"/>
            <a:ext cx="4937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250"/>
              <a:buFont typeface="Calibri"/>
              <a:buNone/>
            </a:pPr>
            <a:r>
              <a:rPr b="1" i="0" lang="en-US" sz="1250" u="none" cap="none" strike="noStrike">
                <a:solidFill>
                  <a:srgbClr val="801020"/>
                </a:solidFill>
                <a:latin typeface="Calibri"/>
                <a:ea typeface="Calibri"/>
                <a:cs typeface="Calibri"/>
                <a:sym typeface="Calibri"/>
              </a:rPr>
              <a:t>Grievance Redressal</a:t>
            </a:r>
            <a:endParaRPr b="0" i="0" sz="1250" u="none" cap="none" strike="noStrike">
              <a:solidFill>
                <a:schemeClr val="dk1"/>
              </a:solidFill>
              <a:latin typeface="Calibri"/>
              <a:ea typeface="Calibri"/>
              <a:cs typeface="Calibri"/>
              <a:sym typeface="Calibri"/>
            </a:endParaRPr>
          </a:p>
        </p:txBody>
      </p:sp>
      <p:sp>
        <p:nvSpPr>
          <p:cNvPr id="402" name="Google Shape;402;p13"/>
          <p:cNvSpPr/>
          <p:nvPr/>
        </p:nvSpPr>
        <p:spPr>
          <a:xfrm>
            <a:off x="6419088" y="4645152"/>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050"/>
              <a:buFont typeface="Calibri"/>
              <a:buNone/>
            </a:pPr>
            <a:r>
              <a:rPr b="0" i="0" lang="en-US" sz="1050" u="none" cap="none" strike="noStrike">
                <a:solidFill>
                  <a:srgbClr val="4A4042"/>
                </a:solidFill>
                <a:latin typeface="Calibri"/>
                <a:ea typeface="Calibri"/>
                <a:cs typeface="Calibri"/>
                <a:sym typeface="Calibri"/>
              </a:rPr>
              <a:t>A named contact and process for data-related complaints.</a:t>
            </a:r>
            <a:endParaRPr b="0" i="0" sz="1050" u="none" cap="none" strike="noStrike">
              <a:solidFill>
                <a:schemeClr val="dk1"/>
              </a:solidFill>
              <a:latin typeface="Calibri"/>
              <a:ea typeface="Calibri"/>
              <a:cs typeface="Calibri"/>
              <a:sym typeface="Calibri"/>
            </a:endParaRPr>
          </a:p>
        </p:txBody>
      </p:sp>
      <p:sp>
        <p:nvSpPr>
          <p:cNvPr id="403" name="Google Shape;403;p13"/>
          <p:cNvSpPr/>
          <p:nvPr/>
        </p:nvSpPr>
        <p:spPr>
          <a:xfrm>
            <a:off x="640080" y="5010912"/>
            <a:ext cx="5303520" cy="603504"/>
          </a:xfrm>
          <a:prstGeom prst="roundRect">
            <a:avLst>
              <a:gd fmla="val 7576"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3"/>
          <p:cNvSpPr/>
          <p:nvPr/>
        </p:nvSpPr>
        <p:spPr>
          <a:xfrm>
            <a:off x="841248" y="5074920"/>
            <a:ext cx="4937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250"/>
              <a:buFont typeface="Calibri"/>
              <a:buNone/>
            </a:pPr>
            <a:r>
              <a:rPr b="1" i="0" lang="en-US" sz="1250" u="none" cap="none" strike="noStrike">
                <a:solidFill>
                  <a:srgbClr val="801020"/>
                </a:solidFill>
                <a:latin typeface="Calibri"/>
                <a:ea typeface="Calibri"/>
                <a:cs typeface="Calibri"/>
                <a:sym typeface="Calibri"/>
              </a:rPr>
              <a:t>Cross-border Transfer</a:t>
            </a:r>
            <a:endParaRPr b="0" i="0" sz="1250" u="none" cap="none" strike="noStrike">
              <a:solidFill>
                <a:schemeClr val="dk1"/>
              </a:solidFill>
              <a:latin typeface="Calibri"/>
              <a:ea typeface="Calibri"/>
              <a:cs typeface="Calibri"/>
              <a:sym typeface="Calibri"/>
            </a:endParaRPr>
          </a:p>
        </p:txBody>
      </p:sp>
      <p:sp>
        <p:nvSpPr>
          <p:cNvPr id="405" name="Google Shape;405;p13"/>
          <p:cNvSpPr/>
          <p:nvPr/>
        </p:nvSpPr>
        <p:spPr>
          <a:xfrm>
            <a:off x="841248" y="5321808"/>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050"/>
              <a:buFont typeface="Calibri"/>
              <a:buNone/>
            </a:pPr>
            <a:r>
              <a:rPr b="0" i="0" lang="en-US" sz="1050" u="none" cap="none" strike="noStrike">
                <a:solidFill>
                  <a:srgbClr val="4A4042"/>
                </a:solidFill>
                <a:latin typeface="Calibri"/>
                <a:ea typeface="Calibri"/>
                <a:cs typeface="Calibri"/>
                <a:sym typeface="Calibri"/>
              </a:rPr>
              <a:t>Sending personal data to a party outside India.</a:t>
            </a:r>
            <a:endParaRPr b="0" i="0" sz="1050" u="none" cap="none" strike="noStrike">
              <a:solidFill>
                <a:schemeClr val="dk1"/>
              </a:solidFill>
              <a:latin typeface="Calibri"/>
              <a:ea typeface="Calibri"/>
              <a:cs typeface="Calibri"/>
              <a:sym typeface="Calibri"/>
            </a:endParaRPr>
          </a:p>
        </p:txBody>
      </p:sp>
      <p:sp>
        <p:nvSpPr>
          <p:cNvPr id="406" name="Google Shape;406;p13"/>
          <p:cNvSpPr/>
          <p:nvPr/>
        </p:nvSpPr>
        <p:spPr>
          <a:xfrm>
            <a:off x="6217920" y="5010912"/>
            <a:ext cx="5303520" cy="603504"/>
          </a:xfrm>
          <a:prstGeom prst="roundRect">
            <a:avLst>
              <a:gd fmla="val 7576"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3"/>
          <p:cNvSpPr/>
          <p:nvPr/>
        </p:nvSpPr>
        <p:spPr>
          <a:xfrm>
            <a:off x="6419088" y="5074920"/>
            <a:ext cx="4937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250"/>
              <a:buFont typeface="Calibri"/>
              <a:buNone/>
            </a:pPr>
            <a:r>
              <a:rPr b="1" i="0" lang="en-US" sz="1250" u="none" cap="none" strike="noStrike">
                <a:solidFill>
                  <a:srgbClr val="801020"/>
                </a:solidFill>
                <a:latin typeface="Calibri"/>
                <a:ea typeface="Calibri"/>
                <a:cs typeface="Calibri"/>
                <a:sym typeface="Calibri"/>
              </a:rPr>
              <a:t>Purpose Limitation</a:t>
            </a:r>
            <a:endParaRPr b="0" i="0" sz="1250" u="none" cap="none" strike="noStrike">
              <a:solidFill>
                <a:schemeClr val="dk1"/>
              </a:solidFill>
              <a:latin typeface="Calibri"/>
              <a:ea typeface="Calibri"/>
              <a:cs typeface="Calibri"/>
              <a:sym typeface="Calibri"/>
            </a:endParaRPr>
          </a:p>
        </p:txBody>
      </p:sp>
      <p:sp>
        <p:nvSpPr>
          <p:cNvPr id="408" name="Google Shape;408;p13"/>
          <p:cNvSpPr/>
          <p:nvPr/>
        </p:nvSpPr>
        <p:spPr>
          <a:xfrm>
            <a:off x="6419088" y="5321808"/>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050"/>
              <a:buFont typeface="Calibri"/>
              <a:buNone/>
            </a:pPr>
            <a:r>
              <a:rPr b="0" i="0" lang="en-US" sz="1050" u="none" cap="none" strike="noStrike">
                <a:solidFill>
                  <a:srgbClr val="4A4042"/>
                </a:solidFill>
                <a:latin typeface="Calibri"/>
                <a:ea typeface="Calibri"/>
                <a:cs typeface="Calibri"/>
                <a:sym typeface="Calibri"/>
              </a:rPr>
              <a:t>Using data only for the reason it was originally collected.</a:t>
            </a:r>
            <a:endParaRPr b="0" i="0" sz="1050" u="none" cap="none" strike="noStrike">
              <a:solidFill>
                <a:schemeClr val="dk1"/>
              </a:solidFill>
              <a:latin typeface="Calibri"/>
              <a:ea typeface="Calibri"/>
              <a:cs typeface="Calibri"/>
              <a:sym typeface="Calibri"/>
            </a:endParaRPr>
          </a:p>
        </p:txBody>
      </p:sp>
      <p:sp>
        <p:nvSpPr>
          <p:cNvPr id="409" name="Google Shape;409;p13"/>
          <p:cNvSpPr/>
          <p:nvPr/>
        </p:nvSpPr>
        <p:spPr>
          <a:xfrm>
            <a:off x="640080" y="5687568"/>
            <a:ext cx="5303520" cy="603504"/>
          </a:xfrm>
          <a:prstGeom prst="roundRect">
            <a:avLst>
              <a:gd fmla="val 7576"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3"/>
          <p:cNvSpPr/>
          <p:nvPr/>
        </p:nvSpPr>
        <p:spPr>
          <a:xfrm>
            <a:off x="841248" y="5751576"/>
            <a:ext cx="4937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250"/>
              <a:buFont typeface="Calibri"/>
              <a:buNone/>
            </a:pPr>
            <a:r>
              <a:rPr b="1" i="0" lang="en-US" sz="1250" u="none" cap="none" strike="noStrike">
                <a:solidFill>
                  <a:srgbClr val="801020"/>
                </a:solidFill>
                <a:latin typeface="Calibri"/>
                <a:ea typeface="Calibri"/>
                <a:cs typeface="Calibri"/>
                <a:sym typeface="Calibri"/>
              </a:rPr>
              <a:t>Right to Erasure</a:t>
            </a:r>
            <a:endParaRPr b="0" i="0" sz="1250" u="none" cap="none" strike="noStrike">
              <a:solidFill>
                <a:schemeClr val="dk1"/>
              </a:solidFill>
              <a:latin typeface="Calibri"/>
              <a:ea typeface="Calibri"/>
              <a:cs typeface="Calibri"/>
              <a:sym typeface="Calibri"/>
            </a:endParaRPr>
          </a:p>
        </p:txBody>
      </p:sp>
      <p:sp>
        <p:nvSpPr>
          <p:cNvPr id="411" name="Google Shape;411;p13"/>
          <p:cNvSpPr/>
          <p:nvPr/>
        </p:nvSpPr>
        <p:spPr>
          <a:xfrm>
            <a:off x="841248" y="5998464"/>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050"/>
              <a:buFont typeface="Calibri"/>
              <a:buNone/>
            </a:pPr>
            <a:r>
              <a:rPr b="0" i="0" lang="en-US" sz="1050" u="none" cap="none" strike="noStrike">
                <a:solidFill>
                  <a:srgbClr val="4A4042"/>
                </a:solidFill>
                <a:latin typeface="Calibri"/>
                <a:ea typeface="Calibri"/>
                <a:cs typeface="Calibri"/>
                <a:sym typeface="Calibri"/>
              </a:rPr>
              <a:t>A person's right to have their data deleted when not needed.</a:t>
            </a:r>
            <a:endParaRPr b="0" i="0" sz="1050" u="none" cap="none" strike="noStrike">
              <a:solidFill>
                <a:schemeClr val="dk1"/>
              </a:solidFill>
              <a:latin typeface="Calibri"/>
              <a:ea typeface="Calibri"/>
              <a:cs typeface="Calibri"/>
              <a:sym typeface="Calibri"/>
            </a:endParaRPr>
          </a:p>
        </p:txBody>
      </p:sp>
      <p:sp>
        <p:nvSpPr>
          <p:cNvPr id="412" name="Google Shape;412;p13"/>
          <p:cNvSpPr/>
          <p:nvPr/>
        </p:nvSpPr>
        <p:spPr>
          <a:xfrm>
            <a:off x="6217920" y="5687568"/>
            <a:ext cx="5303520" cy="603504"/>
          </a:xfrm>
          <a:prstGeom prst="roundRect">
            <a:avLst>
              <a:gd fmla="val 7576"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3"/>
          <p:cNvSpPr/>
          <p:nvPr/>
        </p:nvSpPr>
        <p:spPr>
          <a:xfrm>
            <a:off x="6419088" y="5751576"/>
            <a:ext cx="4937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250"/>
              <a:buFont typeface="Calibri"/>
              <a:buNone/>
            </a:pPr>
            <a:r>
              <a:rPr b="1" i="0" lang="en-US" sz="1250" u="none" cap="none" strike="noStrike">
                <a:solidFill>
                  <a:srgbClr val="801020"/>
                </a:solidFill>
                <a:latin typeface="Calibri"/>
                <a:ea typeface="Calibri"/>
                <a:cs typeface="Calibri"/>
                <a:sym typeface="Calibri"/>
              </a:rPr>
              <a:t>Data Protection Officer (DPO)</a:t>
            </a:r>
            <a:endParaRPr b="0" i="0" sz="1250" u="none" cap="none" strike="noStrike">
              <a:solidFill>
                <a:schemeClr val="dk1"/>
              </a:solidFill>
              <a:latin typeface="Calibri"/>
              <a:ea typeface="Calibri"/>
              <a:cs typeface="Calibri"/>
              <a:sym typeface="Calibri"/>
            </a:endParaRPr>
          </a:p>
        </p:txBody>
      </p:sp>
      <p:sp>
        <p:nvSpPr>
          <p:cNvPr id="414" name="Google Shape;414;p13"/>
          <p:cNvSpPr/>
          <p:nvPr/>
        </p:nvSpPr>
        <p:spPr>
          <a:xfrm>
            <a:off x="6419088" y="5998464"/>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042"/>
              </a:buClr>
              <a:buSzPts val="1050"/>
              <a:buFont typeface="Calibri"/>
              <a:buNone/>
            </a:pPr>
            <a:r>
              <a:rPr b="0" i="0" lang="en-US" sz="1050" u="none" cap="none" strike="noStrike">
                <a:solidFill>
                  <a:srgbClr val="4A4042"/>
                </a:solidFill>
                <a:latin typeface="Calibri"/>
                <a:ea typeface="Calibri"/>
                <a:cs typeface="Calibri"/>
                <a:sym typeface="Calibri"/>
              </a:rPr>
              <a:t>The named person who oversees data-protection compliance.</a:t>
            </a:r>
            <a:endParaRPr b="0" i="0" sz="1050" u="none" cap="none" strike="noStrike">
              <a:solidFill>
                <a:schemeClr val="dk1"/>
              </a:solidFill>
              <a:latin typeface="Calibri"/>
              <a:ea typeface="Calibri"/>
              <a:cs typeface="Calibri"/>
              <a:sym typeface="Calibri"/>
            </a:endParaRPr>
          </a:p>
        </p:txBody>
      </p:sp>
      <p:sp>
        <p:nvSpPr>
          <p:cNvPr id="415" name="Google Shape;415;p13"/>
          <p:cNvSpPr/>
          <p:nvPr/>
        </p:nvSpPr>
        <p:spPr>
          <a:xfrm>
            <a:off x="11430000" y="640080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11</a:t>
            </a:r>
            <a:endParaRPr b="0" i="0" sz="1000" u="none" cap="none" strike="noStrike">
              <a:solidFill>
                <a:schemeClr val="dk1"/>
              </a:solidFill>
              <a:latin typeface="Calibri"/>
              <a:ea typeface="Calibri"/>
              <a:cs typeface="Calibri"/>
              <a:sym typeface="Calibri"/>
            </a:endParaRPr>
          </a:p>
        </p:txBody>
      </p:sp>
      <p:sp>
        <p:nvSpPr>
          <p:cNvPr id="416" name="Google Shape;416;p13"/>
          <p:cNvSpPr/>
          <p:nvPr/>
        </p:nvSpPr>
        <p:spPr>
          <a:xfrm>
            <a:off x="64008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Dhwani RIS  ·  DPDP Adoption Approach</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1" name="Shape 421"/>
        <p:cNvGrpSpPr/>
        <p:nvPr/>
      </p:nvGrpSpPr>
      <p:grpSpPr>
        <a:xfrm>
          <a:off x="0" y="0"/>
          <a:ext cx="0" cy="0"/>
          <a:chOff x="0" y="0"/>
          <a:chExt cx="0" cy="0"/>
        </a:xfrm>
      </p:grpSpPr>
      <p:sp>
        <p:nvSpPr>
          <p:cNvPr id="422" name="Google Shape;422;p14"/>
          <p:cNvSpPr/>
          <p:nvPr/>
        </p:nvSpPr>
        <p:spPr>
          <a:xfrm>
            <a:off x="64008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200"/>
              <a:buFont typeface="Calibri"/>
              <a:buNone/>
            </a:pPr>
            <a:r>
              <a:rPr b="1" i="0" lang="en-US" sz="1200" u="none" cap="none" strike="noStrike">
                <a:solidFill>
                  <a:srgbClr val="F08030"/>
                </a:solidFill>
                <a:latin typeface="Calibri"/>
                <a:ea typeface="Calibri"/>
                <a:cs typeface="Calibri"/>
                <a:sym typeface="Calibri"/>
              </a:rPr>
              <a:t>WHY THIS IS HARDER FOR US</a:t>
            </a:r>
            <a:endParaRPr b="0" i="0" sz="1200" u="none" cap="none" strike="noStrike">
              <a:solidFill>
                <a:schemeClr val="dk1"/>
              </a:solidFill>
              <a:latin typeface="Calibri"/>
              <a:ea typeface="Calibri"/>
              <a:cs typeface="Calibri"/>
              <a:sym typeface="Calibri"/>
            </a:endParaRPr>
          </a:p>
        </p:txBody>
      </p:sp>
      <p:sp>
        <p:nvSpPr>
          <p:cNvPr id="423" name="Google Shape;423;p14"/>
          <p:cNvSpPr/>
          <p:nvPr/>
        </p:nvSpPr>
        <p:spPr>
          <a:xfrm>
            <a:off x="640080" y="68580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01020"/>
              </a:buClr>
              <a:buSzPts val="3000"/>
              <a:buFont typeface="Georgia"/>
              <a:buNone/>
            </a:pPr>
            <a:r>
              <a:rPr b="1" i="0" lang="en-US" sz="3000" u="none" cap="none" strike="noStrike">
                <a:solidFill>
                  <a:srgbClr val="801020"/>
                </a:solidFill>
                <a:latin typeface="Georgia"/>
                <a:ea typeface="Georgia"/>
                <a:cs typeface="Georgia"/>
                <a:sym typeface="Georgia"/>
              </a:rPr>
              <a:t>Big, multi-site organisations have more to cover</a:t>
            </a:r>
            <a:endParaRPr b="0" i="0" sz="3000" u="none" cap="none" strike="noStrike">
              <a:solidFill>
                <a:schemeClr val="dk1"/>
              </a:solidFill>
              <a:latin typeface="Calibri"/>
              <a:ea typeface="Calibri"/>
              <a:cs typeface="Calibri"/>
              <a:sym typeface="Calibri"/>
            </a:endParaRPr>
          </a:p>
        </p:txBody>
      </p:sp>
      <p:sp>
        <p:nvSpPr>
          <p:cNvPr id="424" name="Google Shape;424;p14"/>
          <p:cNvSpPr/>
          <p:nvPr/>
        </p:nvSpPr>
        <p:spPr>
          <a:xfrm>
            <a:off x="640080" y="1554480"/>
            <a:ext cx="10881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450"/>
              <a:buFont typeface="Calibri"/>
              <a:buNone/>
            </a:pPr>
            <a:r>
              <a:rPr b="0" i="1" lang="en-US" sz="1450" u="none" cap="none" strike="noStrike">
                <a:solidFill>
                  <a:srgbClr val="9A8C8E"/>
                </a:solidFill>
                <a:latin typeface="Calibri"/>
                <a:ea typeface="Calibri"/>
                <a:cs typeface="Calibri"/>
                <a:sym typeface="Calibri"/>
              </a:rPr>
              <a:t>The more places you work, the more places data can slip through. Each one is something the team has to keep an eye on.</a:t>
            </a:r>
            <a:endParaRPr b="0" i="0" sz="1450" u="none" cap="none" strike="noStrike">
              <a:solidFill>
                <a:schemeClr val="dk1"/>
              </a:solidFill>
              <a:latin typeface="Calibri"/>
              <a:ea typeface="Calibri"/>
              <a:cs typeface="Calibri"/>
              <a:sym typeface="Calibri"/>
            </a:endParaRPr>
          </a:p>
        </p:txBody>
      </p:sp>
      <p:sp>
        <p:nvSpPr>
          <p:cNvPr id="425" name="Google Shape;425;p14"/>
          <p:cNvSpPr/>
          <p:nvPr/>
        </p:nvSpPr>
        <p:spPr>
          <a:xfrm>
            <a:off x="640080" y="2148840"/>
            <a:ext cx="3502152" cy="1783080"/>
          </a:xfrm>
          <a:prstGeom prst="roundRect">
            <a:avLst>
              <a:gd fmla="val 4103"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4"/>
          <p:cNvSpPr/>
          <p:nvPr/>
        </p:nvSpPr>
        <p:spPr>
          <a:xfrm>
            <a:off x="896112" y="2423160"/>
            <a:ext cx="548640" cy="548640"/>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7" name="Google Shape;427;p14"/>
          <p:cNvPicPr preferRelativeResize="0"/>
          <p:nvPr/>
        </p:nvPicPr>
        <p:blipFill rotWithShape="1">
          <a:blip r:embed="rId3">
            <a:alphaModFix/>
          </a:blip>
          <a:srcRect b="0" l="0" r="0" t="0"/>
          <a:stretch/>
        </p:blipFill>
        <p:spPr>
          <a:xfrm>
            <a:off x="1005840" y="2532888"/>
            <a:ext cx="329184" cy="329184"/>
          </a:xfrm>
          <a:prstGeom prst="rect">
            <a:avLst/>
          </a:prstGeom>
          <a:noFill/>
          <a:ln>
            <a:noFill/>
          </a:ln>
        </p:spPr>
      </p:pic>
      <p:sp>
        <p:nvSpPr>
          <p:cNvPr id="428" name="Google Shape;428;p14"/>
          <p:cNvSpPr/>
          <p:nvPr/>
        </p:nvSpPr>
        <p:spPr>
          <a:xfrm>
            <a:off x="896112" y="3063240"/>
            <a:ext cx="29992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00"/>
              <a:buFont typeface="Calibri"/>
              <a:buNone/>
            </a:pPr>
            <a:r>
              <a:rPr b="1" i="0" lang="en-US" sz="1500" u="none" cap="none" strike="noStrike">
                <a:solidFill>
                  <a:srgbClr val="2A1A1D"/>
                </a:solidFill>
                <a:latin typeface="Calibri"/>
                <a:ea typeface="Calibri"/>
                <a:cs typeface="Calibri"/>
                <a:sym typeface="Calibri"/>
              </a:rPr>
              <a:t>Lots of collection points</a:t>
            </a:r>
            <a:endParaRPr b="0" i="0" sz="1500" u="none" cap="none" strike="noStrike">
              <a:solidFill>
                <a:schemeClr val="dk1"/>
              </a:solidFill>
              <a:latin typeface="Calibri"/>
              <a:ea typeface="Calibri"/>
              <a:cs typeface="Calibri"/>
              <a:sym typeface="Calibri"/>
            </a:endParaRPr>
          </a:p>
        </p:txBody>
      </p:sp>
      <p:sp>
        <p:nvSpPr>
          <p:cNvPr id="429" name="Google Shape;429;p14"/>
          <p:cNvSpPr/>
          <p:nvPr/>
        </p:nvSpPr>
        <p:spPr>
          <a:xfrm>
            <a:off x="896112" y="3410712"/>
            <a:ext cx="2999232"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200"/>
              <a:buFont typeface="Calibri"/>
              <a:buNone/>
            </a:pPr>
            <a:r>
              <a:rPr b="0" i="0" lang="en-US" sz="1200" u="none" cap="none" strike="noStrike">
                <a:solidFill>
                  <a:srgbClr val="4A4042"/>
                </a:solidFill>
                <a:latin typeface="Calibri"/>
                <a:ea typeface="Calibri"/>
                <a:cs typeface="Calibri"/>
                <a:sym typeface="Calibri"/>
              </a:rPr>
              <a:t>Different programmes, states, and systems, each with its own risk.</a:t>
            </a:r>
            <a:endParaRPr b="0" i="0" sz="1200" u="none" cap="none" strike="noStrike">
              <a:solidFill>
                <a:schemeClr val="dk1"/>
              </a:solidFill>
              <a:latin typeface="Calibri"/>
              <a:ea typeface="Calibri"/>
              <a:cs typeface="Calibri"/>
              <a:sym typeface="Calibri"/>
            </a:endParaRPr>
          </a:p>
        </p:txBody>
      </p:sp>
      <p:sp>
        <p:nvSpPr>
          <p:cNvPr id="430" name="Google Shape;430;p14"/>
          <p:cNvSpPr/>
          <p:nvPr/>
        </p:nvSpPr>
        <p:spPr>
          <a:xfrm>
            <a:off x="4370832" y="2148840"/>
            <a:ext cx="3502152" cy="1783080"/>
          </a:xfrm>
          <a:prstGeom prst="roundRect">
            <a:avLst>
              <a:gd fmla="val 4103"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4"/>
          <p:cNvSpPr/>
          <p:nvPr/>
        </p:nvSpPr>
        <p:spPr>
          <a:xfrm>
            <a:off x="4626864" y="2423160"/>
            <a:ext cx="548640" cy="548640"/>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2" name="Google Shape;432;p14"/>
          <p:cNvPicPr preferRelativeResize="0"/>
          <p:nvPr/>
        </p:nvPicPr>
        <p:blipFill rotWithShape="1">
          <a:blip r:embed="rId4">
            <a:alphaModFix/>
          </a:blip>
          <a:srcRect b="0" l="0" r="0" t="0"/>
          <a:stretch/>
        </p:blipFill>
        <p:spPr>
          <a:xfrm>
            <a:off x="4736592" y="2532888"/>
            <a:ext cx="329184" cy="329184"/>
          </a:xfrm>
          <a:prstGeom prst="rect">
            <a:avLst/>
          </a:prstGeom>
          <a:noFill/>
          <a:ln>
            <a:noFill/>
          </a:ln>
        </p:spPr>
      </p:pic>
      <p:sp>
        <p:nvSpPr>
          <p:cNvPr id="433" name="Google Shape;433;p14"/>
          <p:cNvSpPr/>
          <p:nvPr/>
        </p:nvSpPr>
        <p:spPr>
          <a:xfrm>
            <a:off x="4626864" y="3063240"/>
            <a:ext cx="29992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00"/>
              <a:buFont typeface="Calibri"/>
              <a:buNone/>
            </a:pPr>
            <a:r>
              <a:rPr b="1" i="0" lang="en-US" sz="1500" u="none" cap="none" strike="noStrike">
                <a:solidFill>
                  <a:srgbClr val="2A1A1D"/>
                </a:solidFill>
                <a:latin typeface="Calibri"/>
                <a:ea typeface="Calibri"/>
                <a:cs typeface="Calibri"/>
                <a:sym typeface="Calibri"/>
              </a:rPr>
              <a:t>Field tools no one controls</a:t>
            </a:r>
            <a:endParaRPr b="0" i="0" sz="1500" u="none" cap="none" strike="noStrike">
              <a:solidFill>
                <a:schemeClr val="dk1"/>
              </a:solidFill>
              <a:latin typeface="Calibri"/>
              <a:ea typeface="Calibri"/>
              <a:cs typeface="Calibri"/>
              <a:sym typeface="Calibri"/>
            </a:endParaRPr>
          </a:p>
        </p:txBody>
      </p:sp>
      <p:sp>
        <p:nvSpPr>
          <p:cNvPr id="434" name="Google Shape;434;p14"/>
          <p:cNvSpPr/>
          <p:nvPr/>
        </p:nvSpPr>
        <p:spPr>
          <a:xfrm>
            <a:off x="4626864" y="3410712"/>
            <a:ext cx="2999232"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200"/>
              <a:buFont typeface="Calibri"/>
              <a:buNone/>
            </a:pPr>
            <a:r>
              <a:rPr b="0" i="0" lang="en-US" sz="1200" u="none" cap="none" strike="noStrike">
                <a:solidFill>
                  <a:srgbClr val="4A4042"/>
                </a:solidFill>
                <a:latin typeface="Calibri"/>
                <a:ea typeface="Calibri"/>
                <a:cs typeface="Calibri"/>
                <a:sym typeface="Calibri"/>
              </a:rPr>
              <a:t>Google Forms, ODK, KoBo, WhatsApp, personal phones.</a:t>
            </a:r>
            <a:endParaRPr b="0" i="0" sz="1200" u="none" cap="none" strike="noStrike">
              <a:solidFill>
                <a:schemeClr val="dk1"/>
              </a:solidFill>
              <a:latin typeface="Calibri"/>
              <a:ea typeface="Calibri"/>
              <a:cs typeface="Calibri"/>
              <a:sym typeface="Calibri"/>
            </a:endParaRPr>
          </a:p>
        </p:txBody>
      </p:sp>
      <p:sp>
        <p:nvSpPr>
          <p:cNvPr id="435" name="Google Shape;435;p14"/>
          <p:cNvSpPr/>
          <p:nvPr/>
        </p:nvSpPr>
        <p:spPr>
          <a:xfrm>
            <a:off x="8101584" y="2148840"/>
            <a:ext cx="3502152" cy="1783080"/>
          </a:xfrm>
          <a:prstGeom prst="roundRect">
            <a:avLst>
              <a:gd fmla="val 4103"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4"/>
          <p:cNvSpPr/>
          <p:nvPr/>
        </p:nvSpPr>
        <p:spPr>
          <a:xfrm>
            <a:off x="8357616" y="2423160"/>
            <a:ext cx="548640" cy="548640"/>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7" name="Google Shape;437;p14"/>
          <p:cNvPicPr preferRelativeResize="0"/>
          <p:nvPr/>
        </p:nvPicPr>
        <p:blipFill rotWithShape="1">
          <a:blip r:embed="rId5">
            <a:alphaModFix/>
          </a:blip>
          <a:srcRect b="0" l="0" r="0" t="0"/>
          <a:stretch/>
        </p:blipFill>
        <p:spPr>
          <a:xfrm>
            <a:off x="8467344" y="2532888"/>
            <a:ext cx="329184" cy="329184"/>
          </a:xfrm>
          <a:prstGeom prst="rect">
            <a:avLst/>
          </a:prstGeom>
          <a:noFill/>
          <a:ln>
            <a:noFill/>
          </a:ln>
        </p:spPr>
      </p:pic>
      <p:sp>
        <p:nvSpPr>
          <p:cNvPr id="438" name="Google Shape;438;p14"/>
          <p:cNvSpPr/>
          <p:nvPr/>
        </p:nvSpPr>
        <p:spPr>
          <a:xfrm>
            <a:off x="8357616" y="3063240"/>
            <a:ext cx="29992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00"/>
              <a:buFont typeface="Calibri"/>
              <a:buNone/>
            </a:pPr>
            <a:r>
              <a:rPr b="1" i="0" lang="en-US" sz="1500" u="none" cap="none" strike="noStrike">
                <a:solidFill>
                  <a:srgbClr val="2A1A1D"/>
                </a:solidFill>
                <a:latin typeface="Calibri"/>
                <a:ea typeface="Calibri"/>
                <a:cs typeface="Calibri"/>
                <a:sym typeface="Calibri"/>
              </a:rPr>
              <a:t>Data shared with partners</a:t>
            </a:r>
            <a:endParaRPr b="0" i="0" sz="1500" u="none" cap="none" strike="noStrike">
              <a:solidFill>
                <a:schemeClr val="dk1"/>
              </a:solidFill>
              <a:latin typeface="Calibri"/>
              <a:ea typeface="Calibri"/>
              <a:cs typeface="Calibri"/>
              <a:sym typeface="Calibri"/>
            </a:endParaRPr>
          </a:p>
        </p:txBody>
      </p:sp>
      <p:sp>
        <p:nvSpPr>
          <p:cNvPr id="439" name="Google Shape;439;p14"/>
          <p:cNvSpPr/>
          <p:nvPr/>
        </p:nvSpPr>
        <p:spPr>
          <a:xfrm>
            <a:off x="8357616" y="3410712"/>
            <a:ext cx="2999232"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200"/>
              <a:buFont typeface="Calibri"/>
              <a:buNone/>
            </a:pPr>
            <a:r>
              <a:rPr b="0" i="0" lang="en-US" sz="1200" u="none" cap="none" strike="noStrike">
                <a:solidFill>
                  <a:srgbClr val="4A4042"/>
                </a:solidFill>
                <a:latin typeface="Calibri"/>
                <a:ea typeface="Calibri"/>
                <a:cs typeface="Calibri"/>
                <a:sym typeface="Calibri"/>
              </a:rPr>
              <a:t>Hospitals, government, other NGOs, usually with nothing in writing.</a:t>
            </a:r>
            <a:endParaRPr b="0" i="0" sz="1200" u="none" cap="none" strike="noStrike">
              <a:solidFill>
                <a:schemeClr val="dk1"/>
              </a:solidFill>
              <a:latin typeface="Calibri"/>
              <a:ea typeface="Calibri"/>
              <a:cs typeface="Calibri"/>
              <a:sym typeface="Calibri"/>
            </a:endParaRPr>
          </a:p>
        </p:txBody>
      </p:sp>
      <p:sp>
        <p:nvSpPr>
          <p:cNvPr id="440" name="Google Shape;440;p14"/>
          <p:cNvSpPr/>
          <p:nvPr/>
        </p:nvSpPr>
        <p:spPr>
          <a:xfrm>
            <a:off x="640080" y="4133088"/>
            <a:ext cx="3502152" cy="1783080"/>
          </a:xfrm>
          <a:prstGeom prst="roundRect">
            <a:avLst>
              <a:gd fmla="val 4103" name="adj"/>
            </a:avLst>
          </a:prstGeom>
          <a:solidFill>
            <a:srgbClr val="FBDAD3"/>
          </a:solidFill>
          <a:ln cap="flat" cmpd="sng" w="12700">
            <a:solidFill>
              <a:srgbClr val="801020"/>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4"/>
          <p:cNvSpPr/>
          <p:nvPr/>
        </p:nvSpPr>
        <p:spPr>
          <a:xfrm>
            <a:off x="896112" y="4407408"/>
            <a:ext cx="548640" cy="548640"/>
          </a:xfrm>
          <a:prstGeom prst="ellipse">
            <a:avLst/>
          </a:prstGeom>
          <a:solidFill>
            <a:srgbClr val="FBDA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2" name="Google Shape;442;p14"/>
          <p:cNvPicPr preferRelativeResize="0"/>
          <p:nvPr/>
        </p:nvPicPr>
        <p:blipFill rotWithShape="1">
          <a:blip r:embed="rId6">
            <a:alphaModFix/>
          </a:blip>
          <a:srcRect b="0" l="0" r="0" t="0"/>
          <a:stretch/>
        </p:blipFill>
        <p:spPr>
          <a:xfrm>
            <a:off x="1005840" y="4517136"/>
            <a:ext cx="329184" cy="329184"/>
          </a:xfrm>
          <a:prstGeom prst="rect">
            <a:avLst/>
          </a:prstGeom>
          <a:noFill/>
          <a:ln>
            <a:noFill/>
          </a:ln>
        </p:spPr>
      </p:pic>
      <p:sp>
        <p:nvSpPr>
          <p:cNvPr id="443" name="Google Shape;443;p14"/>
          <p:cNvSpPr/>
          <p:nvPr/>
        </p:nvSpPr>
        <p:spPr>
          <a:xfrm>
            <a:off x="896112" y="5047488"/>
            <a:ext cx="29992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00"/>
              <a:buFont typeface="Calibri"/>
              <a:buNone/>
            </a:pPr>
            <a:r>
              <a:rPr b="1" i="0" lang="en-US" sz="1500" u="none" cap="none" strike="noStrike">
                <a:solidFill>
                  <a:srgbClr val="2A1A1D"/>
                </a:solidFill>
                <a:latin typeface="Calibri"/>
                <a:ea typeface="Calibri"/>
                <a:cs typeface="Calibri"/>
                <a:sym typeface="Calibri"/>
              </a:rPr>
              <a:t>Reporting to donors abroad</a:t>
            </a:r>
            <a:endParaRPr b="0" i="0" sz="1500" u="none" cap="none" strike="noStrike">
              <a:solidFill>
                <a:schemeClr val="dk1"/>
              </a:solidFill>
              <a:latin typeface="Calibri"/>
              <a:ea typeface="Calibri"/>
              <a:cs typeface="Calibri"/>
              <a:sym typeface="Calibri"/>
            </a:endParaRPr>
          </a:p>
        </p:txBody>
      </p:sp>
      <p:sp>
        <p:nvSpPr>
          <p:cNvPr id="444" name="Google Shape;444;p14"/>
          <p:cNvSpPr/>
          <p:nvPr/>
        </p:nvSpPr>
        <p:spPr>
          <a:xfrm>
            <a:off x="896112" y="5394960"/>
            <a:ext cx="2999232"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200"/>
              <a:buFont typeface="Calibri"/>
              <a:buNone/>
            </a:pPr>
            <a:r>
              <a:rPr b="0" i="0" lang="en-US" sz="1200" u="none" cap="none" strike="noStrike">
                <a:solidFill>
                  <a:srgbClr val="4A4042"/>
                </a:solidFill>
                <a:latin typeface="Calibri"/>
                <a:ea typeface="Calibri"/>
                <a:cs typeface="Calibri"/>
                <a:sym typeface="Calibri"/>
              </a:rPr>
              <a:t>Sending beneficiary data to overseas funders counts as a transfer out of India.</a:t>
            </a:r>
            <a:endParaRPr b="0" i="0" sz="1200" u="none" cap="none" strike="noStrike">
              <a:solidFill>
                <a:schemeClr val="dk1"/>
              </a:solidFill>
              <a:latin typeface="Calibri"/>
              <a:ea typeface="Calibri"/>
              <a:cs typeface="Calibri"/>
              <a:sym typeface="Calibri"/>
            </a:endParaRPr>
          </a:p>
        </p:txBody>
      </p:sp>
      <p:sp>
        <p:nvSpPr>
          <p:cNvPr id="445" name="Google Shape;445;p14"/>
          <p:cNvSpPr/>
          <p:nvPr/>
        </p:nvSpPr>
        <p:spPr>
          <a:xfrm>
            <a:off x="4370832" y="4133088"/>
            <a:ext cx="3502152" cy="1783080"/>
          </a:xfrm>
          <a:prstGeom prst="roundRect">
            <a:avLst>
              <a:gd fmla="val 4103"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4"/>
          <p:cNvSpPr/>
          <p:nvPr/>
        </p:nvSpPr>
        <p:spPr>
          <a:xfrm>
            <a:off x="4626864" y="4407408"/>
            <a:ext cx="548640" cy="548640"/>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7" name="Google Shape;447;p14"/>
          <p:cNvPicPr preferRelativeResize="0"/>
          <p:nvPr/>
        </p:nvPicPr>
        <p:blipFill rotWithShape="1">
          <a:blip r:embed="rId7">
            <a:alphaModFix/>
          </a:blip>
          <a:srcRect b="0" l="0" r="0" t="0"/>
          <a:stretch/>
        </p:blipFill>
        <p:spPr>
          <a:xfrm>
            <a:off x="4736592" y="4517136"/>
            <a:ext cx="329184" cy="329184"/>
          </a:xfrm>
          <a:prstGeom prst="rect">
            <a:avLst/>
          </a:prstGeom>
          <a:noFill/>
          <a:ln>
            <a:noFill/>
          </a:ln>
        </p:spPr>
      </p:pic>
      <p:sp>
        <p:nvSpPr>
          <p:cNvPr id="448" name="Google Shape;448;p14"/>
          <p:cNvSpPr/>
          <p:nvPr/>
        </p:nvSpPr>
        <p:spPr>
          <a:xfrm>
            <a:off x="4626864" y="5047488"/>
            <a:ext cx="29992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00"/>
              <a:buFont typeface="Calibri"/>
              <a:buNone/>
            </a:pPr>
            <a:r>
              <a:rPr b="1" i="0" lang="en-US" sz="1500" u="none" cap="none" strike="noStrike">
                <a:solidFill>
                  <a:srgbClr val="2A1A1D"/>
                </a:solidFill>
                <a:latin typeface="Calibri"/>
                <a:ea typeface="Calibri"/>
                <a:cs typeface="Calibri"/>
                <a:sym typeface="Calibri"/>
              </a:rPr>
              <a:t>Old data piling up</a:t>
            </a:r>
            <a:endParaRPr b="0" i="0" sz="1500" u="none" cap="none" strike="noStrike">
              <a:solidFill>
                <a:schemeClr val="dk1"/>
              </a:solidFill>
              <a:latin typeface="Calibri"/>
              <a:ea typeface="Calibri"/>
              <a:cs typeface="Calibri"/>
              <a:sym typeface="Calibri"/>
            </a:endParaRPr>
          </a:p>
        </p:txBody>
      </p:sp>
      <p:sp>
        <p:nvSpPr>
          <p:cNvPr id="449" name="Google Shape;449;p14"/>
          <p:cNvSpPr/>
          <p:nvPr/>
        </p:nvSpPr>
        <p:spPr>
          <a:xfrm>
            <a:off x="4626864" y="5394960"/>
            <a:ext cx="2999232"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200"/>
              <a:buFont typeface="Calibri"/>
              <a:buNone/>
            </a:pPr>
            <a:r>
              <a:rPr b="0" i="0" lang="en-US" sz="1200" u="none" cap="none" strike="noStrike">
                <a:solidFill>
                  <a:srgbClr val="4A4042"/>
                </a:solidFill>
                <a:latin typeface="Calibri"/>
                <a:ea typeface="Calibri"/>
                <a:cs typeface="Calibri"/>
                <a:sym typeface="Calibri"/>
              </a:rPr>
              <a:t>Records from finished projects sit around for years.</a:t>
            </a:r>
            <a:endParaRPr b="0" i="0" sz="1200" u="none" cap="none" strike="noStrike">
              <a:solidFill>
                <a:schemeClr val="dk1"/>
              </a:solidFill>
              <a:latin typeface="Calibri"/>
              <a:ea typeface="Calibri"/>
              <a:cs typeface="Calibri"/>
              <a:sym typeface="Calibri"/>
            </a:endParaRPr>
          </a:p>
        </p:txBody>
      </p:sp>
      <p:sp>
        <p:nvSpPr>
          <p:cNvPr id="450" name="Google Shape;450;p14"/>
          <p:cNvSpPr/>
          <p:nvPr/>
        </p:nvSpPr>
        <p:spPr>
          <a:xfrm>
            <a:off x="8101584" y="4133088"/>
            <a:ext cx="3502152" cy="1783080"/>
          </a:xfrm>
          <a:prstGeom prst="roundRect">
            <a:avLst>
              <a:gd fmla="val 4103"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4"/>
          <p:cNvSpPr/>
          <p:nvPr/>
        </p:nvSpPr>
        <p:spPr>
          <a:xfrm>
            <a:off x="8357616" y="4407408"/>
            <a:ext cx="548640" cy="548640"/>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2" name="Google Shape;452;p14"/>
          <p:cNvPicPr preferRelativeResize="0"/>
          <p:nvPr/>
        </p:nvPicPr>
        <p:blipFill rotWithShape="1">
          <a:blip r:embed="rId8">
            <a:alphaModFix/>
          </a:blip>
          <a:srcRect b="0" l="0" r="0" t="0"/>
          <a:stretch/>
        </p:blipFill>
        <p:spPr>
          <a:xfrm>
            <a:off x="8467344" y="4517136"/>
            <a:ext cx="329184" cy="329184"/>
          </a:xfrm>
          <a:prstGeom prst="rect">
            <a:avLst/>
          </a:prstGeom>
          <a:noFill/>
          <a:ln>
            <a:noFill/>
          </a:ln>
        </p:spPr>
      </p:pic>
      <p:sp>
        <p:nvSpPr>
          <p:cNvPr id="453" name="Google Shape;453;p14"/>
          <p:cNvSpPr/>
          <p:nvPr/>
        </p:nvSpPr>
        <p:spPr>
          <a:xfrm>
            <a:off x="8357616" y="5047488"/>
            <a:ext cx="29992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500"/>
              <a:buFont typeface="Calibri"/>
              <a:buNone/>
            </a:pPr>
            <a:r>
              <a:rPr b="1" i="0" lang="en-US" sz="1500" u="none" cap="none" strike="noStrike">
                <a:solidFill>
                  <a:srgbClr val="2A1A1D"/>
                </a:solidFill>
                <a:latin typeface="Calibri"/>
                <a:ea typeface="Calibri"/>
                <a:cs typeface="Calibri"/>
                <a:sym typeface="Calibri"/>
              </a:rPr>
              <a:t>No one clearly in charge</a:t>
            </a:r>
            <a:endParaRPr b="0" i="0" sz="1500" u="none" cap="none" strike="noStrike">
              <a:solidFill>
                <a:schemeClr val="dk1"/>
              </a:solidFill>
              <a:latin typeface="Calibri"/>
              <a:ea typeface="Calibri"/>
              <a:cs typeface="Calibri"/>
              <a:sym typeface="Calibri"/>
            </a:endParaRPr>
          </a:p>
        </p:txBody>
      </p:sp>
      <p:sp>
        <p:nvSpPr>
          <p:cNvPr id="454" name="Google Shape;454;p14"/>
          <p:cNvSpPr/>
          <p:nvPr/>
        </p:nvSpPr>
        <p:spPr>
          <a:xfrm>
            <a:off x="8357616" y="5394960"/>
            <a:ext cx="2999232"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200"/>
              <a:buFont typeface="Calibri"/>
              <a:buNone/>
            </a:pPr>
            <a:r>
              <a:rPr b="0" i="0" lang="en-US" sz="1200" u="none" cap="none" strike="noStrike">
                <a:solidFill>
                  <a:srgbClr val="4A4042"/>
                </a:solidFill>
                <a:latin typeface="Calibri"/>
                <a:ea typeface="Calibri"/>
                <a:cs typeface="Calibri"/>
                <a:sym typeface="Calibri"/>
              </a:rPr>
              <a:t>Data protection has no obvious owner across the organisation.</a:t>
            </a:r>
            <a:endParaRPr b="0" i="0" sz="1200" u="none" cap="none" strike="noStrike">
              <a:solidFill>
                <a:schemeClr val="dk1"/>
              </a:solidFill>
              <a:latin typeface="Calibri"/>
              <a:ea typeface="Calibri"/>
              <a:cs typeface="Calibri"/>
              <a:sym typeface="Calibri"/>
            </a:endParaRPr>
          </a:p>
        </p:txBody>
      </p:sp>
      <p:sp>
        <p:nvSpPr>
          <p:cNvPr id="455" name="Google Shape;455;p14"/>
          <p:cNvSpPr/>
          <p:nvPr/>
        </p:nvSpPr>
        <p:spPr>
          <a:xfrm>
            <a:off x="11430000" y="640080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12</a:t>
            </a:r>
            <a:endParaRPr b="0" i="0" sz="1000" u="none" cap="none" strike="noStrike">
              <a:solidFill>
                <a:schemeClr val="dk1"/>
              </a:solidFill>
              <a:latin typeface="Calibri"/>
              <a:ea typeface="Calibri"/>
              <a:cs typeface="Calibri"/>
              <a:sym typeface="Calibri"/>
            </a:endParaRPr>
          </a:p>
        </p:txBody>
      </p:sp>
      <p:sp>
        <p:nvSpPr>
          <p:cNvPr id="456" name="Google Shape;456;p14"/>
          <p:cNvSpPr/>
          <p:nvPr/>
        </p:nvSpPr>
        <p:spPr>
          <a:xfrm>
            <a:off x="64008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Dhwani RIS  ·  DPDP Adoption Approach</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1" name="Shape 461"/>
        <p:cNvGrpSpPr/>
        <p:nvPr/>
      </p:nvGrpSpPr>
      <p:grpSpPr>
        <a:xfrm>
          <a:off x="0" y="0"/>
          <a:ext cx="0" cy="0"/>
          <a:chOff x="0" y="0"/>
          <a:chExt cx="0" cy="0"/>
        </a:xfrm>
      </p:grpSpPr>
      <p:sp>
        <p:nvSpPr>
          <p:cNvPr id="462" name="Google Shape;462;p15"/>
          <p:cNvSpPr/>
          <p:nvPr/>
        </p:nvSpPr>
        <p:spPr>
          <a:xfrm>
            <a:off x="64008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200"/>
              <a:buFont typeface="Calibri"/>
              <a:buNone/>
            </a:pPr>
            <a:r>
              <a:rPr b="1" i="0" lang="en-US" sz="1200" u="none" cap="none" strike="noStrike">
                <a:solidFill>
                  <a:srgbClr val="F08030"/>
                </a:solidFill>
                <a:latin typeface="Calibri"/>
                <a:ea typeface="Calibri"/>
                <a:cs typeface="Calibri"/>
                <a:sym typeface="Calibri"/>
              </a:rPr>
              <a:t>WHAT GOOD LOOKS LIKE</a:t>
            </a:r>
            <a:endParaRPr b="0" i="0" sz="1200" u="none" cap="none" strike="noStrike">
              <a:solidFill>
                <a:schemeClr val="dk1"/>
              </a:solidFill>
              <a:latin typeface="Calibri"/>
              <a:ea typeface="Calibri"/>
              <a:cs typeface="Calibri"/>
              <a:sym typeface="Calibri"/>
            </a:endParaRPr>
          </a:p>
        </p:txBody>
      </p:sp>
      <p:sp>
        <p:nvSpPr>
          <p:cNvPr id="463" name="Google Shape;463;p15"/>
          <p:cNvSpPr/>
          <p:nvPr/>
        </p:nvSpPr>
        <p:spPr>
          <a:xfrm>
            <a:off x="640080" y="68580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01020"/>
              </a:buClr>
              <a:buSzPts val="3000"/>
              <a:buFont typeface="Georgia"/>
              <a:buNone/>
            </a:pPr>
            <a:r>
              <a:rPr b="1" i="0" lang="en-US" sz="3000" u="none" cap="none" strike="noStrike">
                <a:solidFill>
                  <a:srgbClr val="801020"/>
                </a:solidFill>
                <a:latin typeface="Georgia"/>
                <a:ea typeface="Georgia"/>
                <a:cs typeface="Georgia"/>
                <a:sym typeface="Georgia"/>
              </a:rPr>
              <a:t>It comes down to five questions</a:t>
            </a:r>
            <a:endParaRPr b="0" i="0" sz="3000" u="none" cap="none" strike="noStrike">
              <a:solidFill>
                <a:schemeClr val="dk1"/>
              </a:solidFill>
              <a:latin typeface="Calibri"/>
              <a:ea typeface="Calibri"/>
              <a:cs typeface="Calibri"/>
              <a:sym typeface="Calibri"/>
            </a:endParaRPr>
          </a:p>
        </p:txBody>
      </p:sp>
      <p:sp>
        <p:nvSpPr>
          <p:cNvPr id="464" name="Google Shape;464;p15"/>
          <p:cNvSpPr/>
          <p:nvPr/>
        </p:nvSpPr>
        <p:spPr>
          <a:xfrm>
            <a:off x="640080" y="1783080"/>
            <a:ext cx="10881360" cy="841248"/>
          </a:xfrm>
          <a:prstGeom prst="roundRect">
            <a:avLst>
              <a:gd fmla="val 6522"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5"/>
          <p:cNvSpPr/>
          <p:nvPr/>
        </p:nvSpPr>
        <p:spPr>
          <a:xfrm>
            <a:off x="640080" y="1783080"/>
            <a:ext cx="91440" cy="841248"/>
          </a:xfrm>
          <a:prstGeom prst="rect">
            <a:avLst/>
          </a:prstGeom>
          <a:solidFill>
            <a:srgbClr val="80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5"/>
          <p:cNvSpPr/>
          <p:nvPr/>
        </p:nvSpPr>
        <p:spPr>
          <a:xfrm>
            <a:off x="868680" y="1783080"/>
            <a:ext cx="86868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3000"/>
              <a:buFont typeface="Georgia"/>
              <a:buNone/>
            </a:pPr>
            <a:r>
              <a:rPr b="1" i="0" lang="en-US" sz="3000" u="none" cap="none" strike="noStrike">
                <a:solidFill>
                  <a:srgbClr val="F08030"/>
                </a:solidFill>
                <a:latin typeface="Georgia"/>
                <a:ea typeface="Georgia"/>
                <a:cs typeface="Georgia"/>
                <a:sym typeface="Georgia"/>
              </a:rPr>
              <a:t>01</a:t>
            </a:r>
            <a:endParaRPr b="0" i="0" sz="3000" u="none" cap="none" strike="noStrike">
              <a:solidFill>
                <a:schemeClr val="dk1"/>
              </a:solidFill>
              <a:latin typeface="Calibri"/>
              <a:ea typeface="Calibri"/>
              <a:cs typeface="Calibri"/>
              <a:sym typeface="Calibri"/>
            </a:endParaRPr>
          </a:p>
        </p:txBody>
      </p:sp>
      <p:sp>
        <p:nvSpPr>
          <p:cNvPr id="467" name="Google Shape;467;p15"/>
          <p:cNvSpPr/>
          <p:nvPr/>
        </p:nvSpPr>
        <p:spPr>
          <a:xfrm>
            <a:off x="1874520" y="1901952"/>
            <a:ext cx="29260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600"/>
              <a:buFont typeface="Calibri"/>
              <a:buNone/>
            </a:pPr>
            <a:r>
              <a:rPr b="1" i="0" lang="en-US" sz="1600" u="none" cap="none" strike="noStrike">
                <a:solidFill>
                  <a:srgbClr val="2A1A1D"/>
                </a:solidFill>
                <a:latin typeface="Calibri"/>
                <a:ea typeface="Calibri"/>
                <a:cs typeface="Calibri"/>
                <a:sym typeface="Calibri"/>
              </a:rPr>
              <a:t>Collection &amp; Consent</a:t>
            </a:r>
            <a:endParaRPr b="0" i="0" sz="1600" u="none" cap="none" strike="noStrike">
              <a:solidFill>
                <a:schemeClr val="dk1"/>
              </a:solidFill>
              <a:latin typeface="Calibri"/>
              <a:ea typeface="Calibri"/>
              <a:cs typeface="Calibri"/>
              <a:sym typeface="Calibri"/>
            </a:endParaRPr>
          </a:p>
        </p:txBody>
      </p:sp>
      <p:cxnSp>
        <p:nvCxnSpPr>
          <p:cNvPr id="468" name="Google Shape;468;p15"/>
          <p:cNvCxnSpPr/>
          <p:nvPr/>
        </p:nvCxnSpPr>
        <p:spPr>
          <a:xfrm>
            <a:off x="4892040" y="1947672"/>
            <a:ext cx="0" cy="512064"/>
          </a:xfrm>
          <a:prstGeom prst="straightConnector1">
            <a:avLst/>
          </a:prstGeom>
          <a:noFill/>
          <a:ln cap="flat" cmpd="sng" w="12700">
            <a:solidFill>
              <a:srgbClr val="EADCDA"/>
            </a:solidFill>
            <a:prstDash val="solid"/>
            <a:round/>
            <a:headEnd len="sm" w="sm" type="none"/>
            <a:tailEnd len="sm" w="sm" type="none"/>
          </a:ln>
        </p:spPr>
      </p:cxnSp>
      <p:sp>
        <p:nvSpPr>
          <p:cNvPr id="469" name="Google Shape;469;p15"/>
          <p:cNvSpPr/>
          <p:nvPr/>
        </p:nvSpPr>
        <p:spPr>
          <a:xfrm>
            <a:off x="5120640" y="1783080"/>
            <a:ext cx="626364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300"/>
              <a:buFont typeface="Calibri"/>
              <a:buNone/>
            </a:pPr>
            <a:r>
              <a:rPr b="0" i="0" lang="en-US" sz="1300" u="none" cap="none" strike="noStrike">
                <a:solidFill>
                  <a:srgbClr val="4A4042"/>
                </a:solidFill>
                <a:latin typeface="Calibri"/>
                <a:ea typeface="Calibri"/>
                <a:cs typeface="Calibri"/>
                <a:sym typeface="Calibri"/>
              </a:rPr>
              <a:t>Do we tell people clearly what we collect and why — and record their permission? Collect only what we truly need.</a:t>
            </a:r>
            <a:endParaRPr b="0" i="0" sz="1300" u="none" cap="none" strike="noStrike">
              <a:solidFill>
                <a:schemeClr val="dk1"/>
              </a:solidFill>
              <a:latin typeface="Calibri"/>
              <a:ea typeface="Calibri"/>
              <a:cs typeface="Calibri"/>
              <a:sym typeface="Calibri"/>
            </a:endParaRPr>
          </a:p>
        </p:txBody>
      </p:sp>
      <p:sp>
        <p:nvSpPr>
          <p:cNvPr id="470" name="Google Shape;470;p15"/>
          <p:cNvSpPr/>
          <p:nvPr/>
        </p:nvSpPr>
        <p:spPr>
          <a:xfrm>
            <a:off x="640080" y="2679192"/>
            <a:ext cx="10881360" cy="841248"/>
          </a:xfrm>
          <a:prstGeom prst="roundRect">
            <a:avLst>
              <a:gd fmla="val 6522"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5"/>
          <p:cNvSpPr/>
          <p:nvPr/>
        </p:nvSpPr>
        <p:spPr>
          <a:xfrm>
            <a:off x="640080" y="2679192"/>
            <a:ext cx="91440" cy="841248"/>
          </a:xfrm>
          <a:prstGeom prst="rect">
            <a:avLst/>
          </a:prstGeom>
          <a:solidFill>
            <a:srgbClr val="80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5"/>
          <p:cNvSpPr/>
          <p:nvPr/>
        </p:nvSpPr>
        <p:spPr>
          <a:xfrm>
            <a:off x="868680" y="2679192"/>
            <a:ext cx="86868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3000"/>
              <a:buFont typeface="Georgia"/>
              <a:buNone/>
            </a:pPr>
            <a:r>
              <a:rPr b="1" i="0" lang="en-US" sz="3000" u="none" cap="none" strike="noStrike">
                <a:solidFill>
                  <a:srgbClr val="F08030"/>
                </a:solidFill>
                <a:latin typeface="Georgia"/>
                <a:ea typeface="Georgia"/>
                <a:cs typeface="Georgia"/>
                <a:sym typeface="Georgia"/>
              </a:rPr>
              <a:t>02</a:t>
            </a:r>
            <a:endParaRPr b="0" i="0" sz="3000" u="none" cap="none" strike="noStrike">
              <a:solidFill>
                <a:schemeClr val="dk1"/>
              </a:solidFill>
              <a:latin typeface="Calibri"/>
              <a:ea typeface="Calibri"/>
              <a:cs typeface="Calibri"/>
              <a:sym typeface="Calibri"/>
            </a:endParaRPr>
          </a:p>
        </p:txBody>
      </p:sp>
      <p:sp>
        <p:nvSpPr>
          <p:cNvPr id="473" name="Google Shape;473;p15"/>
          <p:cNvSpPr/>
          <p:nvPr/>
        </p:nvSpPr>
        <p:spPr>
          <a:xfrm>
            <a:off x="1874520" y="2798064"/>
            <a:ext cx="29260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600"/>
              <a:buFont typeface="Calibri"/>
              <a:buNone/>
            </a:pPr>
            <a:r>
              <a:rPr b="1" i="0" lang="en-US" sz="1600" u="none" cap="none" strike="noStrike">
                <a:solidFill>
                  <a:srgbClr val="2A1A1D"/>
                </a:solidFill>
                <a:latin typeface="Calibri"/>
                <a:ea typeface="Calibri"/>
                <a:cs typeface="Calibri"/>
                <a:sym typeface="Calibri"/>
              </a:rPr>
              <a:t>Storage &amp; Security</a:t>
            </a:r>
            <a:endParaRPr b="0" i="0" sz="1600" u="none" cap="none" strike="noStrike">
              <a:solidFill>
                <a:schemeClr val="dk1"/>
              </a:solidFill>
              <a:latin typeface="Calibri"/>
              <a:ea typeface="Calibri"/>
              <a:cs typeface="Calibri"/>
              <a:sym typeface="Calibri"/>
            </a:endParaRPr>
          </a:p>
        </p:txBody>
      </p:sp>
      <p:cxnSp>
        <p:nvCxnSpPr>
          <p:cNvPr id="474" name="Google Shape;474;p15"/>
          <p:cNvCxnSpPr/>
          <p:nvPr/>
        </p:nvCxnSpPr>
        <p:spPr>
          <a:xfrm>
            <a:off x="4892040" y="2843784"/>
            <a:ext cx="0" cy="512064"/>
          </a:xfrm>
          <a:prstGeom prst="straightConnector1">
            <a:avLst/>
          </a:prstGeom>
          <a:noFill/>
          <a:ln cap="flat" cmpd="sng" w="12700">
            <a:solidFill>
              <a:srgbClr val="EADCDA"/>
            </a:solidFill>
            <a:prstDash val="solid"/>
            <a:round/>
            <a:headEnd len="sm" w="sm" type="none"/>
            <a:tailEnd len="sm" w="sm" type="none"/>
          </a:ln>
        </p:spPr>
      </p:cxnSp>
      <p:sp>
        <p:nvSpPr>
          <p:cNvPr id="475" name="Google Shape;475;p15"/>
          <p:cNvSpPr/>
          <p:nvPr/>
        </p:nvSpPr>
        <p:spPr>
          <a:xfrm>
            <a:off x="5120640" y="2679192"/>
            <a:ext cx="626364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300"/>
              <a:buFont typeface="Calibri"/>
              <a:buNone/>
            </a:pPr>
            <a:r>
              <a:rPr b="0" i="0" lang="en-US" sz="1300" u="none" cap="none" strike="noStrike">
                <a:solidFill>
                  <a:srgbClr val="4A4042"/>
                </a:solidFill>
                <a:latin typeface="Calibri"/>
                <a:ea typeface="Calibri"/>
                <a:cs typeface="Calibri"/>
                <a:sym typeface="Calibri"/>
              </a:rPr>
              <a:t>Do we know what data we hold and where, with passwords, access limits, and backups?</a:t>
            </a:r>
            <a:endParaRPr b="0" i="0" sz="1300" u="none" cap="none" strike="noStrike">
              <a:solidFill>
                <a:schemeClr val="dk1"/>
              </a:solidFill>
              <a:latin typeface="Calibri"/>
              <a:ea typeface="Calibri"/>
              <a:cs typeface="Calibri"/>
              <a:sym typeface="Calibri"/>
            </a:endParaRPr>
          </a:p>
        </p:txBody>
      </p:sp>
      <p:sp>
        <p:nvSpPr>
          <p:cNvPr id="476" name="Google Shape;476;p15"/>
          <p:cNvSpPr/>
          <p:nvPr/>
        </p:nvSpPr>
        <p:spPr>
          <a:xfrm>
            <a:off x="640080" y="3575304"/>
            <a:ext cx="10881360" cy="841248"/>
          </a:xfrm>
          <a:prstGeom prst="roundRect">
            <a:avLst>
              <a:gd fmla="val 6522"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5"/>
          <p:cNvSpPr/>
          <p:nvPr/>
        </p:nvSpPr>
        <p:spPr>
          <a:xfrm>
            <a:off x="640080" y="3575304"/>
            <a:ext cx="91440" cy="841248"/>
          </a:xfrm>
          <a:prstGeom prst="rect">
            <a:avLst/>
          </a:prstGeom>
          <a:solidFill>
            <a:srgbClr val="80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5"/>
          <p:cNvSpPr/>
          <p:nvPr/>
        </p:nvSpPr>
        <p:spPr>
          <a:xfrm>
            <a:off x="868680" y="3575304"/>
            <a:ext cx="86868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3000"/>
              <a:buFont typeface="Georgia"/>
              <a:buNone/>
            </a:pPr>
            <a:r>
              <a:rPr b="1" i="0" lang="en-US" sz="3000" u="none" cap="none" strike="noStrike">
                <a:solidFill>
                  <a:srgbClr val="F08030"/>
                </a:solidFill>
                <a:latin typeface="Georgia"/>
                <a:ea typeface="Georgia"/>
                <a:cs typeface="Georgia"/>
                <a:sym typeface="Georgia"/>
              </a:rPr>
              <a:t>03</a:t>
            </a:r>
            <a:endParaRPr b="0" i="0" sz="3000" u="none" cap="none" strike="noStrike">
              <a:solidFill>
                <a:schemeClr val="dk1"/>
              </a:solidFill>
              <a:latin typeface="Calibri"/>
              <a:ea typeface="Calibri"/>
              <a:cs typeface="Calibri"/>
              <a:sym typeface="Calibri"/>
            </a:endParaRPr>
          </a:p>
        </p:txBody>
      </p:sp>
      <p:sp>
        <p:nvSpPr>
          <p:cNvPr id="479" name="Google Shape;479;p15"/>
          <p:cNvSpPr/>
          <p:nvPr/>
        </p:nvSpPr>
        <p:spPr>
          <a:xfrm>
            <a:off x="1874520" y="3694176"/>
            <a:ext cx="29260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600"/>
              <a:buFont typeface="Calibri"/>
              <a:buNone/>
            </a:pPr>
            <a:r>
              <a:rPr b="1" i="0" lang="en-US" sz="1600" u="none" cap="none" strike="noStrike">
                <a:solidFill>
                  <a:srgbClr val="2A1A1D"/>
                </a:solidFill>
                <a:latin typeface="Calibri"/>
                <a:ea typeface="Calibri"/>
                <a:cs typeface="Calibri"/>
                <a:sym typeface="Calibri"/>
              </a:rPr>
              <a:t>Usage &amp; Sharing</a:t>
            </a:r>
            <a:endParaRPr b="0" i="0" sz="1600" u="none" cap="none" strike="noStrike">
              <a:solidFill>
                <a:schemeClr val="dk1"/>
              </a:solidFill>
              <a:latin typeface="Calibri"/>
              <a:ea typeface="Calibri"/>
              <a:cs typeface="Calibri"/>
              <a:sym typeface="Calibri"/>
            </a:endParaRPr>
          </a:p>
        </p:txBody>
      </p:sp>
      <p:cxnSp>
        <p:nvCxnSpPr>
          <p:cNvPr id="480" name="Google Shape;480;p15"/>
          <p:cNvCxnSpPr/>
          <p:nvPr/>
        </p:nvCxnSpPr>
        <p:spPr>
          <a:xfrm>
            <a:off x="4892040" y="3739896"/>
            <a:ext cx="0" cy="512064"/>
          </a:xfrm>
          <a:prstGeom prst="straightConnector1">
            <a:avLst/>
          </a:prstGeom>
          <a:noFill/>
          <a:ln cap="flat" cmpd="sng" w="12700">
            <a:solidFill>
              <a:srgbClr val="EADCDA"/>
            </a:solidFill>
            <a:prstDash val="solid"/>
            <a:round/>
            <a:headEnd len="sm" w="sm" type="none"/>
            <a:tailEnd len="sm" w="sm" type="none"/>
          </a:ln>
        </p:spPr>
      </p:cxnSp>
      <p:sp>
        <p:nvSpPr>
          <p:cNvPr id="481" name="Google Shape;481;p15"/>
          <p:cNvSpPr/>
          <p:nvPr/>
        </p:nvSpPr>
        <p:spPr>
          <a:xfrm>
            <a:off x="5120640" y="3575304"/>
            <a:ext cx="626364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300"/>
              <a:buFont typeface="Calibri"/>
              <a:buNone/>
            </a:pPr>
            <a:r>
              <a:rPr b="0" i="0" lang="en-US" sz="1300" u="none" cap="none" strike="noStrike">
                <a:solidFill>
                  <a:srgbClr val="4A4042"/>
                </a:solidFill>
                <a:latin typeface="Calibri"/>
                <a:ea typeface="Calibri"/>
                <a:cs typeface="Calibri"/>
                <a:sym typeface="Calibri"/>
              </a:rPr>
              <a:t>Do we use data only for its stated purpose, with written agreements for every partner and vendor?</a:t>
            </a:r>
            <a:endParaRPr b="0" i="0" sz="1300" u="none" cap="none" strike="noStrike">
              <a:solidFill>
                <a:schemeClr val="dk1"/>
              </a:solidFill>
              <a:latin typeface="Calibri"/>
              <a:ea typeface="Calibri"/>
              <a:cs typeface="Calibri"/>
              <a:sym typeface="Calibri"/>
            </a:endParaRPr>
          </a:p>
        </p:txBody>
      </p:sp>
      <p:sp>
        <p:nvSpPr>
          <p:cNvPr id="482" name="Google Shape;482;p15"/>
          <p:cNvSpPr/>
          <p:nvPr/>
        </p:nvSpPr>
        <p:spPr>
          <a:xfrm>
            <a:off x="640080" y="4471416"/>
            <a:ext cx="10881360" cy="841248"/>
          </a:xfrm>
          <a:prstGeom prst="roundRect">
            <a:avLst>
              <a:gd fmla="val 6522"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5"/>
          <p:cNvSpPr/>
          <p:nvPr/>
        </p:nvSpPr>
        <p:spPr>
          <a:xfrm>
            <a:off x="640080" y="4471416"/>
            <a:ext cx="91440" cy="841248"/>
          </a:xfrm>
          <a:prstGeom prst="rect">
            <a:avLst/>
          </a:prstGeom>
          <a:solidFill>
            <a:srgbClr val="80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5"/>
          <p:cNvSpPr/>
          <p:nvPr/>
        </p:nvSpPr>
        <p:spPr>
          <a:xfrm>
            <a:off x="868680" y="4471416"/>
            <a:ext cx="86868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3000"/>
              <a:buFont typeface="Georgia"/>
              <a:buNone/>
            </a:pPr>
            <a:r>
              <a:rPr b="1" i="0" lang="en-US" sz="3000" u="none" cap="none" strike="noStrike">
                <a:solidFill>
                  <a:srgbClr val="F08030"/>
                </a:solidFill>
                <a:latin typeface="Georgia"/>
                <a:ea typeface="Georgia"/>
                <a:cs typeface="Georgia"/>
                <a:sym typeface="Georgia"/>
              </a:rPr>
              <a:t>04</a:t>
            </a:r>
            <a:endParaRPr b="0" i="0" sz="3000" u="none" cap="none" strike="noStrike">
              <a:solidFill>
                <a:schemeClr val="dk1"/>
              </a:solidFill>
              <a:latin typeface="Calibri"/>
              <a:ea typeface="Calibri"/>
              <a:cs typeface="Calibri"/>
              <a:sym typeface="Calibri"/>
            </a:endParaRPr>
          </a:p>
        </p:txBody>
      </p:sp>
      <p:sp>
        <p:nvSpPr>
          <p:cNvPr id="485" name="Google Shape;485;p15"/>
          <p:cNvSpPr/>
          <p:nvPr/>
        </p:nvSpPr>
        <p:spPr>
          <a:xfrm>
            <a:off x="1874520" y="4590288"/>
            <a:ext cx="29260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600"/>
              <a:buFont typeface="Calibri"/>
              <a:buNone/>
            </a:pPr>
            <a:r>
              <a:rPr b="1" i="0" lang="en-US" sz="1600" u="none" cap="none" strike="noStrike">
                <a:solidFill>
                  <a:srgbClr val="2A1A1D"/>
                </a:solidFill>
                <a:latin typeface="Calibri"/>
                <a:ea typeface="Calibri"/>
                <a:cs typeface="Calibri"/>
                <a:sym typeface="Calibri"/>
              </a:rPr>
              <a:t>People's Rights</a:t>
            </a:r>
            <a:endParaRPr b="0" i="0" sz="1600" u="none" cap="none" strike="noStrike">
              <a:solidFill>
                <a:schemeClr val="dk1"/>
              </a:solidFill>
              <a:latin typeface="Calibri"/>
              <a:ea typeface="Calibri"/>
              <a:cs typeface="Calibri"/>
              <a:sym typeface="Calibri"/>
            </a:endParaRPr>
          </a:p>
        </p:txBody>
      </p:sp>
      <p:cxnSp>
        <p:nvCxnSpPr>
          <p:cNvPr id="486" name="Google Shape;486;p15"/>
          <p:cNvCxnSpPr/>
          <p:nvPr/>
        </p:nvCxnSpPr>
        <p:spPr>
          <a:xfrm>
            <a:off x="4892040" y="4636008"/>
            <a:ext cx="0" cy="512064"/>
          </a:xfrm>
          <a:prstGeom prst="straightConnector1">
            <a:avLst/>
          </a:prstGeom>
          <a:noFill/>
          <a:ln cap="flat" cmpd="sng" w="12700">
            <a:solidFill>
              <a:srgbClr val="EADCDA"/>
            </a:solidFill>
            <a:prstDash val="solid"/>
            <a:round/>
            <a:headEnd len="sm" w="sm" type="none"/>
            <a:tailEnd len="sm" w="sm" type="none"/>
          </a:ln>
        </p:spPr>
      </p:cxnSp>
      <p:sp>
        <p:nvSpPr>
          <p:cNvPr id="487" name="Google Shape;487;p15"/>
          <p:cNvSpPr/>
          <p:nvPr/>
        </p:nvSpPr>
        <p:spPr>
          <a:xfrm>
            <a:off x="5120640" y="4471416"/>
            <a:ext cx="626364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300"/>
              <a:buFont typeface="Calibri"/>
              <a:buNone/>
            </a:pPr>
            <a:r>
              <a:rPr b="0" i="0" lang="en-US" sz="1300" u="none" cap="none" strike="noStrike">
                <a:solidFill>
                  <a:srgbClr val="4A4042"/>
                </a:solidFill>
                <a:latin typeface="Calibri"/>
                <a:ea typeface="Calibri"/>
                <a:cs typeface="Calibri"/>
                <a:sym typeface="Calibri"/>
              </a:rPr>
              <a:t>Can someone see, correct, or delete their data — and can we actually do it, within 90 days?</a:t>
            </a:r>
            <a:endParaRPr b="0" i="0" sz="1300" u="none" cap="none" strike="noStrike">
              <a:solidFill>
                <a:schemeClr val="dk1"/>
              </a:solidFill>
              <a:latin typeface="Calibri"/>
              <a:ea typeface="Calibri"/>
              <a:cs typeface="Calibri"/>
              <a:sym typeface="Calibri"/>
            </a:endParaRPr>
          </a:p>
        </p:txBody>
      </p:sp>
      <p:sp>
        <p:nvSpPr>
          <p:cNvPr id="488" name="Google Shape;488;p15"/>
          <p:cNvSpPr/>
          <p:nvPr/>
        </p:nvSpPr>
        <p:spPr>
          <a:xfrm>
            <a:off x="640080" y="5367528"/>
            <a:ext cx="10881360" cy="841248"/>
          </a:xfrm>
          <a:prstGeom prst="roundRect">
            <a:avLst>
              <a:gd fmla="val 6522" name="adj"/>
            </a:avLst>
          </a:prstGeom>
          <a:solidFill>
            <a:srgbClr val="FBF4F3"/>
          </a:solidFill>
          <a:ln cap="flat" cmpd="sng" w="12700">
            <a:solidFill>
              <a:srgbClr val="EADC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5"/>
          <p:cNvSpPr/>
          <p:nvPr/>
        </p:nvSpPr>
        <p:spPr>
          <a:xfrm>
            <a:off x="640080" y="5367528"/>
            <a:ext cx="91440" cy="841248"/>
          </a:xfrm>
          <a:prstGeom prst="rect">
            <a:avLst/>
          </a:prstGeom>
          <a:solidFill>
            <a:srgbClr val="80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5"/>
          <p:cNvSpPr/>
          <p:nvPr/>
        </p:nvSpPr>
        <p:spPr>
          <a:xfrm>
            <a:off x="868680" y="5367528"/>
            <a:ext cx="86868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3000"/>
              <a:buFont typeface="Georgia"/>
              <a:buNone/>
            </a:pPr>
            <a:r>
              <a:rPr b="1" i="0" lang="en-US" sz="3000" u="none" cap="none" strike="noStrike">
                <a:solidFill>
                  <a:srgbClr val="F08030"/>
                </a:solidFill>
                <a:latin typeface="Georgia"/>
                <a:ea typeface="Georgia"/>
                <a:cs typeface="Georgia"/>
                <a:sym typeface="Georgia"/>
              </a:rPr>
              <a:t>05</a:t>
            </a:r>
            <a:endParaRPr b="0" i="0" sz="3000" u="none" cap="none" strike="noStrike">
              <a:solidFill>
                <a:schemeClr val="dk1"/>
              </a:solidFill>
              <a:latin typeface="Calibri"/>
              <a:ea typeface="Calibri"/>
              <a:cs typeface="Calibri"/>
              <a:sym typeface="Calibri"/>
            </a:endParaRPr>
          </a:p>
        </p:txBody>
      </p:sp>
      <p:sp>
        <p:nvSpPr>
          <p:cNvPr id="491" name="Google Shape;491;p15"/>
          <p:cNvSpPr/>
          <p:nvPr/>
        </p:nvSpPr>
        <p:spPr>
          <a:xfrm>
            <a:off x="1874520" y="5486400"/>
            <a:ext cx="29260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600"/>
              <a:buFont typeface="Calibri"/>
              <a:buNone/>
            </a:pPr>
            <a:r>
              <a:rPr b="1" i="0" lang="en-US" sz="1600" u="none" cap="none" strike="noStrike">
                <a:solidFill>
                  <a:srgbClr val="2A1A1D"/>
                </a:solidFill>
                <a:latin typeface="Calibri"/>
                <a:ea typeface="Calibri"/>
                <a:cs typeface="Calibri"/>
                <a:sym typeface="Calibri"/>
              </a:rPr>
              <a:t>Governance</a:t>
            </a:r>
            <a:endParaRPr b="0" i="0" sz="1600" u="none" cap="none" strike="noStrike">
              <a:solidFill>
                <a:schemeClr val="dk1"/>
              </a:solidFill>
              <a:latin typeface="Calibri"/>
              <a:ea typeface="Calibri"/>
              <a:cs typeface="Calibri"/>
              <a:sym typeface="Calibri"/>
            </a:endParaRPr>
          </a:p>
        </p:txBody>
      </p:sp>
      <p:cxnSp>
        <p:nvCxnSpPr>
          <p:cNvPr id="492" name="Google Shape;492;p15"/>
          <p:cNvCxnSpPr/>
          <p:nvPr/>
        </p:nvCxnSpPr>
        <p:spPr>
          <a:xfrm>
            <a:off x="4892040" y="5532120"/>
            <a:ext cx="0" cy="512064"/>
          </a:xfrm>
          <a:prstGeom prst="straightConnector1">
            <a:avLst/>
          </a:prstGeom>
          <a:noFill/>
          <a:ln cap="flat" cmpd="sng" w="12700">
            <a:solidFill>
              <a:srgbClr val="EADCDA"/>
            </a:solidFill>
            <a:prstDash val="solid"/>
            <a:round/>
            <a:headEnd len="sm" w="sm" type="none"/>
            <a:tailEnd len="sm" w="sm" type="none"/>
          </a:ln>
        </p:spPr>
      </p:cxnSp>
      <p:sp>
        <p:nvSpPr>
          <p:cNvPr id="493" name="Google Shape;493;p15"/>
          <p:cNvSpPr/>
          <p:nvPr/>
        </p:nvSpPr>
        <p:spPr>
          <a:xfrm>
            <a:off x="5120640" y="5367528"/>
            <a:ext cx="626364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300"/>
              <a:buFont typeface="Calibri"/>
              <a:buNone/>
            </a:pPr>
            <a:r>
              <a:rPr b="0" i="0" lang="en-US" sz="1300" u="none" cap="none" strike="noStrike">
                <a:solidFill>
                  <a:srgbClr val="4A4042"/>
                </a:solidFill>
                <a:latin typeface="Calibri"/>
                <a:ea typeface="Calibri"/>
                <a:cs typeface="Calibri"/>
                <a:sym typeface="Calibri"/>
              </a:rPr>
              <a:t>Is someone named as responsible, is there a written policy, are staff trained, is there a breach plan?</a:t>
            </a:r>
            <a:endParaRPr b="0" i="0" sz="1300" u="none" cap="none" strike="noStrike">
              <a:solidFill>
                <a:schemeClr val="dk1"/>
              </a:solidFill>
              <a:latin typeface="Calibri"/>
              <a:ea typeface="Calibri"/>
              <a:cs typeface="Calibri"/>
              <a:sym typeface="Calibri"/>
            </a:endParaRPr>
          </a:p>
        </p:txBody>
      </p:sp>
      <p:sp>
        <p:nvSpPr>
          <p:cNvPr id="494" name="Google Shape;494;p15"/>
          <p:cNvSpPr/>
          <p:nvPr/>
        </p:nvSpPr>
        <p:spPr>
          <a:xfrm>
            <a:off x="11430000" y="640080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13</a:t>
            </a:r>
            <a:endParaRPr b="0" i="0" sz="1000" u="none" cap="none" strike="noStrike">
              <a:solidFill>
                <a:schemeClr val="dk1"/>
              </a:solidFill>
              <a:latin typeface="Calibri"/>
              <a:ea typeface="Calibri"/>
              <a:cs typeface="Calibri"/>
              <a:sym typeface="Calibri"/>
            </a:endParaRPr>
          </a:p>
        </p:txBody>
      </p:sp>
      <p:sp>
        <p:nvSpPr>
          <p:cNvPr id="495" name="Google Shape;495;p15"/>
          <p:cNvSpPr/>
          <p:nvPr/>
        </p:nvSpPr>
        <p:spPr>
          <a:xfrm>
            <a:off x="64008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Dhwani RIS  ·  DPDP Adoption Approach</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0" name="Shape 500"/>
        <p:cNvGrpSpPr/>
        <p:nvPr/>
      </p:nvGrpSpPr>
      <p:grpSpPr>
        <a:xfrm>
          <a:off x="0" y="0"/>
          <a:ext cx="0" cy="0"/>
          <a:chOff x="0" y="0"/>
          <a:chExt cx="0" cy="0"/>
        </a:xfrm>
      </p:grpSpPr>
      <p:sp>
        <p:nvSpPr>
          <p:cNvPr id="501" name="Google Shape;501;p16"/>
          <p:cNvSpPr/>
          <p:nvPr/>
        </p:nvSpPr>
        <p:spPr>
          <a:xfrm>
            <a:off x="64008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200"/>
              <a:buFont typeface="Calibri"/>
              <a:buNone/>
            </a:pPr>
            <a:r>
              <a:rPr b="1" i="0" lang="en-US" sz="1200" u="none" cap="none" strike="noStrike">
                <a:solidFill>
                  <a:srgbClr val="F08030"/>
                </a:solidFill>
                <a:latin typeface="Calibri"/>
                <a:ea typeface="Calibri"/>
                <a:cs typeface="Calibri"/>
                <a:sym typeface="Calibri"/>
              </a:rPr>
              <a:t>THE TO-DO LIST</a:t>
            </a:r>
            <a:endParaRPr b="0" i="0" sz="1200" u="none" cap="none" strike="noStrike">
              <a:solidFill>
                <a:schemeClr val="dk1"/>
              </a:solidFill>
              <a:latin typeface="Calibri"/>
              <a:ea typeface="Calibri"/>
              <a:cs typeface="Calibri"/>
              <a:sym typeface="Calibri"/>
            </a:endParaRPr>
          </a:p>
        </p:txBody>
      </p:sp>
      <p:sp>
        <p:nvSpPr>
          <p:cNvPr id="502" name="Google Shape;502;p16"/>
          <p:cNvSpPr/>
          <p:nvPr/>
        </p:nvSpPr>
        <p:spPr>
          <a:xfrm>
            <a:off x="640080" y="685800"/>
            <a:ext cx="109728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01020"/>
              </a:buClr>
              <a:buSzPts val="3000"/>
              <a:buFont typeface="Georgia"/>
              <a:buNone/>
            </a:pPr>
            <a:r>
              <a:rPr b="1" i="0" lang="en-US" sz="3000" u="none" cap="none" strike="noStrike">
                <a:solidFill>
                  <a:srgbClr val="801020"/>
                </a:solidFill>
                <a:latin typeface="Georgia"/>
                <a:ea typeface="Georgia"/>
                <a:cs typeface="Georgia"/>
                <a:sym typeface="Georgia"/>
              </a:rPr>
              <a:t>What this looks like in practice</a:t>
            </a:r>
            <a:endParaRPr b="0" i="0" sz="3000" u="none" cap="none" strike="noStrike">
              <a:solidFill>
                <a:schemeClr val="dk1"/>
              </a:solidFill>
              <a:latin typeface="Calibri"/>
              <a:ea typeface="Calibri"/>
              <a:cs typeface="Calibri"/>
              <a:sym typeface="Calibri"/>
            </a:endParaRPr>
          </a:p>
        </p:txBody>
      </p:sp>
      <p:sp>
        <p:nvSpPr>
          <p:cNvPr id="503" name="Google Shape;503;p16"/>
          <p:cNvSpPr/>
          <p:nvPr/>
        </p:nvSpPr>
        <p:spPr>
          <a:xfrm>
            <a:off x="640080" y="1737360"/>
            <a:ext cx="5440800" cy="960000"/>
          </a:xfrm>
          <a:prstGeom prst="roundRect">
            <a:avLst>
              <a:gd fmla="val 5714" name="adj"/>
            </a:avLst>
          </a:prstGeom>
          <a:solidFill>
            <a:srgbClr val="FFFFFF"/>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6"/>
          <p:cNvSpPr/>
          <p:nvPr/>
        </p:nvSpPr>
        <p:spPr>
          <a:xfrm>
            <a:off x="841248" y="2011680"/>
            <a:ext cx="420600" cy="420600"/>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5" name="Google Shape;505;p16"/>
          <p:cNvPicPr preferRelativeResize="0"/>
          <p:nvPr/>
        </p:nvPicPr>
        <p:blipFill rotWithShape="1">
          <a:blip r:embed="rId3">
            <a:alphaModFix/>
          </a:blip>
          <a:srcRect b="0" l="0" r="0" t="0"/>
          <a:stretch/>
        </p:blipFill>
        <p:spPr>
          <a:xfrm>
            <a:off x="914400" y="2084832"/>
            <a:ext cx="274320" cy="274320"/>
          </a:xfrm>
          <a:prstGeom prst="rect">
            <a:avLst/>
          </a:prstGeom>
          <a:noFill/>
          <a:ln>
            <a:noFill/>
          </a:ln>
        </p:spPr>
      </p:pic>
      <p:sp>
        <p:nvSpPr>
          <p:cNvPr id="506" name="Google Shape;506;p16"/>
          <p:cNvSpPr/>
          <p:nvPr/>
        </p:nvSpPr>
        <p:spPr>
          <a:xfrm>
            <a:off x="1417320" y="1883664"/>
            <a:ext cx="4480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450"/>
              <a:buFont typeface="Calibri"/>
              <a:buNone/>
            </a:pPr>
            <a:r>
              <a:rPr b="1" i="0" lang="en-US" sz="1450" u="none" cap="none" strike="noStrike">
                <a:solidFill>
                  <a:srgbClr val="2A1A1D"/>
                </a:solidFill>
                <a:latin typeface="Calibri"/>
                <a:ea typeface="Calibri"/>
                <a:cs typeface="Calibri"/>
                <a:sym typeface="Calibri"/>
              </a:rPr>
              <a:t>Build one data inventory</a:t>
            </a:r>
            <a:endParaRPr b="0" i="0" sz="1450" u="none" cap="none" strike="noStrike">
              <a:solidFill>
                <a:schemeClr val="dk1"/>
              </a:solidFill>
              <a:latin typeface="Calibri"/>
              <a:ea typeface="Calibri"/>
              <a:cs typeface="Calibri"/>
              <a:sym typeface="Calibri"/>
            </a:endParaRPr>
          </a:p>
        </p:txBody>
      </p:sp>
      <p:sp>
        <p:nvSpPr>
          <p:cNvPr id="507" name="Google Shape;507;p16"/>
          <p:cNvSpPr/>
          <p:nvPr/>
        </p:nvSpPr>
        <p:spPr>
          <a:xfrm>
            <a:off x="1417320" y="2240280"/>
            <a:ext cx="44805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180"/>
              <a:buFont typeface="Calibri"/>
              <a:buNone/>
            </a:pPr>
            <a:r>
              <a:rPr b="0" i="0" lang="en-US" sz="1180" u="none" cap="none" strike="noStrike">
                <a:solidFill>
                  <a:srgbClr val="4A4042"/>
                </a:solidFill>
                <a:latin typeface="Calibri"/>
                <a:ea typeface="Calibri"/>
                <a:cs typeface="Calibri"/>
                <a:sym typeface="Calibri"/>
              </a:rPr>
              <a:t>A single living list: what we hold, where, who can access it, why.</a:t>
            </a:r>
            <a:endParaRPr b="0" i="0" sz="1180" u="none" cap="none" strike="noStrike">
              <a:solidFill>
                <a:schemeClr val="dk1"/>
              </a:solidFill>
              <a:latin typeface="Calibri"/>
              <a:ea typeface="Calibri"/>
              <a:cs typeface="Calibri"/>
              <a:sym typeface="Calibri"/>
            </a:endParaRPr>
          </a:p>
        </p:txBody>
      </p:sp>
      <p:sp>
        <p:nvSpPr>
          <p:cNvPr id="508" name="Google Shape;508;p16"/>
          <p:cNvSpPr/>
          <p:nvPr/>
        </p:nvSpPr>
        <p:spPr>
          <a:xfrm>
            <a:off x="6355080" y="1737360"/>
            <a:ext cx="5440800" cy="960000"/>
          </a:xfrm>
          <a:prstGeom prst="roundRect">
            <a:avLst>
              <a:gd fmla="val 5714" name="adj"/>
            </a:avLst>
          </a:prstGeom>
          <a:solidFill>
            <a:srgbClr val="FFFFFF"/>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6"/>
          <p:cNvSpPr/>
          <p:nvPr/>
        </p:nvSpPr>
        <p:spPr>
          <a:xfrm>
            <a:off x="6556248" y="2011680"/>
            <a:ext cx="420600" cy="420600"/>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0" name="Google Shape;510;p16"/>
          <p:cNvPicPr preferRelativeResize="0"/>
          <p:nvPr/>
        </p:nvPicPr>
        <p:blipFill rotWithShape="1">
          <a:blip r:embed="rId4">
            <a:alphaModFix/>
          </a:blip>
          <a:srcRect b="0" l="0" r="0" t="0"/>
          <a:stretch/>
        </p:blipFill>
        <p:spPr>
          <a:xfrm>
            <a:off x="6629400" y="2084832"/>
            <a:ext cx="274320" cy="274320"/>
          </a:xfrm>
          <a:prstGeom prst="rect">
            <a:avLst/>
          </a:prstGeom>
          <a:noFill/>
          <a:ln>
            <a:noFill/>
          </a:ln>
        </p:spPr>
      </p:pic>
      <p:sp>
        <p:nvSpPr>
          <p:cNvPr id="511" name="Google Shape;511;p16"/>
          <p:cNvSpPr/>
          <p:nvPr/>
        </p:nvSpPr>
        <p:spPr>
          <a:xfrm>
            <a:off x="7132320" y="1883664"/>
            <a:ext cx="4480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450"/>
              <a:buFont typeface="Calibri"/>
              <a:buNone/>
            </a:pPr>
            <a:r>
              <a:rPr b="1" i="0" lang="en-US" sz="1450" u="none" cap="none" strike="noStrike">
                <a:solidFill>
                  <a:srgbClr val="2A1A1D"/>
                </a:solidFill>
                <a:latin typeface="Calibri"/>
                <a:ea typeface="Calibri"/>
                <a:cs typeface="Calibri"/>
                <a:sym typeface="Calibri"/>
              </a:rPr>
              <a:t>Rebuild consent forms &amp; notices</a:t>
            </a:r>
            <a:endParaRPr b="0" i="0" sz="1450" u="none" cap="none" strike="noStrike">
              <a:solidFill>
                <a:schemeClr val="dk1"/>
              </a:solidFill>
              <a:latin typeface="Calibri"/>
              <a:ea typeface="Calibri"/>
              <a:cs typeface="Calibri"/>
              <a:sym typeface="Calibri"/>
            </a:endParaRPr>
          </a:p>
        </p:txBody>
      </p:sp>
      <p:sp>
        <p:nvSpPr>
          <p:cNvPr id="512" name="Google Shape;512;p16"/>
          <p:cNvSpPr/>
          <p:nvPr/>
        </p:nvSpPr>
        <p:spPr>
          <a:xfrm>
            <a:off x="7132320" y="2240280"/>
            <a:ext cx="44805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180"/>
              <a:buFont typeface="Calibri"/>
              <a:buNone/>
            </a:pPr>
            <a:r>
              <a:rPr b="0" i="0" lang="en-US" sz="1180" u="none" cap="none" strike="noStrike">
                <a:solidFill>
                  <a:srgbClr val="4A4042"/>
                </a:solidFill>
                <a:latin typeface="Calibri"/>
                <a:ea typeface="Calibri"/>
                <a:cs typeface="Calibri"/>
                <a:sym typeface="Calibri"/>
              </a:rPr>
              <a:t>Each must state what data, why, the person's rights, and a contact.</a:t>
            </a:r>
            <a:endParaRPr b="0" i="0" sz="1180" u="none" cap="none" strike="noStrike">
              <a:solidFill>
                <a:schemeClr val="dk1"/>
              </a:solidFill>
              <a:latin typeface="Calibri"/>
              <a:ea typeface="Calibri"/>
              <a:cs typeface="Calibri"/>
              <a:sym typeface="Calibri"/>
            </a:endParaRPr>
          </a:p>
        </p:txBody>
      </p:sp>
      <p:sp>
        <p:nvSpPr>
          <p:cNvPr id="513" name="Google Shape;513;p16"/>
          <p:cNvSpPr/>
          <p:nvPr/>
        </p:nvSpPr>
        <p:spPr>
          <a:xfrm>
            <a:off x="640080" y="2816352"/>
            <a:ext cx="5440800" cy="960000"/>
          </a:xfrm>
          <a:prstGeom prst="roundRect">
            <a:avLst>
              <a:gd fmla="val 5714" name="adj"/>
            </a:avLst>
          </a:prstGeom>
          <a:solidFill>
            <a:srgbClr val="FFFFFF"/>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6"/>
          <p:cNvSpPr/>
          <p:nvPr/>
        </p:nvSpPr>
        <p:spPr>
          <a:xfrm>
            <a:off x="841248" y="3090672"/>
            <a:ext cx="420600" cy="420600"/>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5" name="Google Shape;515;p16"/>
          <p:cNvPicPr preferRelativeResize="0"/>
          <p:nvPr/>
        </p:nvPicPr>
        <p:blipFill rotWithShape="1">
          <a:blip r:embed="rId5">
            <a:alphaModFix/>
          </a:blip>
          <a:srcRect b="0" l="0" r="0" t="0"/>
          <a:stretch/>
        </p:blipFill>
        <p:spPr>
          <a:xfrm>
            <a:off x="914400" y="3163824"/>
            <a:ext cx="274320" cy="274320"/>
          </a:xfrm>
          <a:prstGeom prst="rect">
            <a:avLst/>
          </a:prstGeom>
          <a:noFill/>
          <a:ln>
            <a:noFill/>
          </a:ln>
        </p:spPr>
      </p:pic>
      <p:sp>
        <p:nvSpPr>
          <p:cNvPr id="516" name="Google Shape;516;p16"/>
          <p:cNvSpPr/>
          <p:nvPr/>
        </p:nvSpPr>
        <p:spPr>
          <a:xfrm>
            <a:off x="1417320" y="2962656"/>
            <a:ext cx="4480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450"/>
              <a:buFont typeface="Calibri"/>
              <a:buNone/>
            </a:pPr>
            <a:r>
              <a:rPr b="1" i="0" lang="en-US" sz="1450" u="none" cap="none" strike="noStrike">
                <a:solidFill>
                  <a:srgbClr val="2A1A1D"/>
                </a:solidFill>
                <a:latin typeface="Calibri"/>
                <a:ea typeface="Calibri"/>
                <a:cs typeface="Calibri"/>
                <a:sym typeface="Calibri"/>
              </a:rPr>
              <a:t>Notices in the languages people speak</a:t>
            </a:r>
            <a:endParaRPr b="0" i="0" sz="1450" u="none" cap="none" strike="noStrike">
              <a:solidFill>
                <a:schemeClr val="dk1"/>
              </a:solidFill>
              <a:latin typeface="Calibri"/>
              <a:ea typeface="Calibri"/>
              <a:cs typeface="Calibri"/>
              <a:sym typeface="Calibri"/>
            </a:endParaRPr>
          </a:p>
        </p:txBody>
      </p:sp>
      <p:sp>
        <p:nvSpPr>
          <p:cNvPr id="517" name="Google Shape;517;p16"/>
          <p:cNvSpPr/>
          <p:nvPr/>
        </p:nvSpPr>
        <p:spPr>
          <a:xfrm>
            <a:off x="1417320" y="3319272"/>
            <a:ext cx="44805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180"/>
              <a:buFont typeface="Calibri"/>
              <a:buNone/>
            </a:pPr>
            <a:r>
              <a:rPr b="0" i="0" lang="en-US" sz="1180" u="none" cap="none" strike="noStrike">
                <a:solidFill>
                  <a:srgbClr val="4A4042"/>
                </a:solidFill>
                <a:latin typeface="Calibri"/>
                <a:ea typeface="Calibri"/>
                <a:cs typeface="Calibri"/>
                <a:sym typeface="Calibri"/>
              </a:rPr>
              <a:t>The law expects it; our field reality demands it.</a:t>
            </a:r>
            <a:endParaRPr b="0" i="0" sz="1180" u="none" cap="none" strike="noStrike">
              <a:solidFill>
                <a:schemeClr val="dk1"/>
              </a:solidFill>
              <a:latin typeface="Calibri"/>
              <a:ea typeface="Calibri"/>
              <a:cs typeface="Calibri"/>
              <a:sym typeface="Calibri"/>
            </a:endParaRPr>
          </a:p>
        </p:txBody>
      </p:sp>
      <p:sp>
        <p:nvSpPr>
          <p:cNvPr id="518" name="Google Shape;518;p16"/>
          <p:cNvSpPr/>
          <p:nvPr/>
        </p:nvSpPr>
        <p:spPr>
          <a:xfrm>
            <a:off x="6355080" y="2816352"/>
            <a:ext cx="5440800" cy="960000"/>
          </a:xfrm>
          <a:prstGeom prst="roundRect">
            <a:avLst>
              <a:gd fmla="val 5714" name="adj"/>
            </a:avLst>
          </a:prstGeom>
          <a:solidFill>
            <a:srgbClr val="FFFFFF"/>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6"/>
          <p:cNvSpPr/>
          <p:nvPr/>
        </p:nvSpPr>
        <p:spPr>
          <a:xfrm>
            <a:off x="6556248" y="3090672"/>
            <a:ext cx="420600" cy="420600"/>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20" name="Google Shape;520;p16"/>
          <p:cNvPicPr preferRelativeResize="0"/>
          <p:nvPr/>
        </p:nvPicPr>
        <p:blipFill rotWithShape="1">
          <a:blip r:embed="rId6">
            <a:alphaModFix/>
          </a:blip>
          <a:srcRect b="0" l="0" r="0" t="0"/>
          <a:stretch/>
        </p:blipFill>
        <p:spPr>
          <a:xfrm>
            <a:off x="6629400" y="3163824"/>
            <a:ext cx="274320" cy="274320"/>
          </a:xfrm>
          <a:prstGeom prst="rect">
            <a:avLst/>
          </a:prstGeom>
          <a:noFill/>
          <a:ln>
            <a:noFill/>
          </a:ln>
        </p:spPr>
      </p:pic>
      <p:sp>
        <p:nvSpPr>
          <p:cNvPr id="521" name="Google Shape;521;p16"/>
          <p:cNvSpPr/>
          <p:nvPr/>
        </p:nvSpPr>
        <p:spPr>
          <a:xfrm>
            <a:off x="7132320" y="2962656"/>
            <a:ext cx="4480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450"/>
              <a:buFont typeface="Calibri"/>
              <a:buNone/>
            </a:pPr>
            <a:r>
              <a:rPr b="1" i="0" lang="en-US" sz="1450" u="none" cap="none" strike="noStrike">
                <a:solidFill>
                  <a:srgbClr val="2A1A1D"/>
                </a:solidFill>
                <a:latin typeface="Calibri"/>
                <a:ea typeface="Calibri"/>
                <a:cs typeface="Calibri"/>
                <a:sym typeface="Calibri"/>
              </a:rPr>
              <a:t>Set retention rules — and delete</a:t>
            </a:r>
            <a:endParaRPr b="0" i="0" sz="1450" u="none" cap="none" strike="noStrike">
              <a:solidFill>
                <a:schemeClr val="dk1"/>
              </a:solidFill>
              <a:latin typeface="Calibri"/>
              <a:ea typeface="Calibri"/>
              <a:cs typeface="Calibri"/>
              <a:sym typeface="Calibri"/>
            </a:endParaRPr>
          </a:p>
        </p:txBody>
      </p:sp>
      <p:sp>
        <p:nvSpPr>
          <p:cNvPr id="522" name="Google Shape;522;p16"/>
          <p:cNvSpPr/>
          <p:nvPr/>
        </p:nvSpPr>
        <p:spPr>
          <a:xfrm>
            <a:off x="7132320" y="3319272"/>
            <a:ext cx="44805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180"/>
              <a:buFont typeface="Calibri"/>
              <a:buNone/>
            </a:pPr>
            <a:r>
              <a:rPr b="0" i="0" lang="en-US" sz="1180" u="none" cap="none" strike="noStrike">
                <a:solidFill>
                  <a:srgbClr val="4A4042"/>
                </a:solidFill>
                <a:latin typeface="Calibri"/>
                <a:ea typeface="Calibri"/>
                <a:cs typeface="Calibri"/>
                <a:sym typeface="Calibri"/>
              </a:rPr>
              <a:t>Decide how long each data type lives, then delete on schedule.</a:t>
            </a:r>
            <a:endParaRPr b="0" i="0" sz="1180" u="none" cap="none" strike="noStrike">
              <a:solidFill>
                <a:schemeClr val="dk1"/>
              </a:solidFill>
              <a:latin typeface="Calibri"/>
              <a:ea typeface="Calibri"/>
              <a:cs typeface="Calibri"/>
              <a:sym typeface="Calibri"/>
            </a:endParaRPr>
          </a:p>
        </p:txBody>
      </p:sp>
      <p:sp>
        <p:nvSpPr>
          <p:cNvPr id="523" name="Google Shape;523;p16"/>
          <p:cNvSpPr/>
          <p:nvPr/>
        </p:nvSpPr>
        <p:spPr>
          <a:xfrm>
            <a:off x="640080" y="3895344"/>
            <a:ext cx="5440800" cy="960000"/>
          </a:xfrm>
          <a:prstGeom prst="roundRect">
            <a:avLst>
              <a:gd fmla="val 5714" name="adj"/>
            </a:avLst>
          </a:prstGeom>
          <a:solidFill>
            <a:srgbClr val="FFFFFF"/>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6"/>
          <p:cNvSpPr/>
          <p:nvPr/>
        </p:nvSpPr>
        <p:spPr>
          <a:xfrm>
            <a:off x="841248" y="4169664"/>
            <a:ext cx="420600" cy="420600"/>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25" name="Google Shape;525;p16"/>
          <p:cNvPicPr preferRelativeResize="0"/>
          <p:nvPr/>
        </p:nvPicPr>
        <p:blipFill rotWithShape="1">
          <a:blip r:embed="rId7">
            <a:alphaModFix/>
          </a:blip>
          <a:srcRect b="0" l="0" r="0" t="0"/>
          <a:stretch/>
        </p:blipFill>
        <p:spPr>
          <a:xfrm>
            <a:off x="914400" y="4242816"/>
            <a:ext cx="274320" cy="274320"/>
          </a:xfrm>
          <a:prstGeom prst="rect">
            <a:avLst/>
          </a:prstGeom>
          <a:noFill/>
          <a:ln>
            <a:noFill/>
          </a:ln>
        </p:spPr>
      </p:pic>
      <p:sp>
        <p:nvSpPr>
          <p:cNvPr id="526" name="Google Shape;526;p16"/>
          <p:cNvSpPr/>
          <p:nvPr/>
        </p:nvSpPr>
        <p:spPr>
          <a:xfrm>
            <a:off x="1417320" y="4041648"/>
            <a:ext cx="4480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450"/>
              <a:buFont typeface="Calibri"/>
              <a:buNone/>
            </a:pPr>
            <a:r>
              <a:rPr b="1" i="0" lang="en-US" sz="1450" u="none" cap="none" strike="noStrike">
                <a:solidFill>
                  <a:srgbClr val="2A1A1D"/>
                </a:solidFill>
                <a:latin typeface="Calibri"/>
                <a:ea typeface="Calibri"/>
                <a:cs typeface="Calibri"/>
                <a:sym typeface="Calibri"/>
              </a:rPr>
              <a:t>Written agreements with partners &amp; vendors</a:t>
            </a:r>
            <a:endParaRPr b="0" i="0" sz="1450" u="none" cap="none" strike="noStrike">
              <a:solidFill>
                <a:schemeClr val="dk1"/>
              </a:solidFill>
              <a:latin typeface="Calibri"/>
              <a:ea typeface="Calibri"/>
              <a:cs typeface="Calibri"/>
              <a:sym typeface="Calibri"/>
            </a:endParaRPr>
          </a:p>
        </p:txBody>
      </p:sp>
      <p:sp>
        <p:nvSpPr>
          <p:cNvPr id="527" name="Google Shape;527;p16"/>
          <p:cNvSpPr/>
          <p:nvPr/>
        </p:nvSpPr>
        <p:spPr>
          <a:xfrm>
            <a:off x="1417320" y="4398264"/>
            <a:ext cx="44805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180"/>
              <a:buFont typeface="Calibri"/>
              <a:buNone/>
            </a:pPr>
            <a:r>
              <a:rPr b="0" i="0" lang="en-US" sz="1180" u="none" cap="none" strike="noStrike">
                <a:solidFill>
                  <a:srgbClr val="4A4042"/>
                </a:solidFill>
                <a:latin typeface="Calibri"/>
                <a:ea typeface="Calibri"/>
                <a:cs typeface="Calibri"/>
                <a:sym typeface="Calibri"/>
              </a:rPr>
              <a:t>Anyone we share data with needs a signed data-sharing agreement.</a:t>
            </a:r>
            <a:endParaRPr b="0" i="0" sz="1180" u="none" cap="none" strike="noStrike">
              <a:solidFill>
                <a:schemeClr val="dk1"/>
              </a:solidFill>
              <a:latin typeface="Calibri"/>
              <a:ea typeface="Calibri"/>
              <a:cs typeface="Calibri"/>
              <a:sym typeface="Calibri"/>
            </a:endParaRPr>
          </a:p>
        </p:txBody>
      </p:sp>
      <p:sp>
        <p:nvSpPr>
          <p:cNvPr id="528" name="Google Shape;528;p16"/>
          <p:cNvSpPr/>
          <p:nvPr/>
        </p:nvSpPr>
        <p:spPr>
          <a:xfrm>
            <a:off x="6355080" y="3895344"/>
            <a:ext cx="5440800" cy="960000"/>
          </a:xfrm>
          <a:prstGeom prst="roundRect">
            <a:avLst>
              <a:gd fmla="val 5714" name="adj"/>
            </a:avLst>
          </a:prstGeom>
          <a:solidFill>
            <a:srgbClr val="FFFFFF"/>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6"/>
          <p:cNvSpPr/>
          <p:nvPr/>
        </p:nvSpPr>
        <p:spPr>
          <a:xfrm>
            <a:off x="6556248" y="4169664"/>
            <a:ext cx="420600" cy="420600"/>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0" name="Google Shape;530;p16"/>
          <p:cNvPicPr preferRelativeResize="0"/>
          <p:nvPr/>
        </p:nvPicPr>
        <p:blipFill rotWithShape="1">
          <a:blip r:embed="rId8">
            <a:alphaModFix/>
          </a:blip>
          <a:srcRect b="0" l="0" r="0" t="0"/>
          <a:stretch/>
        </p:blipFill>
        <p:spPr>
          <a:xfrm>
            <a:off x="6629400" y="4242816"/>
            <a:ext cx="274320" cy="274320"/>
          </a:xfrm>
          <a:prstGeom prst="rect">
            <a:avLst/>
          </a:prstGeom>
          <a:noFill/>
          <a:ln>
            <a:noFill/>
          </a:ln>
        </p:spPr>
      </p:pic>
      <p:sp>
        <p:nvSpPr>
          <p:cNvPr id="531" name="Google Shape;531;p16"/>
          <p:cNvSpPr/>
          <p:nvPr/>
        </p:nvSpPr>
        <p:spPr>
          <a:xfrm>
            <a:off x="7132320" y="4041648"/>
            <a:ext cx="4480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450"/>
              <a:buFont typeface="Calibri"/>
              <a:buNone/>
            </a:pPr>
            <a:r>
              <a:rPr b="1" i="0" lang="en-US" sz="1450" u="none" cap="none" strike="noStrike">
                <a:solidFill>
                  <a:srgbClr val="2A1A1D"/>
                </a:solidFill>
                <a:latin typeface="Calibri"/>
                <a:ea typeface="Calibri"/>
                <a:cs typeface="Calibri"/>
                <a:sym typeface="Calibri"/>
              </a:rPr>
              <a:t>Lock down access</a:t>
            </a:r>
            <a:endParaRPr b="0" i="0" sz="1450" u="none" cap="none" strike="noStrike">
              <a:solidFill>
                <a:schemeClr val="dk1"/>
              </a:solidFill>
              <a:latin typeface="Calibri"/>
              <a:ea typeface="Calibri"/>
              <a:cs typeface="Calibri"/>
              <a:sym typeface="Calibri"/>
            </a:endParaRPr>
          </a:p>
        </p:txBody>
      </p:sp>
      <p:sp>
        <p:nvSpPr>
          <p:cNvPr id="532" name="Google Shape;532;p16"/>
          <p:cNvSpPr/>
          <p:nvPr/>
        </p:nvSpPr>
        <p:spPr>
          <a:xfrm>
            <a:off x="7132320" y="4398264"/>
            <a:ext cx="44805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180"/>
              <a:buFont typeface="Calibri"/>
              <a:buNone/>
            </a:pPr>
            <a:r>
              <a:rPr b="0" i="0" lang="en-US" sz="1180" u="none" cap="none" strike="noStrike">
                <a:solidFill>
                  <a:srgbClr val="4A4042"/>
                </a:solidFill>
                <a:latin typeface="Calibri"/>
                <a:ea typeface="Calibri"/>
                <a:cs typeface="Calibri"/>
                <a:sym typeface="Calibri"/>
              </a:rPr>
              <a:t>Access by role. Keep audit logs on every system, and review who has access each quarter</a:t>
            </a:r>
            <a:r>
              <a:rPr b="0" i="0" lang="en-US" sz="1180" u="none" cap="none" strike="noStrike">
                <a:solidFill>
                  <a:srgbClr val="4A4042"/>
                </a:solidFill>
                <a:latin typeface="Calibri"/>
                <a:ea typeface="Calibri"/>
                <a:cs typeface="Calibri"/>
                <a:sym typeface="Calibri"/>
              </a:rPr>
              <a:t>.</a:t>
            </a:r>
            <a:endParaRPr b="0" i="0" sz="1180" u="none" cap="none" strike="noStrike">
              <a:solidFill>
                <a:schemeClr val="dk1"/>
              </a:solidFill>
              <a:latin typeface="Calibri"/>
              <a:ea typeface="Calibri"/>
              <a:cs typeface="Calibri"/>
              <a:sym typeface="Calibri"/>
            </a:endParaRPr>
          </a:p>
        </p:txBody>
      </p:sp>
      <p:sp>
        <p:nvSpPr>
          <p:cNvPr id="533" name="Google Shape;533;p16"/>
          <p:cNvSpPr/>
          <p:nvPr/>
        </p:nvSpPr>
        <p:spPr>
          <a:xfrm>
            <a:off x="640080" y="4974336"/>
            <a:ext cx="5440800" cy="960000"/>
          </a:xfrm>
          <a:prstGeom prst="roundRect">
            <a:avLst>
              <a:gd fmla="val 5714" name="adj"/>
            </a:avLst>
          </a:prstGeom>
          <a:solidFill>
            <a:srgbClr val="FFFFFF"/>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6"/>
          <p:cNvSpPr/>
          <p:nvPr/>
        </p:nvSpPr>
        <p:spPr>
          <a:xfrm>
            <a:off x="841248" y="5248656"/>
            <a:ext cx="420600" cy="420600"/>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5" name="Google Shape;535;p16"/>
          <p:cNvPicPr preferRelativeResize="0"/>
          <p:nvPr/>
        </p:nvPicPr>
        <p:blipFill rotWithShape="1">
          <a:blip r:embed="rId9">
            <a:alphaModFix/>
          </a:blip>
          <a:srcRect b="0" l="0" r="0" t="0"/>
          <a:stretch/>
        </p:blipFill>
        <p:spPr>
          <a:xfrm>
            <a:off x="914400" y="5321808"/>
            <a:ext cx="274320" cy="274320"/>
          </a:xfrm>
          <a:prstGeom prst="rect">
            <a:avLst/>
          </a:prstGeom>
          <a:noFill/>
          <a:ln>
            <a:noFill/>
          </a:ln>
        </p:spPr>
      </p:pic>
      <p:sp>
        <p:nvSpPr>
          <p:cNvPr id="536" name="Google Shape;536;p16"/>
          <p:cNvSpPr/>
          <p:nvPr/>
        </p:nvSpPr>
        <p:spPr>
          <a:xfrm>
            <a:off x="1417320" y="5120640"/>
            <a:ext cx="4480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450"/>
              <a:buFont typeface="Calibri"/>
              <a:buNone/>
            </a:pPr>
            <a:r>
              <a:rPr b="1" i="0" lang="en-US" sz="1450" u="none" cap="none" strike="noStrike">
                <a:solidFill>
                  <a:srgbClr val="2A1A1D"/>
                </a:solidFill>
                <a:latin typeface="Calibri"/>
                <a:ea typeface="Calibri"/>
                <a:cs typeface="Calibri"/>
                <a:sym typeface="Calibri"/>
              </a:rPr>
              <a:t>Name an owner &amp; a grievance contact</a:t>
            </a:r>
            <a:endParaRPr b="0" i="0" sz="1450" u="none" cap="none" strike="noStrike">
              <a:solidFill>
                <a:schemeClr val="dk1"/>
              </a:solidFill>
              <a:latin typeface="Calibri"/>
              <a:ea typeface="Calibri"/>
              <a:cs typeface="Calibri"/>
              <a:sym typeface="Calibri"/>
            </a:endParaRPr>
          </a:p>
        </p:txBody>
      </p:sp>
      <p:sp>
        <p:nvSpPr>
          <p:cNvPr id="537" name="Google Shape;537;p16"/>
          <p:cNvSpPr/>
          <p:nvPr/>
        </p:nvSpPr>
        <p:spPr>
          <a:xfrm>
            <a:off x="1417320" y="5477256"/>
            <a:ext cx="44805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180"/>
              <a:buFont typeface="Calibri"/>
              <a:buNone/>
            </a:pPr>
            <a:r>
              <a:rPr b="0" i="0" lang="en-US" sz="1180" u="none" cap="none" strike="noStrike">
                <a:solidFill>
                  <a:srgbClr val="4A4042"/>
                </a:solidFill>
                <a:latin typeface="Calibri"/>
                <a:ea typeface="Calibri"/>
                <a:cs typeface="Calibri"/>
                <a:sym typeface="Calibri"/>
              </a:rPr>
              <a:t>One person accountable, one clear channel for complaints.</a:t>
            </a:r>
            <a:endParaRPr b="0" i="0" sz="1180" u="none" cap="none" strike="noStrike">
              <a:solidFill>
                <a:schemeClr val="dk1"/>
              </a:solidFill>
              <a:latin typeface="Calibri"/>
              <a:ea typeface="Calibri"/>
              <a:cs typeface="Calibri"/>
              <a:sym typeface="Calibri"/>
            </a:endParaRPr>
          </a:p>
        </p:txBody>
      </p:sp>
      <p:sp>
        <p:nvSpPr>
          <p:cNvPr id="538" name="Google Shape;538;p16"/>
          <p:cNvSpPr/>
          <p:nvPr/>
        </p:nvSpPr>
        <p:spPr>
          <a:xfrm>
            <a:off x="6355080" y="4974336"/>
            <a:ext cx="5440800" cy="960000"/>
          </a:xfrm>
          <a:prstGeom prst="roundRect">
            <a:avLst>
              <a:gd fmla="val 5714" name="adj"/>
            </a:avLst>
          </a:prstGeom>
          <a:solidFill>
            <a:srgbClr val="FFFFFF"/>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6"/>
          <p:cNvSpPr/>
          <p:nvPr/>
        </p:nvSpPr>
        <p:spPr>
          <a:xfrm>
            <a:off x="6556248" y="5248656"/>
            <a:ext cx="420600" cy="420600"/>
          </a:xfrm>
          <a:prstGeom prst="ellipse">
            <a:avLst/>
          </a:prstGeom>
          <a:solidFill>
            <a:srgbClr val="FB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40" name="Google Shape;540;p16"/>
          <p:cNvPicPr preferRelativeResize="0"/>
          <p:nvPr/>
        </p:nvPicPr>
        <p:blipFill rotWithShape="1">
          <a:blip r:embed="rId10">
            <a:alphaModFix/>
          </a:blip>
          <a:srcRect b="0" l="0" r="0" t="0"/>
          <a:stretch/>
        </p:blipFill>
        <p:spPr>
          <a:xfrm>
            <a:off x="6629400" y="5321808"/>
            <a:ext cx="274320" cy="274320"/>
          </a:xfrm>
          <a:prstGeom prst="rect">
            <a:avLst/>
          </a:prstGeom>
          <a:noFill/>
          <a:ln>
            <a:noFill/>
          </a:ln>
        </p:spPr>
      </p:pic>
      <p:sp>
        <p:nvSpPr>
          <p:cNvPr id="541" name="Google Shape;541;p16"/>
          <p:cNvSpPr/>
          <p:nvPr/>
        </p:nvSpPr>
        <p:spPr>
          <a:xfrm>
            <a:off x="7132320" y="5120640"/>
            <a:ext cx="4480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1A1D"/>
              </a:buClr>
              <a:buSzPts val="1450"/>
              <a:buFont typeface="Calibri"/>
              <a:buNone/>
            </a:pPr>
            <a:r>
              <a:rPr b="1" i="0" lang="en-US" sz="1450" u="none" cap="none" strike="noStrike">
                <a:solidFill>
                  <a:srgbClr val="2A1A1D"/>
                </a:solidFill>
                <a:latin typeface="Calibri"/>
                <a:ea typeface="Calibri"/>
                <a:cs typeface="Calibri"/>
                <a:sym typeface="Calibri"/>
              </a:rPr>
              <a:t>Write a breach response plan</a:t>
            </a:r>
            <a:endParaRPr b="0" i="0" sz="1450" u="none" cap="none" strike="noStrike">
              <a:solidFill>
                <a:schemeClr val="dk1"/>
              </a:solidFill>
              <a:latin typeface="Calibri"/>
              <a:ea typeface="Calibri"/>
              <a:cs typeface="Calibri"/>
              <a:sym typeface="Calibri"/>
            </a:endParaRPr>
          </a:p>
        </p:txBody>
      </p:sp>
      <p:sp>
        <p:nvSpPr>
          <p:cNvPr id="542" name="Google Shape;542;p16"/>
          <p:cNvSpPr/>
          <p:nvPr/>
        </p:nvSpPr>
        <p:spPr>
          <a:xfrm>
            <a:off x="7132320" y="5477256"/>
            <a:ext cx="44805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042"/>
              </a:buClr>
              <a:buSzPts val="1180"/>
              <a:buFont typeface="Calibri"/>
              <a:buNone/>
            </a:pPr>
            <a:r>
              <a:rPr b="0" i="0" lang="en-US" sz="1180" u="none" cap="none" strike="noStrike">
                <a:solidFill>
                  <a:srgbClr val="4A4042"/>
                </a:solidFill>
                <a:latin typeface="Calibri"/>
                <a:ea typeface="Calibri"/>
                <a:cs typeface="Calibri"/>
                <a:sym typeface="Calibri"/>
              </a:rPr>
              <a:t>What we do in the first hours if data is lost. Reporting is mandatory.</a:t>
            </a:r>
            <a:endParaRPr b="0" i="0" sz="1180" u="none" cap="none" strike="noStrike">
              <a:solidFill>
                <a:schemeClr val="dk1"/>
              </a:solidFill>
              <a:latin typeface="Calibri"/>
              <a:ea typeface="Calibri"/>
              <a:cs typeface="Calibri"/>
              <a:sym typeface="Calibri"/>
            </a:endParaRPr>
          </a:p>
        </p:txBody>
      </p:sp>
      <p:sp>
        <p:nvSpPr>
          <p:cNvPr id="543" name="Google Shape;543;p16"/>
          <p:cNvSpPr/>
          <p:nvPr/>
        </p:nvSpPr>
        <p:spPr>
          <a:xfrm>
            <a:off x="11430000" y="640080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14</a:t>
            </a:r>
            <a:endParaRPr b="0" i="0" sz="1000" u="none" cap="none" strike="noStrike">
              <a:solidFill>
                <a:schemeClr val="dk1"/>
              </a:solidFill>
              <a:latin typeface="Calibri"/>
              <a:ea typeface="Calibri"/>
              <a:cs typeface="Calibri"/>
              <a:sym typeface="Calibri"/>
            </a:endParaRPr>
          </a:p>
        </p:txBody>
      </p:sp>
      <p:sp>
        <p:nvSpPr>
          <p:cNvPr id="544" name="Google Shape;544;p16"/>
          <p:cNvSpPr/>
          <p:nvPr/>
        </p:nvSpPr>
        <p:spPr>
          <a:xfrm>
            <a:off x="64008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Dhwani RIS  ·  DPDP Adoption Approach</a:t>
            </a:r>
            <a:endParaRPr b="0" i="0" sz="1000" u="none" cap="none" strike="noStrike">
              <a:solidFill>
                <a:schemeClr val="dk1"/>
              </a:solidFill>
              <a:latin typeface="Calibri"/>
              <a:ea typeface="Calibri"/>
              <a:cs typeface="Calibri"/>
              <a:sym typeface="Calibri"/>
            </a:endParaRPr>
          </a:p>
        </p:txBody>
      </p:sp>
      <p:pic>
        <p:nvPicPr>
          <p:cNvPr id="545" name="Google Shape;545;p16" title="Dhwani final Logo.png"/>
          <p:cNvPicPr preferRelativeResize="0"/>
          <p:nvPr/>
        </p:nvPicPr>
        <p:blipFill>
          <a:blip r:embed="rId11">
            <a:alphaModFix/>
          </a:blip>
          <a:stretch>
            <a:fillRect/>
          </a:stretch>
        </p:blipFill>
        <p:spPr>
          <a:xfrm>
            <a:off x="10672223" y="129275"/>
            <a:ext cx="1336829" cy="502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0" name="Shape 550"/>
        <p:cNvGrpSpPr/>
        <p:nvPr/>
      </p:nvGrpSpPr>
      <p:grpSpPr>
        <a:xfrm>
          <a:off x="0" y="0"/>
          <a:ext cx="0" cy="0"/>
          <a:chOff x="0" y="0"/>
          <a:chExt cx="0" cy="0"/>
        </a:xfrm>
      </p:grpSpPr>
      <p:sp>
        <p:nvSpPr>
          <p:cNvPr id="551" name="Google Shape;551;p17"/>
          <p:cNvSpPr/>
          <p:nvPr/>
        </p:nvSpPr>
        <p:spPr>
          <a:xfrm>
            <a:off x="64008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030"/>
              </a:buClr>
              <a:buSzPts val="1200"/>
              <a:buFont typeface="Calibri"/>
              <a:buNone/>
            </a:pPr>
            <a:r>
              <a:rPr b="1" i="0" lang="en-US" sz="1200" u="none" cap="none" strike="noStrike">
                <a:solidFill>
                  <a:srgbClr val="F08030"/>
                </a:solidFill>
                <a:latin typeface="Calibri"/>
                <a:ea typeface="Calibri"/>
                <a:cs typeface="Calibri"/>
                <a:sym typeface="Calibri"/>
              </a:rPr>
              <a:t>THE CLOCK</a:t>
            </a:r>
            <a:endParaRPr b="0" i="0" sz="1200" u="none" cap="none" strike="noStrike">
              <a:solidFill>
                <a:schemeClr val="dk1"/>
              </a:solidFill>
              <a:latin typeface="Calibri"/>
              <a:ea typeface="Calibri"/>
              <a:cs typeface="Calibri"/>
              <a:sym typeface="Calibri"/>
            </a:endParaRPr>
          </a:p>
        </p:txBody>
      </p:sp>
      <p:sp>
        <p:nvSpPr>
          <p:cNvPr id="552" name="Google Shape;552;p17"/>
          <p:cNvSpPr/>
          <p:nvPr/>
        </p:nvSpPr>
        <p:spPr>
          <a:xfrm>
            <a:off x="640080" y="68580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01020"/>
              </a:buClr>
              <a:buSzPts val="3000"/>
              <a:buFont typeface="Georgia"/>
              <a:buNone/>
            </a:pPr>
            <a:r>
              <a:rPr b="1" i="0" lang="en-US" sz="3000" u="none" cap="none" strike="noStrike">
                <a:solidFill>
                  <a:srgbClr val="801020"/>
                </a:solidFill>
                <a:latin typeface="Georgia"/>
                <a:ea typeface="Georgia"/>
                <a:cs typeface="Georgia"/>
                <a:sym typeface="Georgia"/>
              </a:rPr>
              <a:t>What's due, and when</a:t>
            </a:r>
            <a:endParaRPr b="0" i="0" sz="3000" u="none" cap="none" strike="noStrike">
              <a:solidFill>
                <a:schemeClr val="dk1"/>
              </a:solidFill>
              <a:latin typeface="Calibri"/>
              <a:ea typeface="Calibri"/>
              <a:cs typeface="Calibri"/>
              <a:sym typeface="Calibri"/>
            </a:endParaRPr>
          </a:p>
        </p:txBody>
      </p:sp>
      <p:cxnSp>
        <p:nvCxnSpPr>
          <p:cNvPr id="553" name="Google Shape;553;p17"/>
          <p:cNvCxnSpPr/>
          <p:nvPr/>
        </p:nvCxnSpPr>
        <p:spPr>
          <a:xfrm>
            <a:off x="1280160" y="3200400"/>
            <a:ext cx="9601200" cy="0"/>
          </a:xfrm>
          <a:prstGeom prst="straightConnector1">
            <a:avLst/>
          </a:prstGeom>
          <a:noFill/>
          <a:ln cap="flat" cmpd="sng" w="38100">
            <a:solidFill>
              <a:srgbClr val="EADCDA"/>
            </a:solidFill>
            <a:prstDash val="solid"/>
            <a:round/>
            <a:headEnd len="sm" w="sm" type="none"/>
            <a:tailEnd len="sm" w="sm" type="none"/>
          </a:ln>
        </p:spPr>
      </p:cxnSp>
      <p:sp>
        <p:nvSpPr>
          <p:cNvPr id="554" name="Google Shape;554;p17"/>
          <p:cNvSpPr/>
          <p:nvPr/>
        </p:nvSpPr>
        <p:spPr>
          <a:xfrm>
            <a:off x="2048256" y="3054096"/>
            <a:ext cx="292608" cy="292608"/>
          </a:xfrm>
          <a:prstGeom prst="ellipse">
            <a:avLst/>
          </a:prstGeom>
          <a:solidFill>
            <a:srgbClr val="801020"/>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7"/>
          <p:cNvSpPr/>
          <p:nvPr/>
        </p:nvSpPr>
        <p:spPr>
          <a:xfrm>
            <a:off x="594360" y="1691640"/>
            <a:ext cx="3200400" cy="1234440"/>
          </a:xfrm>
          <a:prstGeom prst="roundRect">
            <a:avLst>
              <a:gd fmla="val 5926"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7"/>
          <p:cNvSpPr/>
          <p:nvPr/>
        </p:nvSpPr>
        <p:spPr>
          <a:xfrm>
            <a:off x="594360" y="1810512"/>
            <a:ext cx="32004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01020"/>
              </a:buClr>
              <a:buSzPts val="2000"/>
              <a:buFont typeface="Georgia"/>
              <a:buNone/>
            </a:pPr>
            <a:r>
              <a:rPr b="1" i="0" lang="en-US" sz="2000" u="none" cap="none" strike="noStrike">
                <a:solidFill>
                  <a:srgbClr val="801020"/>
                </a:solidFill>
                <a:latin typeface="Georgia"/>
                <a:ea typeface="Georgia"/>
                <a:cs typeface="Georgia"/>
                <a:sym typeface="Georgia"/>
              </a:rPr>
              <a:t>NOW</a:t>
            </a:r>
            <a:endParaRPr b="0" i="0" sz="2000" u="none" cap="none" strike="noStrike">
              <a:solidFill>
                <a:schemeClr val="dk1"/>
              </a:solidFill>
              <a:latin typeface="Calibri"/>
              <a:ea typeface="Calibri"/>
              <a:cs typeface="Calibri"/>
              <a:sym typeface="Calibri"/>
            </a:endParaRPr>
          </a:p>
        </p:txBody>
      </p:sp>
      <p:sp>
        <p:nvSpPr>
          <p:cNvPr id="557" name="Google Shape;557;p17"/>
          <p:cNvSpPr/>
          <p:nvPr/>
        </p:nvSpPr>
        <p:spPr>
          <a:xfrm>
            <a:off x="594360" y="2212848"/>
            <a:ext cx="32004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1A1D"/>
              </a:buClr>
              <a:buSzPts val="1300"/>
              <a:buFont typeface="Calibri"/>
              <a:buNone/>
            </a:pPr>
            <a:r>
              <a:rPr b="1" i="0" lang="en-US" sz="1300" u="none" cap="none" strike="noStrike">
                <a:solidFill>
                  <a:srgbClr val="2A1A1D"/>
                </a:solidFill>
                <a:latin typeface="Calibri"/>
                <a:ea typeface="Calibri"/>
                <a:cs typeface="Calibri"/>
                <a:sym typeface="Calibri"/>
              </a:rPr>
              <a:t>Since Nov 2025</a:t>
            </a:r>
            <a:endParaRPr b="0" i="0" sz="1300" u="none" cap="none" strike="noStrike">
              <a:solidFill>
                <a:schemeClr val="dk1"/>
              </a:solidFill>
              <a:latin typeface="Calibri"/>
              <a:ea typeface="Calibri"/>
              <a:cs typeface="Calibri"/>
              <a:sym typeface="Calibri"/>
            </a:endParaRPr>
          </a:p>
        </p:txBody>
      </p:sp>
      <p:cxnSp>
        <p:nvCxnSpPr>
          <p:cNvPr id="558" name="Google Shape;558;p17"/>
          <p:cNvCxnSpPr/>
          <p:nvPr/>
        </p:nvCxnSpPr>
        <p:spPr>
          <a:xfrm>
            <a:off x="2194560" y="2926080"/>
            <a:ext cx="0" cy="274320"/>
          </a:xfrm>
          <a:prstGeom prst="straightConnector1">
            <a:avLst/>
          </a:prstGeom>
          <a:noFill/>
          <a:ln cap="flat" cmpd="sng" w="19050">
            <a:solidFill>
              <a:srgbClr val="EADCDA"/>
            </a:solidFill>
            <a:prstDash val="solid"/>
            <a:round/>
            <a:headEnd len="sm" w="sm" type="none"/>
            <a:tailEnd len="sm" w="sm" type="none"/>
          </a:ln>
        </p:spPr>
      </p:cxnSp>
      <p:sp>
        <p:nvSpPr>
          <p:cNvPr id="559" name="Google Shape;559;p17"/>
          <p:cNvSpPr/>
          <p:nvPr/>
        </p:nvSpPr>
        <p:spPr>
          <a:xfrm>
            <a:off x="594360" y="3520440"/>
            <a:ext cx="3200400" cy="128016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4A4042"/>
              </a:buClr>
              <a:buSzPts val="1250"/>
              <a:buFont typeface="Calibri"/>
              <a:buNone/>
            </a:pPr>
            <a:r>
              <a:rPr b="0" i="0" lang="en-US" sz="1750" u="none" cap="none" strike="noStrike">
                <a:solidFill>
                  <a:srgbClr val="4A4042"/>
                </a:solidFill>
                <a:latin typeface="Calibri"/>
                <a:ea typeface="Calibri"/>
                <a:cs typeface="Calibri"/>
                <a:sym typeface="Calibri"/>
              </a:rPr>
              <a:t>The Act and Rules are already in force, and the Data Protection Board is up and running.</a:t>
            </a:r>
            <a:endParaRPr b="0" i="0" sz="1750" u="none" cap="none" strike="noStrike">
              <a:solidFill>
                <a:schemeClr val="dk1"/>
              </a:solidFill>
              <a:latin typeface="Calibri"/>
              <a:ea typeface="Calibri"/>
              <a:cs typeface="Calibri"/>
              <a:sym typeface="Calibri"/>
            </a:endParaRPr>
          </a:p>
        </p:txBody>
      </p:sp>
      <p:sp>
        <p:nvSpPr>
          <p:cNvPr id="560" name="Google Shape;560;p17"/>
          <p:cNvSpPr/>
          <p:nvPr/>
        </p:nvSpPr>
        <p:spPr>
          <a:xfrm>
            <a:off x="5705856" y="3054096"/>
            <a:ext cx="292608" cy="292608"/>
          </a:xfrm>
          <a:prstGeom prst="ellipse">
            <a:avLst/>
          </a:prstGeom>
          <a:solidFill>
            <a:srgbClr val="F08030"/>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7"/>
          <p:cNvSpPr/>
          <p:nvPr/>
        </p:nvSpPr>
        <p:spPr>
          <a:xfrm>
            <a:off x="4251960" y="1691640"/>
            <a:ext cx="3200400" cy="1234440"/>
          </a:xfrm>
          <a:prstGeom prst="roundRect">
            <a:avLst>
              <a:gd fmla="val 5926" name="adj"/>
            </a:avLst>
          </a:prstGeom>
          <a:solidFill>
            <a:srgbClr val="FBF4F3"/>
          </a:solidFill>
          <a:ln cap="flat" cmpd="sng" w="12700">
            <a:solidFill>
              <a:srgbClr val="EADCDA"/>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7"/>
          <p:cNvSpPr/>
          <p:nvPr/>
        </p:nvSpPr>
        <p:spPr>
          <a:xfrm>
            <a:off x="4251960" y="1810512"/>
            <a:ext cx="32004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8030"/>
              </a:buClr>
              <a:buSzPts val="2000"/>
              <a:buFont typeface="Georgia"/>
              <a:buNone/>
            </a:pPr>
            <a:r>
              <a:rPr b="1" i="0" lang="en-US" sz="2000" u="none" cap="none" strike="noStrike">
                <a:solidFill>
                  <a:srgbClr val="F08030"/>
                </a:solidFill>
                <a:latin typeface="Georgia"/>
                <a:ea typeface="Georgia"/>
                <a:cs typeface="Georgia"/>
                <a:sym typeface="Georgia"/>
              </a:rPr>
              <a:t>NOV 2026</a:t>
            </a:r>
            <a:endParaRPr b="0" i="0" sz="2000" u="none" cap="none" strike="noStrike">
              <a:solidFill>
                <a:schemeClr val="dk1"/>
              </a:solidFill>
              <a:latin typeface="Calibri"/>
              <a:ea typeface="Calibri"/>
              <a:cs typeface="Calibri"/>
              <a:sym typeface="Calibri"/>
            </a:endParaRPr>
          </a:p>
        </p:txBody>
      </p:sp>
      <p:sp>
        <p:nvSpPr>
          <p:cNvPr id="563" name="Google Shape;563;p17"/>
          <p:cNvSpPr/>
          <p:nvPr/>
        </p:nvSpPr>
        <p:spPr>
          <a:xfrm>
            <a:off x="4251960" y="2212848"/>
            <a:ext cx="32004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1A1D"/>
              </a:buClr>
              <a:buSzPts val="1300"/>
              <a:buFont typeface="Calibri"/>
              <a:buNone/>
            </a:pPr>
            <a:r>
              <a:rPr b="1" i="0" lang="en-US" sz="1300" u="none" cap="none" strike="noStrike">
                <a:solidFill>
                  <a:srgbClr val="2A1A1D"/>
                </a:solidFill>
                <a:latin typeface="Calibri"/>
                <a:ea typeface="Calibri"/>
                <a:cs typeface="Calibri"/>
                <a:sym typeface="Calibri"/>
              </a:rPr>
              <a:t>Consent Managers</a:t>
            </a:r>
            <a:endParaRPr b="0" i="0" sz="1300" u="none" cap="none" strike="noStrike">
              <a:solidFill>
                <a:schemeClr val="dk1"/>
              </a:solidFill>
              <a:latin typeface="Calibri"/>
              <a:ea typeface="Calibri"/>
              <a:cs typeface="Calibri"/>
              <a:sym typeface="Calibri"/>
            </a:endParaRPr>
          </a:p>
        </p:txBody>
      </p:sp>
      <p:cxnSp>
        <p:nvCxnSpPr>
          <p:cNvPr id="564" name="Google Shape;564;p17"/>
          <p:cNvCxnSpPr/>
          <p:nvPr/>
        </p:nvCxnSpPr>
        <p:spPr>
          <a:xfrm>
            <a:off x="5852160" y="2926080"/>
            <a:ext cx="0" cy="274320"/>
          </a:xfrm>
          <a:prstGeom prst="straightConnector1">
            <a:avLst/>
          </a:prstGeom>
          <a:noFill/>
          <a:ln cap="flat" cmpd="sng" w="19050">
            <a:solidFill>
              <a:srgbClr val="EADCDA"/>
            </a:solidFill>
            <a:prstDash val="solid"/>
            <a:round/>
            <a:headEnd len="sm" w="sm" type="none"/>
            <a:tailEnd len="sm" w="sm" type="none"/>
          </a:ln>
        </p:spPr>
      </p:cxnSp>
      <p:sp>
        <p:nvSpPr>
          <p:cNvPr id="565" name="Google Shape;565;p17"/>
          <p:cNvSpPr/>
          <p:nvPr/>
        </p:nvSpPr>
        <p:spPr>
          <a:xfrm>
            <a:off x="4251960" y="3520440"/>
            <a:ext cx="3200400" cy="128016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4A4042"/>
              </a:buClr>
              <a:buSzPts val="1250"/>
              <a:buFont typeface="Calibri"/>
              <a:buNone/>
            </a:pPr>
            <a:r>
              <a:rPr b="0" i="0" lang="en-US" sz="1750" u="none" cap="none" strike="noStrike">
                <a:solidFill>
                  <a:srgbClr val="4A4042"/>
                </a:solidFill>
                <a:latin typeface="Calibri"/>
                <a:ea typeface="Calibri"/>
                <a:cs typeface="Calibri"/>
                <a:sym typeface="Calibri"/>
              </a:rPr>
              <a:t>The registered consent platforms come online. </a:t>
            </a:r>
            <a:r>
              <a:rPr lang="en-US" sz="1750">
                <a:solidFill>
                  <a:srgbClr val="4A4042"/>
                </a:solidFill>
                <a:latin typeface="Calibri"/>
                <a:ea typeface="Calibri"/>
                <a:cs typeface="Calibri"/>
                <a:sym typeface="Calibri"/>
              </a:rPr>
              <a:t>Consent Manager registration opens</a:t>
            </a:r>
            <a:endParaRPr b="0" i="0" sz="1750" u="none" cap="none" strike="noStrike">
              <a:solidFill>
                <a:schemeClr val="dk1"/>
              </a:solidFill>
              <a:latin typeface="Calibri"/>
              <a:ea typeface="Calibri"/>
              <a:cs typeface="Calibri"/>
              <a:sym typeface="Calibri"/>
            </a:endParaRPr>
          </a:p>
        </p:txBody>
      </p:sp>
      <p:sp>
        <p:nvSpPr>
          <p:cNvPr id="566" name="Google Shape;566;p17"/>
          <p:cNvSpPr/>
          <p:nvPr/>
        </p:nvSpPr>
        <p:spPr>
          <a:xfrm>
            <a:off x="9363456" y="3054096"/>
            <a:ext cx="292608" cy="292608"/>
          </a:xfrm>
          <a:prstGeom prst="ellipse">
            <a:avLst/>
          </a:prstGeom>
          <a:solidFill>
            <a:srgbClr val="801020"/>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7"/>
          <p:cNvSpPr/>
          <p:nvPr/>
        </p:nvSpPr>
        <p:spPr>
          <a:xfrm>
            <a:off x="7909560" y="1691640"/>
            <a:ext cx="3200400" cy="1234440"/>
          </a:xfrm>
          <a:prstGeom prst="roundRect">
            <a:avLst>
              <a:gd fmla="val 5926" name="adj"/>
            </a:avLst>
          </a:prstGeom>
          <a:solidFill>
            <a:srgbClr val="FBDAD3"/>
          </a:solidFill>
          <a:ln cap="flat" cmpd="sng" w="19050">
            <a:solidFill>
              <a:srgbClr val="801020"/>
            </a:solidFill>
            <a:prstDash val="solid"/>
            <a:round/>
            <a:headEnd len="sm" w="sm" type="none"/>
            <a:tailEnd len="sm" w="sm" type="none"/>
          </a:ln>
          <a:effectLst>
            <a:outerShdw blurRad="63500" rotWithShape="0" algn="bl" dir="8100000" dist="25400">
              <a:srgbClr val="0F172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7"/>
          <p:cNvSpPr/>
          <p:nvPr/>
        </p:nvSpPr>
        <p:spPr>
          <a:xfrm>
            <a:off x="7909560" y="1810512"/>
            <a:ext cx="32004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01020"/>
              </a:buClr>
              <a:buSzPts val="2000"/>
              <a:buFont typeface="Georgia"/>
              <a:buNone/>
            </a:pPr>
            <a:r>
              <a:rPr b="1" i="0" lang="en-US" sz="2000" u="none" cap="none" strike="noStrike">
                <a:solidFill>
                  <a:srgbClr val="801020"/>
                </a:solidFill>
                <a:latin typeface="Georgia"/>
                <a:ea typeface="Georgia"/>
                <a:cs typeface="Georgia"/>
                <a:sym typeface="Georgia"/>
              </a:rPr>
              <a:t>13 MAY 2027</a:t>
            </a:r>
            <a:endParaRPr b="0" i="0" sz="2000" u="none" cap="none" strike="noStrike">
              <a:solidFill>
                <a:schemeClr val="dk1"/>
              </a:solidFill>
              <a:latin typeface="Calibri"/>
              <a:ea typeface="Calibri"/>
              <a:cs typeface="Calibri"/>
              <a:sym typeface="Calibri"/>
            </a:endParaRPr>
          </a:p>
        </p:txBody>
      </p:sp>
      <p:sp>
        <p:nvSpPr>
          <p:cNvPr id="569" name="Google Shape;569;p17"/>
          <p:cNvSpPr/>
          <p:nvPr/>
        </p:nvSpPr>
        <p:spPr>
          <a:xfrm>
            <a:off x="7909560" y="2212848"/>
            <a:ext cx="32004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1A1D"/>
              </a:buClr>
              <a:buSzPts val="1300"/>
              <a:buFont typeface="Calibri"/>
              <a:buNone/>
            </a:pPr>
            <a:r>
              <a:rPr b="1" i="0" lang="en-US" sz="1300" u="none" cap="none" strike="noStrike">
                <a:solidFill>
                  <a:srgbClr val="2A1A1D"/>
                </a:solidFill>
                <a:latin typeface="Calibri"/>
                <a:ea typeface="Calibri"/>
                <a:cs typeface="Calibri"/>
                <a:sym typeface="Calibri"/>
              </a:rPr>
              <a:t>Full enforcement</a:t>
            </a:r>
            <a:endParaRPr b="0" i="0" sz="1300" u="none" cap="none" strike="noStrike">
              <a:solidFill>
                <a:schemeClr val="dk1"/>
              </a:solidFill>
              <a:latin typeface="Calibri"/>
              <a:ea typeface="Calibri"/>
              <a:cs typeface="Calibri"/>
              <a:sym typeface="Calibri"/>
            </a:endParaRPr>
          </a:p>
        </p:txBody>
      </p:sp>
      <p:cxnSp>
        <p:nvCxnSpPr>
          <p:cNvPr id="570" name="Google Shape;570;p17"/>
          <p:cNvCxnSpPr/>
          <p:nvPr/>
        </p:nvCxnSpPr>
        <p:spPr>
          <a:xfrm>
            <a:off x="9509760" y="2926080"/>
            <a:ext cx="0" cy="274320"/>
          </a:xfrm>
          <a:prstGeom prst="straightConnector1">
            <a:avLst/>
          </a:prstGeom>
          <a:noFill/>
          <a:ln cap="flat" cmpd="sng" w="19050">
            <a:solidFill>
              <a:srgbClr val="EADCDA"/>
            </a:solidFill>
            <a:prstDash val="solid"/>
            <a:round/>
            <a:headEnd len="sm" w="sm" type="none"/>
            <a:tailEnd len="sm" w="sm" type="none"/>
          </a:ln>
        </p:spPr>
      </p:cxnSp>
      <p:sp>
        <p:nvSpPr>
          <p:cNvPr id="571" name="Google Shape;571;p17"/>
          <p:cNvSpPr/>
          <p:nvPr/>
        </p:nvSpPr>
        <p:spPr>
          <a:xfrm>
            <a:off x="7909560" y="3520440"/>
            <a:ext cx="3200400" cy="128016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4A4042"/>
              </a:buClr>
              <a:buSzPts val="1250"/>
              <a:buFont typeface="Calibri"/>
              <a:buNone/>
            </a:pPr>
            <a:r>
              <a:rPr b="0" i="0" lang="en-US" sz="1750" u="none" cap="none" strike="noStrike">
                <a:solidFill>
                  <a:srgbClr val="4A4042"/>
                </a:solidFill>
                <a:latin typeface="Calibri"/>
                <a:ea typeface="Calibri"/>
                <a:cs typeface="Calibri"/>
                <a:sym typeface="Calibri"/>
              </a:rPr>
              <a:t>The real deadline. Notices, security, breach reporting, people's rights, and children's data all need to be in place.</a:t>
            </a:r>
            <a:endParaRPr b="0" i="0" sz="1750" u="none" cap="none" strike="noStrike">
              <a:solidFill>
                <a:schemeClr val="dk1"/>
              </a:solidFill>
              <a:latin typeface="Calibri"/>
              <a:ea typeface="Calibri"/>
              <a:cs typeface="Calibri"/>
              <a:sym typeface="Calibri"/>
            </a:endParaRPr>
          </a:p>
        </p:txBody>
      </p:sp>
      <p:sp>
        <p:nvSpPr>
          <p:cNvPr id="572" name="Google Shape;572;p17"/>
          <p:cNvSpPr/>
          <p:nvPr/>
        </p:nvSpPr>
        <p:spPr>
          <a:xfrm>
            <a:off x="1280160" y="5532120"/>
            <a:ext cx="9601200" cy="731520"/>
          </a:xfrm>
          <a:prstGeom prst="roundRect">
            <a:avLst>
              <a:gd fmla="val 10000" name="adj"/>
            </a:avLst>
          </a:prstGeom>
          <a:solidFill>
            <a:srgbClr val="FBE4DF"/>
          </a:solidFill>
          <a:ln cap="flat" cmpd="sng" w="12700">
            <a:solidFill>
              <a:srgbClr val="F08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3" name="Google Shape;573;p17"/>
          <p:cNvPicPr preferRelativeResize="0"/>
          <p:nvPr/>
        </p:nvPicPr>
        <p:blipFill rotWithShape="1">
          <a:blip r:embed="rId3">
            <a:alphaModFix/>
          </a:blip>
          <a:srcRect b="0" l="0" r="0" t="0"/>
          <a:stretch/>
        </p:blipFill>
        <p:spPr>
          <a:xfrm>
            <a:off x="1554480" y="5715000"/>
            <a:ext cx="365760" cy="365760"/>
          </a:xfrm>
          <a:prstGeom prst="rect">
            <a:avLst/>
          </a:prstGeom>
          <a:noFill/>
          <a:ln>
            <a:noFill/>
          </a:ln>
        </p:spPr>
      </p:pic>
      <p:sp>
        <p:nvSpPr>
          <p:cNvPr id="574" name="Google Shape;574;p17"/>
          <p:cNvSpPr/>
          <p:nvPr/>
        </p:nvSpPr>
        <p:spPr>
          <a:xfrm>
            <a:off x="2103120" y="5532120"/>
            <a:ext cx="85953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01020"/>
              </a:buClr>
              <a:buSzPts val="1400"/>
              <a:buFont typeface="Calibri"/>
              <a:buNone/>
            </a:pPr>
            <a:r>
              <a:rPr b="1" i="0" lang="en-US" sz="1400" u="none" cap="none" strike="noStrike">
                <a:solidFill>
                  <a:srgbClr val="801020"/>
                </a:solidFill>
                <a:latin typeface="Calibri"/>
                <a:ea typeface="Calibri"/>
                <a:cs typeface="Calibri"/>
                <a:sym typeface="Calibri"/>
              </a:rPr>
              <a:t>Realistically:  </a:t>
            </a:r>
            <a:r>
              <a:rPr b="0" i="0" lang="en-US" sz="1400" u="none" cap="none" strike="noStrike">
                <a:solidFill>
                  <a:srgbClr val="4A4042"/>
                </a:solidFill>
                <a:latin typeface="Calibri"/>
                <a:ea typeface="Calibri"/>
                <a:cs typeface="Calibri"/>
                <a:sym typeface="Calibri"/>
              </a:rPr>
              <a:t>we've got about 18 months. That's enough time, as long as we start now and don't leave it until 2027.</a:t>
            </a:r>
            <a:endParaRPr b="0" i="0" sz="1400" u="none" cap="none" strike="noStrike">
              <a:solidFill>
                <a:schemeClr val="dk1"/>
              </a:solidFill>
              <a:latin typeface="Calibri"/>
              <a:ea typeface="Calibri"/>
              <a:cs typeface="Calibri"/>
              <a:sym typeface="Calibri"/>
            </a:endParaRPr>
          </a:p>
        </p:txBody>
      </p:sp>
      <p:sp>
        <p:nvSpPr>
          <p:cNvPr id="575" name="Google Shape;575;p17"/>
          <p:cNvSpPr/>
          <p:nvPr/>
        </p:nvSpPr>
        <p:spPr>
          <a:xfrm>
            <a:off x="11430000" y="640080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15</a:t>
            </a:r>
            <a:endParaRPr b="0" i="0" sz="1000" u="none" cap="none" strike="noStrike">
              <a:solidFill>
                <a:schemeClr val="dk1"/>
              </a:solidFill>
              <a:latin typeface="Calibri"/>
              <a:ea typeface="Calibri"/>
              <a:cs typeface="Calibri"/>
              <a:sym typeface="Calibri"/>
            </a:endParaRPr>
          </a:p>
        </p:txBody>
      </p:sp>
      <p:sp>
        <p:nvSpPr>
          <p:cNvPr id="576" name="Google Shape;576;p17"/>
          <p:cNvSpPr/>
          <p:nvPr/>
        </p:nvSpPr>
        <p:spPr>
          <a:xfrm>
            <a:off x="64008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C8E"/>
              </a:buClr>
              <a:buSzPts val="1000"/>
              <a:buFont typeface="Calibri"/>
              <a:buNone/>
            </a:pPr>
            <a:r>
              <a:rPr b="0" i="0" lang="en-US" sz="1000" u="none" cap="none" strike="noStrike">
                <a:solidFill>
                  <a:srgbClr val="9A8C8E"/>
                </a:solidFill>
                <a:latin typeface="Calibri"/>
                <a:ea typeface="Calibri"/>
                <a:cs typeface="Calibri"/>
                <a:sym typeface="Calibri"/>
              </a:rPr>
              <a:t>Dhwani RIS  ·  DPDP Adoption Approach</a:t>
            </a:r>
            <a:endParaRPr b="0" i="0" sz="1000" u="none" cap="none" strike="noStrike">
              <a:solidFill>
                <a:schemeClr val="dk1"/>
              </a:solidFill>
              <a:latin typeface="Calibri"/>
              <a:ea typeface="Calibri"/>
              <a:cs typeface="Calibri"/>
              <a:sym typeface="Calibri"/>
            </a:endParaRPr>
          </a:p>
        </p:txBody>
      </p:sp>
      <p:pic>
        <p:nvPicPr>
          <p:cNvPr id="577" name="Google Shape;577;p17" title="Dhwani final Logo.png"/>
          <p:cNvPicPr preferRelativeResize="0"/>
          <p:nvPr/>
        </p:nvPicPr>
        <p:blipFill>
          <a:blip r:embed="rId4">
            <a:alphaModFix/>
          </a:blip>
          <a:stretch>
            <a:fillRect/>
          </a:stretch>
        </p:blipFill>
        <p:spPr>
          <a:xfrm>
            <a:off x="10672223" y="129275"/>
            <a:ext cx="1336829" cy="502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2026-06-11T06:19:35Z</dcterms:created>
  <dc:creator>Dhwani RIS</dc:creator>
</cp:coreProperties>
</file>